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t>Revenue by stream group, ₹ lakh</a:t>
            </a:r>
          </a:p>
        </c:rich>
      </c:tx>
      <c:layout/>
      <c:overlay val="0"/>
    </c:title>
    <c:autoTitleDeleted val="0"/>
    <c:plotArea>
      <c:barChart>
        <c:barDir val="col"/>
        <c:grouping val="stacked"/>
        <c:ser>
          <c:idx val="0"/>
          <c:order val="0"/>
          <c:tx>
            <c:strRef>
              <c:f>Sheet1!$B$1</c:f>
              <c:strCache>
                <c:ptCount val="1"/>
                <c:pt idx="0">
                  <c:v>Gifting (R4, R5, R14)</c:v>
                </c:pt>
              </c:strCache>
            </c:strRef>
          </c:tx>
          <c:spPr>
            <a:solidFill>
              <a:srgbClr val="7A1F2B"/>
            </a:solidFill>
          </c:spPr>
          <c:cat>
            <c:strRef>
              <c:f>Sheet1!$A$2:$A$4</c:f>
              <c:strCache>
                <c:ptCount val="3"/>
                <c:pt idx="0">
                  <c:v>Year 1</c:v>
                </c:pt>
                <c:pt idx="1">
                  <c:v>Year 2</c:v>
                </c:pt>
                <c:pt idx="2">
                  <c:v>Year 3</c:v>
                </c:pt>
              </c:strCache>
            </c:strRef>
          </c:cat>
          <c:val>
            <c:numRef>
              <c:f>Sheet1!$B$2:$B$4</c:f>
              <c:numCache>
                <c:formatCode>General</c:formatCode>
                <c:ptCount val="3"/>
                <c:pt idx="0">
                  <c:v>50</c:v>
                </c:pt>
                <c:pt idx="1">
                  <c:v>108</c:v>
                </c:pt>
                <c:pt idx="2">
                  <c:v>188</c:v>
                </c:pt>
              </c:numCache>
            </c:numRef>
          </c:val>
        </c:ser>
        <c:ser>
          <c:idx val="1"/>
          <c:order val="1"/>
          <c:tx>
            <c:strRef>
              <c:f>Sheet1!$C$1</c:f>
              <c:strCache>
                <c:ptCount val="1"/>
                <c:pt idx="0">
                  <c:v>Festival &amp; restaurant (R2, R3)</c:v>
                </c:pt>
              </c:strCache>
            </c:strRef>
          </c:tx>
          <c:spPr>
            <a:solidFill>
              <a:srgbClr val="E07B00"/>
            </a:solidFill>
          </c:spPr>
          <c:cat>
            <c:strRef>
              <c:f>Sheet1!$A$2:$A$4</c:f>
              <c:strCache>
                <c:ptCount val="3"/>
                <c:pt idx="0">
                  <c:v>Year 1</c:v>
                </c:pt>
                <c:pt idx="1">
                  <c:v>Year 2</c:v>
                </c:pt>
                <c:pt idx="2">
                  <c:v>Year 3</c:v>
                </c:pt>
              </c:strCache>
            </c:strRef>
          </c:cat>
          <c:val>
            <c:numRef>
              <c:f>Sheet1!$C$2:$C$4</c:f>
              <c:numCache>
                <c:formatCode>General</c:formatCode>
                <c:ptCount val="3"/>
                <c:pt idx="0">
                  <c:v>63</c:v>
                </c:pt>
                <c:pt idx="1">
                  <c:v>108</c:v>
                </c:pt>
                <c:pt idx="2">
                  <c:v>159</c:v>
                </c:pt>
              </c:numCache>
            </c:numRef>
          </c:val>
        </c:ser>
        <c:ser>
          <c:idx val="2"/>
          <c:order val="2"/>
          <c:tx>
            <c:strRef>
              <c:f>Sheet1!$D$1</c:f>
              <c:strCache>
                <c:ptCount val="1"/>
                <c:pt idx="0">
                  <c:v>Internal &amp; retail (R1, R6)</c:v>
                </c:pt>
              </c:strCache>
            </c:strRef>
          </c:tx>
          <c:spPr>
            <a:solidFill>
              <a:srgbClr val="C9A227"/>
            </a:solidFill>
          </c:spPr>
          <c:cat>
            <c:strRef>
              <c:f>Sheet1!$A$2:$A$4</c:f>
              <c:strCache>
                <c:ptCount val="3"/>
                <c:pt idx="0">
                  <c:v>Year 1</c:v>
                </c:pt>
                <c:pt idx="1">
                  <c:v>Year 2</c:v>
                </c:pt>
                <c:pt idx="2">
                  <c:v>Year 3</c:v>
                </c:pt>
              </c:strCache>
            </c:strRef>
          </c:cat>
          <c:val>
            <c:numRef>
              <c:f>Sheet1!$D$2:$D$4</c:f>
              <c:numCache>
                <c:formatCode>General</c:formatCode>
                <c:ptCount val="3"/>
                <c:pt idx="0">
                  <c:v>51</c:v>
                </c:pt>
                <c:pt idx="1">
                  <c:v>74</c:v>
                </c:pt>
                <c:pt idx="2">
                  <c:v>99</c:v>
                </c:pt>
              </c:numCache>
            </c:numRef>
          </c:val>
        </c:ser>
        <c:ser>
          <c:idx val="3"/>
          <c:order val="3"/>
          <c:tx>
            <c:strRef>
              <c:f>Sheet1!$E$1</c:f>
              <c:strCache>
                <c:ptCount val="1"/>
                <c:pt idx="0">
                  <c:v>Online, catering &amp; others</c:v>
                </c:pt>
              </c:strCache>
            </c:strRef>
          </c:tx>
          <c:spPr>
            <a:solidFill>
              <a:srgbClr val="1F5F8B"/>
            </a:solidFill>
          </c:spPr>
          <c:cat>
            <c:strRef>
              <c:f>Sheet1!$A$2:$A$4</c:f>
              <c:strCache>
                <c:ptCount val="3"/>
                <c:pt idx="0">
                  <c:v>Year 1</c:v>
                </c:pt>
                <c:pt idx="1">
                  <c:v>Year 2</c:v>
                </c:pt>
                <c:pt idx="2">
                  <c:v>Year 3</c:v>
                </c:pt>
              </c:strCache>
            </c:strRef>
          </c:cat>
          <c:val>
            <c:numRef>
              <c:f>Sheet1!$E$2:$E$4</c:f>
              <c:numCache>
                <c:formatCode>General</c:formatCode>
                <c:ptCount val="3"/>
                <c:pt idx="0">
                  <c:v>60</c:v>
                </c:pt>
                <c:pt idx="1">
                  <c:v>156</c:v>
                </c:pt>
                <c:pt idx="2">
                  <c:v>302</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from the 26 Sep 2026 Prasadam Revenue Generation Plan meeting plus desk research.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interactive mind map with every detail is in 03_Mind_Map.html.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1F2B"/>
        </a:solidFill>
        <a:effectLst/>
      </p:bgPr>
    </p:bg>
    <p:spTree>
      <p:nvGrpSpPr>
        <p:cNvPr id="1" name=""/>
        <p:cNvGrpSpPr/>
        <p:nvPr/>
      </p:nvGrpSpPr>
      <p:grpSpPr/>
      <p:sp>
        <p:nvSpPr>
          <p:cNvPr id="2" name="Rectangle 1"/>
          <p:cNvSpPr/>
          <p:nvPr/>
        </p:nvSpPr>
        <p:spPr>
          <a:xfrm>
            <a:off x="0" y="5394960"/>
            <a:ext cx="12191695"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10058400" cy="457200"/>
          </a:xfrm>
          <a:prstGeom prst="rect">
            <a:avLst/>
          </a:prstGeom>
          <a:noFill/>
        </p:spPr>
        <p:txBody>
          <a:bodyPr wrap="square" anchor="t" lIns="73152" rIns="73152" tIns="36576" bIns="36576">
            <a:spAutoFit/>
          </a:bodyPr>
          <a:lstStyle/>
          <a:p>
            <a:pPr algn="l"/>
            <a:r>
              <a:rPr sz="1400" b="1">
                <a:solidFill>
                  <a:srgbClr val="C9A227"/>
                </a:solidFill>
                <a:latin typeface="Calibri"/>
              </a:rPr>
              <a:t>HARE KRISHNA GOLDEN TEMPLE (ISKCON) · HYDERABAD</a:t>
            </a:r>
          </a:p>
        </p:txBody>
      </p:sp>
      <p:sp>
        <p:nvSpPr>
          <p:cNvPr id="4" name="TextBox 3"/>
          <p:cNvSpPr txBox="1"/>
          <p:nvPr/>
        </p:nvSpPr>
        <p:spPr>
          <a:xfrm>
            <a:off x="822960" y="1737360"/>
            <a:ext cx="10515600" cy="1645920"/>
          </a:xfrm>
          <a:prstGeom prst="rect">
            <a:avLst/>
          </a:prstGeom>
          <a:noFill/>
        </p:spPr>
        <p:txBody>
          <a:bodyPr wrap="square" anchor="t" lIns="73152" rIns="73152" tIns="36576" bIns="36576">
            <a:spAutoFit/>
          </a:bodyPr>
          <a:lstStyle/>
          <a:p>
            <a:pPr algn="l"/>
            <a:r>
              <a:rPr sz="4400" b="1">
                <a:solidFill>
                  <a:srgbClr val="FFFFFF"/>
                </a:solidFill>
                <a:latin typeface="Calibri"/>
              </a:rPr>
              <a:t>Prasadam, Sweets &amp; Savories</a:t>
            </a:r>
          </a:p>
          <a:p>
            <a:pPr algn="l"/>
            <a:r>
              <a:rPr sz="4400" b="1">
                <a:solidFill>
                  <a:srgbClr val="FFFFFF"/>
                </a:solidFill>
                <a:latin typeface="Calibri"/>
              </a:rPr>
              <a:t>A New Revenue Vertical</a:t>
            </a:r>
          </a:p>
        </p:txBody>
      </p:sp>
      <p:sp>
        <p:nvSpPr>
          <p:cNvPr id="5" name="TextBox 4"/>
          <p:cNvSpPr txBox="1"/>
          <p:nvPr/>
        </p:nvSpPr>
        <p:spPr>
          <a:xfrm>
            <a:off x="822960" y="3611880"/>
            <a:ext cx="10058400" cy="1097280"/>
          </a:xfrm>
          <a:prstGeom prst="rect">
            <a:avLst/>
          </a:prstGeom>
          <a:noFill/>
        </p:spPr>
        <p:txBody>
          <a:bodyPr wrap="square" anchor="t" lIns="73152" rIns="73152" tIns="36576" bIns="36576">
            <a:spAutoFit/>
          </a:bodyPr>
          <a:lstStyle/>
          <a:p>
            <a:pPr algn="l"/>
            <a:r>
              <a:rPr sz="1800" b="0">
                <a:solidFill>
                  <a:srgbClr val="FBEBD0"/>
                </a:solidFill>
                <a:latin typeface="Calibri"/>
              </a:rPr>
              <a:t>Business plan · Target audiences · Revenue models · Roadmap · Project plan</a:t>
            </a:r>
          </a:p>
        </p:txBody>
      </p:sp>
      <p:sp>
        <p:nvSpPr>
          <p:cNvPr id="6" name="TextBox 5"/>
          <p:cNvSpPr txBox="1"/>
          <p:nvPr/>
        </p:nvSpPr>
        <p:spPr>
          <a:xfrm>
            <a:off x="822960" y="5669280"/>
            <a:ext cx="10058400" cy="731520"/>
          </a:xfrm>
          <a:prstGeom prst="rect">
            <a:avLst/>
          </a:prstGeom>
          <a:noFill/>
        </p:spPr>
        <p:txBody>
          <a:bodyPr wrap="square" anchor="t" lIns="73152" rIns="73152" tIns="36576" bIns="36576">
            <a:spAutoFit/>
          </a:bodyPr>
          <a:lstStyle/>
          <a:p>
            <a:pPr algn="l"/>
            <a:r>
              <a:rPr sz="1300" b="0">
                <a:solidFill>
                  <a:srgbClr val="FBEBD0"/>
                </a:solidFill>
                <a:latin typeface="Calibri"/>
              </a:rPr>
              <a:t>From the house of Radha Krishna: satvik, pure, no preservatives</a:t>
            </a:r>
          </a:p>
          <a:p>
            <a:pPr algn="l"/>
            <a:r>
              <a:rPr sz="1300" b="0">
                <a:solidFill>
                  <a:srgbClr val="FBEBD0"/>
                </a:solidFill>
                <a:latin typeface="Calibri"/>
              </a:rPr>
              <a:t>v1.2, 21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EXECUTIVE SUMMARY</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Demand is proven; we now have a production owner</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2</a:t>
            </a:r>
          </a:p>
        </p:txBody>
      </p:sp>
      <p:sp>
        <p:nvSpPr>
          <p:cNvPr id="8" name="Rounded Rectangle 7"/>
          <p:cNvSpPr/>
          <p:nvPr/>
        </p:nvSpPr>
        <p:spPr>
          <a:xfrm>
            <a:off x="548640" y="1508760"/>
            <a:ext cx="2651760" cy="15544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2651760" cy="731520"/>
          </a:xfrm>
          <a:prstGeom prst="rect">
            <a:avLst/>
          </a:prstGeom>
          <a:noFill/>
        </p:spPr>
        <p:txBody>
          <a:bodyPr wrap="square" anchor="t" lIns="73152" rIns="73152" tIns="36576" bIns="36576">
            <a:spAutoFit/>
          </a:bodyPr>
          <a:lstStyle/>
          <a:p>
            <a:pPr algn="ctr"/>
            <a:r>
              <a:rPr sz="3600" b="1">
                <a:solidFill>
                  <a:srgbClr val="E07B00"/>
                </a:solidFill>
                <a:latin typeface="Calibri"/>
              </a:rPr>
              <a:t>₹6 L</a:t>
            </a:r>
          </a:p>
        </p:txBody>
      </p:sp>
      <p:sp>
        <p:nvSpPr>
          <p:cNvPr id="10" name="TextBox 9"/>
          <p:cNvSpPr txBox="1"/>
          <p:nvPr/>
        </p:nvSpPr>
        <p:spPr>
          <a:xfrm>
            <a:off x="548640" y="2331720"/>
            <a:ext cx="2651760" cy="731520"/>
          </a:xfrm>
          <a:prstGeom prst="rect">
            <a:avLst/>
          </a:prstGeom>
          <a:noFill/>
        </p:spPr>
        <p:txBody>
          <a:bodyPr wrap="square" anchor="t" lIns="73152" rIns="73152" tIns="36576" bIns="36576">
            <a:spAutoFit/>
          </a:bodyPr>
          <a:lstStyle/>
          <a:p>
            <a:pPr algn="ctr"/>
            <a:r>
              <a:rPr sz="1200" b="0">
                <a:solidFill>
                  <a:srgbClr val="6B5E55"/>
                </a:solidFill>
                <a:latin typeface="Calibri"/>
              </a:rPr>
              <a:t>Janmashtami 2026 counters</a:t>
            </a:r>
          </a:p>
          <a:p>
            <a:pPr algn="ctr"/>
            <a:r>
              <a:rPr sz="1200" b="0">
                <a:solidFill>
                  <a:srgbClr val="6B5E55"/>
                </a:solidFill>
                <a:latin typeface="Calibri"/>
              </a:rPr>
              <a:t>(sold out)</a:t>
            </a:r>
          </a:p>
        </p:txBody>
      </p:sp>
      <p:sp>
        <p:nvSpPr>
          <p:cNvPr id="11" name="Rounded Rectangle 10"/>
          <p:cNvSpPr/>
          <p:nvPr/>
        </p:nvSpPr>
        <p:spPr>
          <a:xfrm>
            <a:off x="3383280" y="1508760"/>
            <a:ext cx="2651760" cy="15544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600200"/>
            <a:ext cx="2651760" cy="731520"/>
          </a:xfrm>
          <a:prstGeom prst="rect">
            <a:avLst/>
          </a:prstGeom>
          <a:noFill/>
        </p:spPr>
        <p:txBody>
          <a:bodyPr wrap="square" anchor="t" lIns="73152" rIns="73152" tIns="36576" bIns="36576">
            <a:spAutoFit/>
          </a:bodyPr>
          <a:lstStyle/>
          <a:p>
            <a:pPr algn="ctr"/>
            <a:r>
              <a:rPr sz="3600" b="1">
                <a:solidFill>
                  <a:srgbClr val="E07B00"/>
                </a:solidFill>
                <a:latin typeface="Calibri"/>
              </a:rPr>
              <a:t>10×</a:t>
            </a:r>
          </a:p>
        </p:txBody>
      </p:sp>
      <p:sp>
        <p:nvSpPr>
          <p:cNvPr id="13" name="TextBox 12"/>
          <p:cNvSpPr txBox="1"/>
          <p:nvPr/>
        </p:nvSpPr>
        <p:spPr>
          <a:xfrm>
            <a:off x="3383280" y="2331720"/>
            <a:ext cx="2651760" cy="731520"/>
          </a:xfrm>
          <a:prstGeom prst="rect">
            <a:avLst/>
          </a:prstGeom>
          <a:noFill/>
        </p:spPr>
        <p:txBody>
          <a:bodyPr wrap="square" anchor="t" lIns="73152" rIns="73152" tIns="36576" bIns="36576">
            <a:spAutoFit/>
          </a:bodyPr>
          <a:lstStyle/>
          <a:p>
            <a:pPr algn="ctr"/>
            <a:r>
              <a:rPr sz="1200" b="0">
                <a:solidFill>
                  <a:srgbClr val="6B5E55"/>
                </a:solidFill>
                <a:latin typeface="Calibri"/>
              </a:rPr>
              <a:t>festival sales target</a:t>
            </a:r>
          </a:p>
        </p:txBody>
      </p:sp>
      <p:sp>
        <p:nvSpPr>
          <p:cNvPr id="14" name="Rounded Rectangle 13"/>
          <p:cNvSpPr/>
          <p:nvPr/>
        </p:nvSpPr>
        <p:spPr>
          <a:xfrm>
            <a:off x="6217920" y="1508760"/>
            <a:ext cx="2651760" cy="15544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600200"/>
            <a:ext cx="2651760" cy="731520"/>
          </a:xfrm>
          <a:prstGeom prst="rect">
            <a:avLst/>
          </a:prstGeom>
          <a:noFill/>
        </p:spPr>
        <p:txBody>
          <a:bodyPr wrap="square" anchor="t" lIns="73152" rIns="73152" tIns="36576" bIns="36576">
            <a:spAutoFit/>
          </a:bodyPr>
          <a:lstStyle/>
          <a:p>
            <a:pPr algn="ctr"/>
            <a:r>
              <a:rPr sz="3600" b="1">
                <a:solidFill>
                  <a:srgbClr val="E07B00"/>
                </a:solidFill>
                <a:latin typeface="Calibri"/>
              </a:rPr>
              <a:t>14</a:t>
            </a:r>
          </a:p>
        </p:txBody>
      </p:sp>
      <p:sp>
        <p:nvSpPr>
          <p:cNvPr id="16" name="TextBox 15"/>
          <p:cNvSpPr txBox="1"/>
          <p:nvPr/>
        </p:nvSpPr>
        <p:spPr>
          <a:xfrm>
            <a:off x="6217920" y="2331720"/>
            <a:ext cx="2651760" cy="731520"/>
          </a:xfrm>
          <a:prstGeom prst="rect">
            <a:avLst/>
          </a:prstGeom>
          <a:noFill/>
        </p:spPr>
        <p:txBody>
          <a:bodyPr wrap="square" anchor="t" lIns="73152" rIns="73152" tIns="36576" bIns="36576">
            <a:spAutoFit/>
          </a:bodyPr>
          <a:lstStyle/>
          <a:p>
            <a:pPr algn="ctr"/>
            <a:r>
              <a:rPr sz="1200" b="0">
                <a:solidFill>
                  <a:srgbClr val="6B5E55"/>
                </a:solidFill>
                <a:latin typeface="Calibri"/>
              </a:rPr>
              <a:t>revenue streams across</a:t>
            </a:r>
          </a:p>
          <a:p>
            <a:pPr algn="ctr"/>
            <a:r>
              <a:rPr sz="1200" b="0">
                <a:solidFill>
                  <a:srgbClr val="6B5E55"/>
                </a:solidFill>
                <a:latin typeface="Calibri"/>
              </a:rPr>
              <a:t>5 audience circles</a:t>
            </a:r>
          </a:p>
        </p:txBody>
      </p:sp>
      <p:sp>
        <p:nvSpPr>
          <p:cNvPr id="17" name="Rounded Rectangle 16"/>
          <p:cNvSpPr/>
          <p:nvPr/>
        </p:nvSpPr>
        <p:spPr>
          <a:xfrm>
            <a:off x="9052560" y="1508760"/>
            <a:ext cx="2651760" cy="15544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600200"/>
            <a:ext cx="2651760" cy="731520"/>
          </a:xfrm>
          <a:prstGeom prst="rect">
            <a:avLst/>
          </a:prstGeom>
          <a:noFill/>
        </p:spPr>
        <p:txBody>
          <a:bodyPr wrap="square" anchor="t" lIns="73152" rIns="73152" tIns="36576" bIns="36576">
            <a:spAutoFit/>
          </a:bodyPr>
          <a:lstStyle/>
          <a:p>
            <a:pPr algn="ctr"/>
            <a:r>
              <a:rPr sz="3600" b="1">
                <a:solidFill>
                  <a:srgbClr val="E07B00"/>
                </a:solidFill>
                <a:latin typeface="Calibri"/>
              </a:rPr>
              <a:t>₹2.2 Cr</a:t>
            </a:r>
          </a:p>
        </p:txBody>
      </p:sp>
      <p:sp>
        <p:nvSpPr>
          <p:cNvPr id="19" name="TextBox 18"/>
          <p:cNvSpPr txBox="1"/>
          <p:nvPr/>
        </p:nvSpPr>
        <p:spPr>
          <a:xfrm>
            <a:off x="9052560" y="2331720"/>
            <a:ext cx="2651760" cy="731520"/>
          </a:xfrm>
          <a:prstGeom prst="rect">
            <a:avLst/>
          </a:prstGeom>
          <a:noFill/>
        </p:spPr>
        <p:txBody>
          <a:bodyPr wrap="square" anchor="t" lIns="73152" rIns="73152" tIns="36576" bIns="36576">
            <a:spAutoFit/>
          </a:bodyPr>
          <a:lstStyle/>
          <a:p>
            <a:pPr algn="ctr"/>
            <a:r>
              <a:rPr sz="1200" b="0">
                <a:solidFill>
                  <a:srgbClr val="6B5E55"/>
                </a:solidFill>
                <a:latin typeface="Calibri"/>
              </a:rPr>
              <a:t>Year-1 revenue</a:t>
            </a:r>
          </a:p>
          <a:p>
            <a:pPr algn="ctr"/>
            <a:r>
              <a:rPr sz="1200" b="0">
                <a:solidFill>
                  <a:srgbClr val="6B5E55"/>
                </a:solidFill>
                <a:latin typeface="Calibri"/>
              </a:rPr>
              <a:t>target [estimate]</a:t>
            </a:r>
          </a:p>
        </p:txBody>
      </p:sp>
      <p:sp>
        <p:nvSpPr>
          <p:cNvPr id="20" name="TextBox 19"/>
          <p:cNvSpPr txBox="1"/>
          <p:nvPr/>
        </p:nvSpPr>
        <p:spPr>
          <a:xfrm>
            <a:off x="548640" y="3337560"/>
            <a:ext cx="11155680" cy="3017520"/>
          </a:xfrm>
          <a:prstGeom prst="rect">
            <a:avLst/>
          </a:prstGeom>
          <a:noFill/>
        </p:spPr>
        <p:txBody>
          <a:bodyPr wrap="square">
            <a:spAutoFit/>
          </a:bodyPr>
          <a:lstStyle/>
          <a:p>
            <a:pPr>
              <a:spcAft>
                <a:spcPts val="400"/>
              </a:spcAft>
            </a:pPr>
            <a:r>
              <a:rPr sz="1500">
                <a:solidFill>
                  <a:srgbClr val="2B221E"/>
                </a:solidFill>
                <a:latin typeface="Calibri"/>
              </a:rPr>
              <a:t>•  Trust is our moat: people believe in ISKCON; satvik, chemical-free prasadam commands loyalty and price.</a:t>
            </a:r>
          </a:p>
          <a:p>
            <a:pPr>
              <a:spcAft>
                <a:spcPts val="400"/>
              </a:spcAft>
            </a:pPr>
            <a:r>
              <a:rPr sz="1500">
                <a:solidFill>
                  <a:srgbClr val="2B221E"/>
                </a:solidFill>
                <a:latin typeface="Calibri"/>
              </a:rPr>
              <a:t>•  Warm network: company owners (10,000-staff firms), MNR's 42 institutions, chambers, BNI, Rotary, 100 gated communities, donors.</a:t>
            </a:r>
          </a:p>
          <a:p>
            <a:pPr>
              <a:spcAft>
                <a:spcPts val="400"/>
              </a:spcAft>
            </a:pPr>
            <a:r>
              <a:rPr sz="1500">
                <a:solidFill>
                  <a:srgbClr val="2B221E"/>
                </a:solidFill>
                <a:latin typeface="Calibri"/>
              </a:rPr>
              <a:t>•  The missing piece is solved: temple production owns the kitchen; Mukunda Dasa and DMTT own marketing, tech and sales.</a:t>
            </a:r>
          </a:p>
          <a:p>
            <a:pPr>
              <a:spcAft>
                <a:spcPts val="400"/>
              </a:spcAft>
            </a:pPr>
            <a:r>
              <a:rPr sz="1500">
                <a:solidFill>
                  <a:srgbClr val="2B221E"/>
                </a:solidFill>
                <a:latin typeface="Calibri"/>
              </a:rPr>
              <a:t>•  Two-tier pricing: a mass tier keeps the kitchen running, a premium tier adds margin.</a:t>
            </a:r>
          </a:p>
          <a:p>
            <a:pPr>
              <a:spcAft>
                <a:spcPts val="400"/>
              </a:spcAft>
            </a:pPr>
            <a:r>
              <a:rPr sz="1500">
                <a:solidFill>
                  <a:srgbClr val="2B221E"/>
                </a:solidFill>
                <a:latin typeface="Calibri"/>
              </a:rPr>
              <a:t>•  Start lean: internal supply, festival stalls, corporate and white-label gifting for Dasara/Diwali 2026. Build capacity only after demand is proven.</a:t>
            </a:r>
          </a:p>
          <a:p>
            <a:pPr>
              <a:spcAft>
                <a:spcPts val="400"/>
              </a:spcAft>
            </a:pPr>
            <a:r>
              <a:rPr sz="1500">
                <a:solidFill>
                  <a:srgbClr val="2B221E"/>
                </a:solidFill>
                <a:latin typeface="Calibri"/>
              </a:rPr>
              <a:t>•  Grow to about ₹4.5 Cr in Year 2 and ₹7.5 Cr in Year 3; then QSRs, pan-India and exports.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THE OPPORTUNITY</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Why now: the market is untapped and we are late</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3</a:t>
            </a:r>
          </a:p>
        </p:txBody>
      </p:sp>
      <p:sp>
        <p:nvSpPr>
          <p:cNvPr id="8" name="Rounded Rectangle 7"/>
          <p:cNvSpPr/>
          <p:nvPr/>
        </p:nvSpPr>
        <p:spPr>
          <a:xfrm>
            <a:off x="548640" y="1508760"/>
            <a:ext cx="3566160" cy="46634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508760"/>
            <a:ext cx="3566160" cy="457200"/>
          </a:xfrm>
          <a:prstGeom prst="roundRect">
            <a:avLst>
              <a:gd name="adj" fmla="val 2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What we heard</a:t>
            </a:r>
          </a:p>
        </p:txBody>
      </p:sp>
      <p:sp>
        <p:nvSpPr>
          <p:cNvPr id="10" name="TextBox 9"/>
          <p:cNvSpPr txBox="1"/>
          <p:nvPr/>
        </p:nvSpPr>
        <p:spPr>
          <a:xfrm>
            <a:off x="594360" y="2039112"/>
            <a:ext cx="3474720" cy="4114800"/>
          </a:xfrm>
          <a:prstGeom prst="rect">
            <a:avLst/>
          </a:prstGeom>
          <a:noFill/>
        </p:spPr>
        <p:txBody>
          <a:bodyPr wrap="square">
            <a:spAutoFit/>
          </a:bodyPr>
          <a:lstStyle/>
          <a:p>
            <a:pPr>
              <a:spcAft>
                <a:spcPts val="200"/>
              </a:spcAft>
            </a:pPr>
            <a:r>
              <a:rPr sz="1500">
                <a:solidFill>
                  <a:srgbClr val="2B221E"/>
                </a:solidFill>
                <a:latin typeface="Calibri"/>
              </a:rPr>
              <a:t>•  Janmashtami counters sold out (~₹6 L)</a:t>
            </a:r>
          </a:p>
          <a:p>
            <a:pPr>
              <a:spcAft>
                <a:spcPts val="200"/>
              </a:spcAft>
            </a:pPr>
            <a:r>
              <a:rPr sz="1500">
                <a:solidFill>
                  <a:srgbClr val="2B221E"/>
                </a:solidFill>
                <a:latin typeface="Calibri"/>
              </a:rPr>
              <a:t>•  3 companies asked for gift boxes and we could not supply</a:t>
            </a:r>
          </a:p>
          <a:p>
            <a:pPr>
              <a:spcAft>
                <a:spcPts val="200"/>
              </a:spcAft>
            </a:pPr>
            <a:r>
              <a:rPr sz="1500">
                <a:solidFill>
                  <a:srgbClr val="2B221E"/>
                </a:solidFill>
                <a:latin typeface="Calibri"/>
              </a:rPr>
              <a:t>•  Chinmaya Mission asked for 50,000 meals</a:t>
            </a:r>
          </a:p>
          <a:p>
            <a:pPr>
              <a:spcAft>
                <a:spcPts val="200"/>
              </a:spcAft>
            </a:pPr>
            <a:r>
              <a:rPr sz="1500">
                <a:solidFill>
                  <a:srgbClr val="2B221E"/>
                </a:solidFill>
                <a:latin typeface="Calibri"/>
              </a:rPr>
              <a:t>•  Big donors ask for 5 kg namkeen in monsoon</a:t>
            </a:r>
          </a:p>
          <a:p>
            <a:pPr>
              <a:spcAft>
                <a:spcPts val="200"/>
              </a:spcAft>
            </a:pPr>
            <a:r>
              <a:rPr sz="1500">
                <a:solidFill>
                  <a:srgbClr val="2B221E"/>
                </a:solidFill>
                <a:latin typeface="Calibri"/>
              </a:rPr>
              <a:t>•  A partner offers funds for 100 QSRs</a:t>
            </a:r>
          </a:p>
          <a:p>
            <a:pPr>
              <a:spcAft>
                <a:spcPts val="200"/>
              </a:spcAft>
            </a:pPr>
            <a:r>
              <a:rPr sz="1500">
                <a:solidFill>
                  <a:srgbClr val="2B221E"/>
                </a:solidFill>
                <a:latin typeface="Calibri"/>
              </a:rPr>
              <a:t>•  No temple in our group has done this at scale</a:t>
            </a:r>
          </a:p>
        </p:txBody>
      </p:sp>
      <p:sp>
        <p:nvSpPr>
          <p:cNvPr id="11" name="Rounded Rectangle 10"/>
          <p:cNvSpPr/>
          <p:nvPr/>
        </p:nvSpPr>
        <p:spPr>
          <a:xfrm>
            <a:off x="4315968" y="1508760"/>
            <a:ext cx="3566160" cy="46634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15968" y="1508760"/>
            <a:ext cx="3566160" cy="457200"/>
          </a:xfrm>
          <a:prstGeom prst="roundRect">
            <a:avLst>
              <a:gd name="adj" fmla="val 2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What the market says</a:t>
            </a:r>
          </a:p>
        </p:txBody>
      </p:sp>
      <p:sp>
        <p:nvSpPr>
          <p:cNvPr id="13" name="TextBox 12"/>
          <p:cNvSpPr txBox="1"/>
          <p:nvPr/>
        </p:nvSpPr>
        <p:spPr>
          <a:xfrm>
            <a:off x="4361688" y="2039112"/>
            <a:ext cx="3474720" cy="4114800"/>
          </a:xfrm>
          <a:prstGeom prst="rect">
            <a:avLst/>
          </a:prstGeom>
          <a:noFill/>
        </p:spPr>
        <p:txBody>
          <a:bodyPr wrap="square">
            <a:spAutoFit/>
          </a:bodyPr>
          <a:lstStyle/>
          <a:p>
            <a:pPr>
              <a:spcAft>
                <a:spcPts val="200"/>
              </a:spcAft>
            </a:pPr>
            <a:r>
              <a:rPr sz="1500">
                <a:solidFill>
                  <a:srgbClr val="2B221E"/>
                </a:solidFill>
                <a:latin typeface="Calibri"/>
              </a:rPr>
              <a:t>•  Packaged sweets: ₹8,431 Cr (2025) → ₹30,506 Cr by 2034, ~16% CAGR</a:t>
            </a:r>
          </a:p>
          <a:p>
            <a:pPr>
              <a:spcAft>
                <a:spcPts val="200"/>
              </a:spcAft>
            </a:pPr>
            <a:r>
              <a:rPr sz="1500">
                <a:solidFill>
                  <a:srgbClr val="2B221E"/>
                </a:solidFill>
                <a:latin typeface="Calibri"/>
              </a:rPr>
              <a:t>•  Namkeen: +USD 4.9 bn by 2030, ~10% CAGR</a:t>
            </a:r>
          </a:p>
          <a:p>
            <a:pPr>
              <a:spcAft>
                <a:spcPts val="200"/>
              </a:spcAft>
            </a:pPr>
            <a:r>
              <a:rPr sz="1500">
                <a:solidFill>
                  <a:srgbClr val="2B221E"/>
                </a:solidFill>
                <a:latin typeface="Calibri"/>
              </a:rPr>
              <a:t>•  Corporate gifting: &gt; ₹27,000 Cr by 2030</a:t>
            </a:r>
          </a:p>
          <a:p>
            <a:pPr>
              <a:spcAft>
                <a:spcPts val="200"/>
              </a:spcAft>
            </a:pPr>
            <a:r>
              <a:rPr sz="1500">
                <a:solidFill>
                  <a:srgbClr val="2B221E"/>
                </a:solidFill>
                <a:latin typeface="Calibri"/>
              </a:rPr>
              <a:t>•  58% of Diwali gifts are corporate</a:t>
            </a:r>
          </a:p>
          <a:p>
            <a:pPr>
              <a:spcAft>
                <a:spcPts val="200"/>
              </a:spcAft>
            </a:pPr>
            <a:r>
              <a:rPr sz="1500">
                <a:solidFill>
                  <a:srgbClr val="2B221E"/>
                </a:solidFill>
                <a:latin typeface="Calibri"/>
              </a:rPr>
              <a:t>•  GST on packaged namkeen cut 12% → 5%</a:t>
            </a:r>
          </a:p>
        </p:txBody>
      </p:sp>
      <p:sp>
        <p:nvSpPr>
          <p:cNvPr id="14" name="Rounded Rectangle 13"/>
          <p:cNvSpPr/>
          <p:nvPr/>
        </p:nvSpPr>
        <p:spPr>
          <a:xfrm>
            <a:off x="8083296" y="1508760"/>
            <a:ext cx="3566160" cy="46634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83296" y="1508760"/>
            <a:ext cx="3566160" cy="457200"/>
          </a:xfrm>
          <a:prstGeom prst="roundRect">
            <a:avLst>
              <a:gd name="adj" fmla="val 2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What we already have</a:t>
            </a:r>
          </a:p>
        </p:txBody>
      </p:sp>
      <p:sp>
        <p:nvSpPr>
          <p:cNvPr id="16" name="TextBox 15"/>
          <p:cNvSpPr txBox="1"/>
          <p:nvPr/>
        </p:nvSpPr>
        <p:spPr>
          <a:xfrm>
            <a:off x="8129016" y="2039112"/>
            <a:ext cx="3474720" cy="4114800"/>
          </a:xfrm>
          <a:prstGeom prst="rect">
            <a:avLst/>
          </a:prstGeom>
          <a:noFill/>
        </p:spPr>
        <p:txBody>
          <a:bodyPr wrap="square">
            <a:spAutoFit/>
          </a:bodyPr>
          <a:lstStyle/>
          <a:p>
            <a:pPr>
              <a:spcAft>
                <a:spcPts val="200"/>
              </a:spcAft>
            </a:pPr>
            <a:r>
              <a:rPr sz="1500">
                <a:solidFill>
                  <a:srgbClr val="2B221E"/>
                </a:solidFill>
                <a:latin typeface="Calibri"/>
              </a:rPr>
              <a:t>•  ISKCON brand and top SEO ranking</a:t>
            </a:r>
          </a:p>
          <a:p>
            <a:pPr>
              <a:spcAft>
                <a:spcPts val="200"/>
              </a:spcAft>
            </a:pPr>
            <a:r>
              <a:rPr sz="1500">
                <a:solidFill>
                  <a:srgbClr val="2B221E"/>
                </a:solidFill>
                <a:latin typeface="Calibri"/>
              </a:rPr>
              <a:t>•  Donor databases, WhatsApp, ads skills</a:t>
            </a:r>
          </a:p>
          <a:p>
            <a:pPr>
              <a:spcAft>
                <a:spcPts val="200"/>
              </a:spcAft>
            </a:pPr>
            <a:r>
              <a:rPr sz="1500">
                <a:solidFill>
                  <a:srgbClr val="2B221E"/>
                </a:solidFill>
                <a:latin typeface="Calibri"/>
              </a:rPr>
              <a:t>•  Online donor prasadam dispatch system</a:t>
            </a:r>
          </a:p>
          <a:p>
            <a:pPr>
              <a:spcAft>
                <a:spcPts val="200"/>
              </a:spcAft>
            </a:pPr>
            <a:r>
              <a:rPr sz="1500">
                <a:solidFill>
                  <a:srgbClr val="2B221E"/>
                </a:solidFill>
                <a:latin typeface="Calibri"/>
              </a:rPr>
              <a:t>•  Shopify experience; ~15,000 Amazon parcels shipped</a:t>
            </a:r>
          </a:p>
          <a:p>
            <a:pPr>
              <a:spcAft>
                <a:spcPts val="200"/>
              </a:spcAft>
            </a:pPr>
            <a:r>
              <a:rPr sz="1500">
                <a:solidFill>
                  <a:srgbClr val="2B221E"/>
                </a:solidFill>
                <a:latin typeface="Calibri"/>
              </a:rPr>
              <a:t>•  Negotiated vendor rates, new kitchen</a:t>
            </a:r>
          </a:p>
          <a:p>
            <a:pPr>
              <a:spcAft>
                <a:spcPts val="200"/>
              </a:spcAft>
            </a:pPr>
            <a:r>
              <a:rPr sz="1500">
                <a:solidFill>
                  <a:srgbClr val="2B221E"/>
                </a:solidFill>
                <a:latin typeface="Calibri"/>
              </a:rPr>
              <a:t>•  AI engineers and data scientists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DIRECTION</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Vision, mission and brand</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4</a:t>
            </a:r>
          </a:p>
        </p:txBody>
      </p:sp>
      <p:sp>
        <p:nvSpPr>
          <p:cNvPr id="8" name="TextBox 7"/>
          <p:cNvSpPr txBox="1"/>
          <p:nvPr/>
        </p:nvSpPr>
        <p:spPr>
          <a:xfrm>
            <a:off x="548640" y="1463040"/>
            <a:ext cx="10972800" cy="914400"/>
          </a:xfrm>
          <a:prstGeom prst="rect">
            <a:avLst/>
          </a:prstGeom>
          <a:noFill/>
        </p:spPr>
        <p:txBody>
          <a:bodyPr wrap="square" anchor="t" lIns="73152" rIns="73152" tIns="36576" bIns="36576">
            <a:spAutoFit/>
          </a:bodyPr>
          <a:lstStyle/>
          <a:p>
            <a:pPr algn="l"/>
            <a:r>
              <a:rPr sz="1700" b="0">
                <a:solidFill>
                  <a:srgbClr val="2B221E"/>
                </a:solidFill>
                <a:latin typeface="Calibri"/>
              </a:rPr>
              <a:t>Make prasadam, sweets and savories one of the organisation's biggest verticals: first in Hyderabad, then across South India and all of India, and eventually in export markets. Profits fund our own kitchen, our own staff and machinery, and the temple's service to society.</a:t>
            </a:r>
          </a:p>
        </p:txBody>
      </p:sp>
      <p:sp>
        <p:nvSpPr>
          <p:cNvPr id="9" name="TextBox 8"/>
          <p:cNvSpPr txBox="1"/>
          <p:nvPr/>
        </p:nvSpPr>
        <p:spPr>
          <a:xfrm>
            <a:off x="548640" y="2514600"/>
            <a:ext cx="10972800" cy="914400"/>
          </a:xfrm>
          <a:prstGeom prst="rect">
            <a:avLst/>
          </a:prstGeom>
          <a:noFill/>
        </p:spPr>
        <p:txBody>
          <a:bodyPr wrap="square" anchor="t" lIns="73152" rIns="73152" tIns="36576" bIns="36576">
            <a:spAutoFit/>
          </a:bodyPr>
          <a:lstStyle/>
          <a:p>
            <a:pPr algn="l"/>
            <a:r>
              <a:rPr sz="1400" b="0">
                <a:solidFill>
                  <a:srgbClr val="6B5E55"/>
                </a:solidFill>
                <a:latin typeface="Calibri"/>
              </a:rPr>
              <a:t>Offer pure, satvik, preservative-free prasadam, prepared with devotion and offered to Sri Sri Radha Krishna, to every audience we already touch: visitors, donors, devotees, companies, institutions, communities and online buyers. Production is done by the temple kitchen; marketing, technology and sales are done by the DMTT; every rupee and hour is tracked for ROI.</a:t>
            </a:r>
          </a:p>
        </p:txBody>
      </p:sp>
      <p:sp>
        <p:nvSpPr>
          <p:cNvPr id="10" name="Rounded Rectangle 9"/>
          <p:cNvSpPr/>
          <p:nvPr/>
        </p:nvSpPr>
        <p:spPr>
          <a:xfrm>
            <a:off x="548640" y="3840480"/>
            <a:ext cx="2103120" cy="219456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80160" y="3977639"/>
            <a:ext cx="640080" cy="64008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1</a:t>
            </a:r>
          </a:p>
        </p:txBody>
      </p:sp>
      <p:sp>
        <p:nvSpPr>
          <p:cNvPr id="12" name="TextBox 11"/>
          <p:cNvSpPr txBox="1"/>
          <p:nvPr/>
        </p:nvSpPr>
        <p:spPr>
          <a:xfrm>
            <a:off x="548640" y="4709160"/>
            <a:ext cx="2103120" cy="365760"/>
          </a:xfrm>
          <a:prstGeom prst="rect">
            <a:avLst/>
          </a:prstGeom>
          <a:noFill/>
        </p:spPr>
        <p:txBody>
          <a:bodyPr wrap="square" anchor="t" lIns="73152" rIns="73152" tIns="36576" bIns="36576">
            <a:spAutoFit/>
          </a:bodyPr>
          <a:lstStyle/>
          <a:p>
            <a:pPr algn="ctr"/>
            <a:r>
              <a:rPr sz="1600" b="1">
                <a:solidFill>
                  <a:srgbClr val="7A1F2B"/>
                </a:solidFill>
                <a:latin typeface="Calibri"/>
              </a:rPr>
              <a:t>Purity</a:t>
            </a:r>
          </a:p>
        </p:txBody>
      </p:sp>
      <p:sp>
        <p:nvSpPr>
          <p:cNvPr id="13" name="TextBox 12"/>
          <p:cNvSpPr txBox="1"/>
          <p:nvPr/>
        </p:nvSpPr>
        <p:spPr>
          <a:xfrm>
            <a:off x="640080" y="5120640"/>
            <a:ext cx="1920240" cy="822960"/>
          </a:xfrm>
          <a:prstGeom prst="rect">
            <a:avLst/>
          </a:prstGeom>
          <a:noFill/>
        </p:spPr>
        <p:txBody>
          <a:bodyPr wrap="square" anchor="t" lIns="73152" rIns="73152" tIns="36576" bIns="36576">
            <a:spAutoFit/>
          </a:bodyPr>
          <a:lstStyle/>
          <a:p>
            <a:pPr algn="ctr"/>
            <a:r>
              <a:rPr sz="1200" b="0">
                <a:solidFill>
                  <a:srgbClr val="6B5E55"/>
                </a:solidFill>
                <a:latin typeface="Calibri"/>
              </a:rPr>
              <a:t>Satvik, no preservatives, no artificial colours</a:t>
            </a:r>
          </a:p>
        </p:txBody>
      </p:sp>
      <p:sp>
        <p:nvSpPr>
          <p:cNvPr id="14" name="Rounded Rectangle 13"/>
          <p:cNvSpPr/>
          <p:nvPr/>
        </p:nvSpPr>
        <p:spPr>
          <a:xfrm>
            <a:off x="2816352" y="3840480"/>
            <a:ext cx="2103120" cy="219456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47872" y="3977639"/>
            <a:ext cx="640080" cy="64008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2</a:t>
            </a:r>
          </a:p>
        </p:txBody>
      </p:sp>
      <p:sp>
        <p:nvSpPr>
          <p:cNvPr id="16" name="TextBox 15"/>
          <p:cNvSpPr txBox="1"/>
          <p:nvPr/>
        </p:nvSpPr>
        <p:spPr>
          <a:xfrm>
            <a:off x="2816352" y="4709160"/>
            <a:ext cx="2103120" cy="365760"/>
          </a:xfrm>
          <a:prstGeom prst="rect">
            <a:avLst/>
          </a:prstGeom>
          <a:noFill/>
        </p:spPr>
        <p:txBody>
          <a:bodyPr wrap="square" anchor="t" lIns="73152" rIns="73152" tIns="36576" bIns="36576">
            <a:spAutoFit/>
          </a:bodyPr>
          <a:lstStyle/>
          <a:p>
            <a:pPr algn="ctr"/>
            <a:r>
              <a:rPr sz="1600" b="1">
                <a:solidFill>
                  <a:srgbClr val="7A1F2B"/>
                </a:solidFill>
                <a:latin typeface="Calibri"/>
              </a:rPr>
              <a:t>Devotion</a:t>
            </a:r>
          </a:p>
        </p:txBody>
      </p:sp>
      <p:sp>
        <p:nvSpPr>
          <p:cNvPr id="17" name="TextBox 16"/>
          <p:cNvSpPr txBox="1"/>
          <p:nvPr/>
        </p:nvSpPr>
        <p:spPr>
          <a:xfrm>
            <a:off x="2907792" y="5120640"/>
            <a:ext cx="1920240" cy="822960"/>
          </a:xfrm>
          <a:prstGeom prst="rect">
            <a:avLst/>
          </a:prstGeom>
          <a:noFill/>
        </p:spPr>
        <p:txBody>
          <a:bodyPr wrap="square" anchor="t" lIns="73152" rIns="73152" tIns="36576" bIns="36576">
            <a:spAutoFit/>
          </a:bodyPr>
          <a:lstStyle/>
          <a:p>
            <a:pPr algn="ctr"/>
            <a:r>
              <a:rPr sz="1200" b="0">
                <a:solidFill>
                  <a:srgbClr val="6B5E55"/>
                </a:solidFill>
                <a:latin typeface="Calibri"/>
              </a:rPr>
              <a:t>Prepared with care and offered to the Deity</a:t>
            </a:r>
          </a:p>
        </p:txBody>
      </p:sp>
      <p:sp>
        <p:nvSpPr>
          <p:cNvPr id="18" name="Rounded Rectangle 17"/>
          <p:cNvSpPr/>
          <p:nvPr/>
        </p:nvSpPr>
        <p:spPr>
          <a:xfrm>
            <a:off x="5084064" y="3840480"/>
            <a:ext cx="2103120" cy="219456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815584" y="3977639"/>
            <a:ext cx="640080" cy="64008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3</a:t>
            </a:r>
          </a:p>
        </p:txBody>
      </p:sp>
      <p:sp>
        <p:nvSpPr>
          <p:cNvPr id="20" name="TextBox 19"/>
          <p:cNvSpPr txBox="1"/>
          <p:nvPr/>
        </p:nvSpPr>
        <p:spPr>
          <a:xfrm>
            <a:off x="5084064" y="4709160"/>
            <a:ext cx="2103120" cy="365760"/>
          </a:xfrm>
          <a:prstGeom prst="rect">
            <a:avLst/>
          </a:prstGeom>
          <a:noFill/>
        </p:spPr>
        <p:txBody>
          <a:bodyPr wrap="square" anchor="t" lIns="73152" rIns="73152" tIns="36576" bIns="36576">
            <a:spAutoFit/>
          </a:bodyPr>
          <a:lstStyle/>
          <a:p>
            <a:pPr algn="ctr"/>
            <a:r>
              <a:rPr sz="1600" b="1">
                <a:solidFill>
                  <a:srgbClr val="7A1F2B"/>
                </a:solidFill>
                <a:latin typeface="Calibri"/>
              </a:rPr>
              <a:t>Trust</a:t>
            </a:r>
          </a:p>
        </p:txBody>
      </p:sp>
      <p:sp>
        <p:nvSpPr>
          <p:cNvPr id="21" name="TextBox 20"/>
          <p:cNvSpPr txBox="1"/>
          <p:nvPr/>
        </p:nvSpPr>
        <p:spPr>
          <a:xfrm>
            <a:off x="5175504" y="5120640"/>
            <a:ext cx="1920240" cy="822960"/>
          </a:xfrm>
          <a:prstGeom prst="rect">
            <a:avLst/>
          </a:prstGeom>
          <a:noFill/>
        </p:spPr>
        <p:txBody>
          <a:bodyPr wrap="square" anchor="t" lIns="73152" rIns="73152" tIns="36576" bIns="36576">
            <a:spAutoFit/>
          </a:bodyPr>
          <a:lstStyle/>
          <a:p>
            <a:pPr algn="ctr"/>
            <a:r>
              <a:rPr sz="1200" b="0">
                <a:solidFill>
                  <a:srgbClr val="6B5E55"/>
                </a:solidFill>
                <a:latin typeface="Calibri"/>
              </a:rPr>
              <a:t>Decades of ISKCON goodwill in Hyderabad</a:t>
            </a:r>
          </a:p>
        </p:txBody>
      </p:sp>
      <p:sp>
        <p:nvSpPr>
          <p:cNvPr id="22" name="Rounded Rectangle 21"/>
          <p:cNvSpPr/>
          <p:nvPr/>
        </p:nvSpPr>
        <p:spPr>
          <a:xfrm>
            <a:off x="7351775" y="3840480"/>
            <a:ext cx="2103120" cy="219456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83295" y="3977639"/>
            <a:ext cx="640080" cy="64008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4</a:t>
            </a:r>
          </a:p>
        </p:txBody>
      </p:sp>
      <p:sp>
        <p:nvSpPr>
          <p:cNvPr id="24" name="TextBox 23"/>
          <p:cNvSpPr txBox="1"/>
          <p:nvPr/>
        </p:nvSpPr>
        <p:spPr>
          <a:xfrm>
            <a:off x="7351775" y="4709160"/>
            <a:ext cx="2103120" cy="365760"/>
          </a:xfrm>
          <a:prstGeom prst="rect">
            <a:avLst/>
          </a:prstGeom>
          <a:noFill/>
        </p:spPr>
        <p:txBody>
          <a:bodyPr wrap="square" anchor="t" lIns="73152" rIns="73152" tIns="36576" bIns="36576">
            <a:spAutoFit/>
          </a:bodyPr>
          <a:lstStyle/>
          <a:p>
            <a:pPr algn="ctr"/>
            <a:r>
              <a:rPr sz="1600" b="1">
                <a:solidFill>
                  <a:srgbClr val="7A1F2B"/>
                </a:solidFill>
                <a:latin typeface="Calibri"/>
              </a:rPr>
              <a:t>Service</a:t>
            </a:r>
          </a:p>
        </p:txBody>
      </p:sp>
      <p:sp>
        <p:nvSpPr>
          <p:cNvPr id="25" name="TextBox 24"/>
          <p:cNvSpPr txBox="1"/>
          <p:nvPr/>
        </p:nvSpPr>
        <p:spPr>
          <a:xfrm>
            <a:off x="7443215" y="5120640"/>
            <a:ext cx="1920240" cy="822960"/>
          </a:xfrm>
          <a:prstGeom prst="rect">
            <a:avLst/>
          </a:prstGeom>
          <a:noFill/>
        </p:spPr>
        <p:txBody>
          <a:bodyPr wrap="square" anchor="t" lIns="73152" rIns="73152" tIns="36576" bIns="36576">
            <a:spAutoFit/>
          </a:bodyPr>
          <a:lstStyle/>
          <a:p>
            <a:pPr algn="ctr"/>
            <a:r>
              <a:rPr sz="1200" b="0">
                <a:solidFill>
                  <a:srgbClr val="6B5E55"/>
                </a:solidFill>
                <a:latin typeface="Calibri"/>
              </a:rPr>
              <a:t>Proceeds support temple seva</a:t>
            </a:r>
          </a:p>
        </p:txBody>
      </p:sp>
      <p:sp>
        <p:nvSpPr>
          <p:cNvPr id="26" name="Rounded Rectangle 25"/>
          <p:cNvSpPr/>
          <p:nvPr/>
        </p:nvSpPr>
        <p:spPr>
          <a:xfrm>
            <a:off x="9619488" y="3840480"/>
            <a:ext cx="2103120" cy="219456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51008" y="3977639"/>
            <a:ext cx="640080" cy="64008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800" b="1">
                <a:solidFill>
                  <a:srgbClr val="FFFFFF"/>
                </a:solidFill>
                <a:latin typeface="Calibri"/>
              </a:rPr>
              <a:t>5</a:t>
            </a:r>
          </a:p>
        </p:txBody>
      </p:sp>
      <p:sp>
        <p:nvSpPr>
          <p:cNvPr id="28" name="TextBox 27"/>
          <p:cNvSpPr txBox="1"/>
          <p:nvPr/>
        </p:nvSpPr>
        <p:spPr>
          <a:xfrm>
            <a:off x="9619488" y="4709160"/>
            <a:ext cx="2103120" cy="365760"/>
          </a:xfrm>
          <a:prstGeom prst="rect">
            <a:avLst/>
          </a:prstGeom>
          <a:noFill/>
        </p:spPr>
        <p:txBody>
          <a:bodyPr wrap="square" anchor="t" lIns="73152" rIns="73152" tIns="36576" bIns="36576">
            <a:spAutoFit/>
          </a:bodyPr>
          <a:lstStyle/>
          <a:p>
            <a:pPr algn="ctr"/>
            <a:r>
              <a:rPr sz="1600" b="1">
                <a:solidFill>
                  <a:srgbClr val="7A1F2B"/>
                </a:solidFill>
                <a:latin typeface="Calibri"/>
              </a:rPr>
              <a:t>Delight</a:t>
            </a:r>
          </a:p>
        </p:txBody>
      </p:sp>
      <p:sp>
        <p:nvSpPr>
          <p:cNvPr id="29" name="TextBox 28"/>
          <p:cNvSpPr txBox="1"/>
          <p:nvPr/>
        </p:nvSpPr>
        <p:spPr>
          <a:xfrm>
            <a:off x="9710928" y="5120640"/>
            <a:ext cx="1920240" cy="822960"/>
          </a:xfrm>
          <a:prstGeom prst="rect">
            <a:avLst/>
          </a:prstGeom>
          <a:noFill/>
        </p:spPr>
        <p:txBody>
          <a:bodyPr wrap="square" anchor="t" lIns="73152" rIns="73152" tIns="36576" bIns="36576">
            <a:spAutoFit/>
          </a:bodyPr>
          <a:lstStyle/>
          <a:p>
            <a:pPr algn="ctr"/>
            <a:r>
              <a:rPr sz="1200" b="0">
                <a:solidFill>
                  <a:srgbClr val="6B5E55"/>
                </a:solidFill>
                <a:latin typeface="Calibri"/>
              </a:rPr>
              <a:t>Packaging that makes gifting special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MIND MAP</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The whole vertical on one page</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5</a:t>
            </a:r>
          </a:p>
        </p:txBody>
      </p:sp>
      <p:cxnSp>
        <p:nvCxnSpPr>
          <p:cNvPr id="8" name="Connector 7"/>
          <p:cNvCxnSpPr/>
          <p:nvPr/>
        </p:nvCxnSpPr>
        <p:spPr>
          <a:xfrm flipH="1" flipV="1">
            <a:off x="3264408" y="2194560"/>
            <a:ext cx="2834640" cy="1600200"/>
          </a:xfrm>
          <a:prstGeom prst="line">
            <a:avLst/>
          </a:prstGeom>
          <a:ln w="31750">
            <a:solidFill>
              <a:srgbClr val="7A1F2B"/>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304288" y="1938528"/>
            <a:ext cx="1920240" cy="512064"/>
          </a:xfrm>
          <a:prstGeom prst="roundRect">
            <a:avLst>
              <a:gd name="adj" fmla="val 40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Audiences</a:t>
            </a:r>
          </a:p>
        </p:txBody>
      </p:sp>
      <p:sp>
        <p:nvSpPr>
          <p:cNvPr id="10" name="TextBox 9"/>
          <p:cNvSpPr txBox="1"/>
          <p:nvPr/>
        </p:nvSpPr>
        <p:spPr>
          <a:xfrm>
            <a:off x="429769" y="1481328"/>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Visitors &amp; festivals</a:t>
            </a:r>
          </a:p>
        </p:txBody>
      </p:sp>
      <p:sp>
        <p:nvSpPr>
          <p:cNvPr id="11" name="TextBox 10"/>
          <p:cNvSpPr txBox="1"/>
          <p:nvPr/>
        </p:nvSpPr>
        <p:spPr>
          <a:xfrm>
            <a:off x="429769" y="1719072"/>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Donors</a:t>
            </a:r>
          </a:p>
        </p:txBody>
      </p:sp>
      <p:sp>
        <p:nvSpPr>
          <p:cNvPr id="12" name="TextBox 11"/>
          <p:cNvSpPr txBox="1"/>
          <p:nvPr/>
        </p:nvSpPr>
        <p:spPr>
          <a:xfrm>
            <a:off x="429769" y="1956816"/>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Companies</a:t>
            </a:r>
          </a:p>
        </p:txBody>
      </p:sp>
      <p:sp>
        <p:nvSpPr>
          <p:cNvPr id="13" name="TextBox 12"/>
          <p:cNvSpPr txBox="1"/>
          <p:nvPr/>
        </p:nvSpPr>
        <p:spPr>
          <a:xfrm>
            <a:off x="429769" y="2194560"/>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Institutions</a:t>
            </a:r>
          </a:p>
        </p:txBody>
      </p:sp>
      <p:sp>
        <p:nvSpPr>
          <p:cNvPr id="14" name="TextBox 13"/>
          <p:cNvSpPr txBox="1"/>
          <p:nvPr/>
        </p:nvSpPr>
        <p:spPr>
          <a:xfrm>
            <a:off x="429769" y="2432304"/>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Communities</a:t>
            </a:r>
          </a:p>
        </p:txBody>
      </p:sp>
      <p:sp>
        <p:nvSpPr>
          <p:cNvPr id="15" name="TextBox 14"/>
          <p:cNvSpPr txBox="1"/>
          <p:nvPr/>
        </p:nvSpPr>
        <p:spPr>
          <a:xfrm>
            <a:off x="429769" y="2670048"/>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Online / NRI</a:t>
            </a:r>
          </a:p>
        </p:txBody>
      </p:sp>
      <p:cxnSp>
        <p:nvCxnSpPr>
          <p:cNvPr id="16" name="Connector 15"/>
          <p:cNvCxnSpPr/>
          <p:nvPr/>
        </p:nvCxnSpPr>
        <p:spPr>
          <a:xfrm flipV="1">
            <a:off x="6099048" y="2194560"/>
            <a:ext cx="2834640" cy="1600200"/>
          </a:xfrm>
          <a:prstGeom prst="line">
            <a:avLst/>
          </a:prstGeom>
          <a:ln w="31750">
            <a:solidFill>
              <a:srgbClr val="E07B0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73568" y="1938528"/>
            <a:ext cx="1920240" cy="51206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Revenue streams</a:t>
            </a:r>
          </a:p>
        </p:txBody>
      </p:sp>
      <p:sp>
        <p:nvSpPr>
          <p:cNvPr id="18" name="TextBox 17"/>
          <p:cNvSpPr txBox="1"/>
          <p:nvPr/>
        </p:nvSpPr>
        <p:spPr>
          <a:xfrm>
            <a:off x="9985248" y="1481328"/>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Stalls &amp; restaurant</a:t>
            </a:r>
          </a:p>
        </p:txBody>
      </p:sp>
      <p:sp>
        <p:nvSpPr>
          <p:cNvPr id="19" name="TextBox 18"/>
          <p:cNvSpPr txBox="1"/>
          <p:nvPr/>
        </p:nvSpPr>
        <p:spPr>
          <a:xfrm>
            <a:off x="9985248" y="1719072"/>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Corporate gifting</a:t>
            </a:r>
          </a:p>
        </p:txBody>
      </p:sp>
      <p:sp>
        <p:nvSpPr>
          <p:cNvPr id="20" name="TextBox 19"/>
          <p:cNvSpPr txBox="1"/>
          <p:nvPr/>
        </p:nvSpPr>
        <p:spPr>
          <a:xfrm>
            <a:off x="9985248" y="1956816"/>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White-label</a:t>
            </a:r>
          </a:p>
        </p:txBody>
      </p:sp>
      <p:sp>
        <p:nvSpPr>
          <p:cNvPr id="21" name="TextBox 20"/>
          <p:cNvSpPr txBox="1"/>
          <p:nvPr/>
        </p:nvSpPr>
        <p:spPr>
          <a:xfrm>
            <a:off x="9985248" y="2194560"/>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E-commerce</a:t>
            </a:r>
          </a:p>
        </p:txBody>
      </p:sp>
      <p:sp>
        <p:nvSpPr>
          <p:cNvPr id="22" name="TextBox 21"/>
          <p:cNvSpPr txBox="1"/>
          <p:nvPr/>
        </p:nvSpPr>
        <p:spPr>
          <a:xfrm>
            <a:off x="9985248" y="2432304"/>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Catering</a:t>
            </a:r>
          </a:p>
        </p:txBody>
      </p:sp>
      <p:sp>
        <p:nvSpPr>
          <p:cNvPr id="23" name="TextBox 22"/>
          <p:cNvSpPr txBox="1"/>
          <p:nvPr/>
        </p:nvSpPr>
        <p:spPr>
          <a:xfrm>
            <a:off x="9985248" y="2670048"/>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QSR &amp; export</a:t>
            </a:r>
          </a:p>
        </p:txBody>
      </p:sp>
      <p:cxnSp>
        <p:nvCxnSpPr>
          <p:cNvPr id="24" name="Connector 23"/>
          <p:cNvCxnSpPr/>
          <p:nvPr/>
        </p:nvCxnSpPr>
        <p:spPr>
          <a:xfrm flipH="1">
            <a:off x="3264408" y="3794760"/>
            <a:ext cx="2834640" cy="0"/>
          </a:xfrm>
          <a:prstGeom prst="line">
            <a:avLst/>
          </a:prstGeom>
          <a:ln w="3175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304288" y="3538728"/>
            <a:ext cx="1920240" cy="512064"/>
          </a:xfrm>
          <a:prstGeom prst="roundRect">
            <a:avLst>
              <a:gd name="adj" fmla="val 4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Products</a:t>
            </a:r>
          </a:p>
        </p:txBody>
      </p:sp>
      <p:sp>
        <p:nvSpPr>
          <p:cNvPr id="26" name="TextBox 25"/>
          <p:cNvSpPr txBox="1"/>
          <p:nvPr/>
        </p:nvSpPr>
        <p:spPr>
          <a:xfrm>
            <a:off x="429769" y="3081528"/>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Chikkis &amp; laddus</a:t>
            </a:r>
          </a:p>
        </p:txBody>
      </p:sp>
      <p:sp>
        <p:nvSpPr>
          <p:cNvPr id="27" name="TextBox 26"/>
          <p:cNvSpPr txBox="1"/>
          <p:nvPr/>
        </p:nvSpPr>
        <p:spPr>
          <a:xfrm>
            <a:off x="429769" y="3319272"/>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Kaja &amp; khara</a:t>
            </a:r>
          </a:p>
        </p:txBody>
      </p:sp>
      <p:sp>
        <p:nvSpPr>
          <p:cNvPr id="28" name="TextBox 27"/>
          <p:cNvSpPr txBox="1"/>
          <p:nvPr/>
        </p:nvSpPr>
        <p:spPr>
          <a:xfrm>
            <a:off x="429769" y="3557016"/>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Namkeen</a:t>
            </a:r>
          </a:p>
        </p:txBody>
      </p:sp>
      <p:sp>
        <p:nvSpPr>
          <p:cNvPr id="29" name="TextBox 28"/>
          <p:cNvSpPr txBox="1"/>
          <p:nvPr/>
        </p:nvSpPr>
        <p:spPr>
          <a:xfrm>
            <a:off x="429769" y="3794760"/>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Puri unde</a:t>
            </a:r>
          </a:p>
        </p:txBody>
      </p:sp>
      <p:sp>
        <p:nvSpPr>
          <p:cNvPr id="30" name="TextBox 29"/>
          <p:cNvSpPr txBox="1"/>
          <p:nvPr/>
        </p:nvSpPr>
        <p:spPr>
          <a:xfrm>
            <a:off x="429769" y="4032504"/>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Pickles &amp; powders</a:t>
            </a:r>
          </a:p>
        </p:txBody>
      </p:sp>
      <p:sp>
        <p:nvSpPr>
          <p:cNvPr id="31" name="TextBox 30"/>
          <p:cNvSpPr txBox="1"/>
          <p:nvPr/>
        </p:nvSpPr>
        <p:spPr>
          <a:xfrm>
            <a:off x="429769" y="4270248"/>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Gift boxes</a:t>
            </a:r>
          </a:p>
        </p:txBody>
      </p:sp>
      <p:cxnSp>
        <p:nvCxnSpPr>
          <p:cNvPr id="32" name="Connector 31"/>
          <p:cNvCxnSpPr/>
          <p:nvPr/>
        </p:nvCxnSpPr>
        <p:spPr>
          <a:xfrm>
            <a:off x="6099048" y="3794760"/>
            <a:ext cx="2834640" cy="0"/>
          </a:xfrm>
          <a:prstGeom prst="line">
            <a:avLst/>
          </a:prstGeom>
          <a:ln w="31750">
            <a:solidFill>
              <a:srgbClr val="1F5F8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973568" y="3538728"/>
            <a:ext cx="1920240" cy="512064"/>
          </a:xfrm>
          <a:prstGeom prst="roundRect">
            <a:avLst>
              <a:gd name="adj" fmla="val 40000"/>
            </a:avLst>
          </a:prstGeom>
          <a:solidFill>
            <a:srgbClr val="1F5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Marketing</a:t>
            </a:r>
          </a:p>
        </p:txBody>
      </p:sp>
      <p:sp>
        <p:nvSpPr>
          <p:cNvPr id="34" name="TextBox 33"/>
          <p:cNvSpPr txBox="1"/>
          <p:nvPr/>
        </p:nvSpPr>
        <p:spPr>
          <a:xfrm>
            <a:off x="9985248" y="3081528"/>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ISKCON brand</a:t>
            </a:r>
          </a:p>
        </p:txBody>
      </p:sp>
      <p:sp>
        <p:nvSpPr>
          <p:cNvPr id="35" name="TextBox 34"/>
          <p:cNvSpPr txBox="1"/>
          <p:nvPr/>
        </p:nvSpPr>
        <p:spPr>
          <a:xfrm>
            <a:off x="9985248" y="3319272"/>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Databases &amp; AI</a:t>
            </a:r>
          </a:p>
        </p:txBody>
      </p:sp>
      <p:sp>
        <p:nvSpPr>
          <p:cNvPr id="36" name="TextBox 35"/>
          <p:cNvSpPr txBox="1"/>
          <p:nvPr/>
        </p:nvSpPr>
        <p:spPr>
          <a:xfrm>
            <a:off x="9985248" y="3557016"/>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WhatsApp / SMS</a:t>
            </a:r>
          </a:p>
        </p:txBody>
      </p:sp>
      <p:sp>
        <p:nvSpPr>
          <p:cNvPr id="37" name="TextBox 36"/>
          <p:cNvSpPr txBox="1"/>
          <p:nvPr/>
        </p:nvSpPr>
        <p:spPr>
          <a:xfrm>
            <a:off x="9985248" y="3794760"/>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Google &amp; Meta ads</a:t>
            </a:r>
          </a:p>
        </p:txBody>
      </p:sp>
      <p:sp>
        <p:nvSpPr>
          <p:cNvPr id="38" name="TextBox 37"/>
          <p:cNvSpPr txBox="1"/>
          <p:nvPr/>
        </p:nvSpPr>
        <p:spPr>
          <a:xfrm>
            <a:off x="9985248" y="4032504"/>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Owner meetings</a:t>
            </a:r>
          </a:p>
        </p:txBody>
      </p:sp>
      <p:sp>
        <p:nvSpPr>
          <p:cNvPr id="39" name="TextBox 38"/>
          <p:cNvSpPr txBox="1"/>
          <p:nvPr/>
        </p:nvSpPr>
        <p:spPr>
          <a:xfrm>
            <a:off x="9985248" y="4270248"/>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SEO &amp; PR</a:t>
            </a:r>
          </a:p>
        </p:txBody>
      </p:sp>
      <p:cxnSp>
        <p:nvCxnSpPr>
          <p:cNvPr id="40" name="Connector 39"/>
          <p:cNvCxnSpPr/>
          <p:nvPr/>
        </p:nvCxnSpPr>
        <p:spPr>
          <a:xfrm flipH="1">
            <a:off x="3264408" y="3794760"/>
            <a:ext cx="2834640" cy="1600200"/>
          </a:xfrm>
          <a:prstGeom prst="line">
            <a:avLst/>
          </a:prstGeom>
          <a:ln w="31750">
            <a:solidFill>
              <a:srgbClr val="2E7D32"/>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2304288" y="5138928"/>
            <a:ext cx="1920240" cy="512064"/>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Operations</a:t>
            </a:r>
          </a:p>
        </p:txBody>
      </p:sp>
      <p:sp>
        <p:nvSpPr>
          <p:cNvPr id="42" name="TextBox 41"/>
          <p:cNvSpPr txBox="1"/>
          <p:nvPr/>
        </p:nvSpPr>
        <p:spPr>
          <a:xfrm>
            <a:off x="429769" y="4681728"/>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Kitchen + 1 hire</a:t>
            </a:r>
          </a:p>
        </p:txBody>
      </p:sp>
      <p:sp>
        <p:nvSpPr>
          <p:cNvPr id="43" name="TextBox 42"/>
          <p:cNvSpPr txBox="1"/>
          <p:nvPr/>
        </p:nvSpPr>
        <p:spPr>
          <a:xfrm>
            <a:off x="429769" y="4919472"/>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Recipes &amp; costing</a:t>
            </a:r>
          </a:p>
        </p:txBody>
      </p:sp>
      <p:sp>
        <p:nvSpPr>
          <p:cNvPr id="44" name="TextBox 43"/>
          <p:cNvSpPr txBox="1"/>
          <p:nvPr/>
        </p:nvSpPr>
        <p:spPr>
          <a:xfrm>
            <a:off x="429769" y="5157216"/>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Shelf-life tests</a:t>
            </a:r>
          </a:p>
        </p:txBody>
      </p:sp>
      <p:sp>
        <p:nvSpPr>
          <p:cNvPr id="45" name="TextBox 44"/>
          <p:cNvSpPr txBox="1"/>
          <p:nvPr/>
        </p:nvSpPr>
        <p:spPr>
          <a:xfrm>
            <a:off x="429769" y="5394960"/>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Packaging</a:t>
            </a:r>
          </a:p>
        </p:txBody>
      </p:sp>
      <p:sp>
        <p:nvSpPr>
          <p:cNvPr id="46" name="TextBox 45"/>
          <p:cNvSpPr txBox="1"/>
          <p:nvPr/>
        </p:nvSpPr>
        <p:spPr>
          <a:xfrm>
            <a:off x="429769" y="5632704"/>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Dispatch</a:t>
            </a:r>
          </a:p>
        </p:txBody>
      </p:sp>
      <p:sp>
        <p:nvSpPr>
          <p:cNvPr id="47" name="TextBox 46"/>
          <p:cNvSpPr txBox="1"/>
          <p:nvPr/>
        </p:nvSpPr>
        <p:spPr>
          <a:xfrm>
            <a:off x="429769" y="5870448"/>
            <a:ext cx="1783080" cy="246888"/>
          </a:xfrm>
          <a:prstGeom prst="rect">
            <a:avLst/>
          </a:prstGeom>
          <a:noFill/>
        </p:spPr>
        <p:txBody>
          <a:bodyPr wrap="square" anchor="t" lIns="73152" rIns="73152" tIns="36576" bIns="36576">
            <a:spAutoFit/>
          </a:bodyPr>
          <a:lstStyle/>
          <a:p>
            <a:pPr algn="r"/>
            <a:r>
              <a:rPr sz="1000" b="0">
                <a:solidFill>
                  <a:srgbClr val="2B221E"/>
                </a:solidFill>
                <a:latin typeface="Calibri"/>
              </a:rPr>
              <a:t>FSSAI &amp; GST</a:t>
            </a:r>
          </a:p>
        </p:txBody>
      </p:sp>
      <p:cxnSp>
        <p:nvCxnSpPr>
          <p:cNvPr id="48" name="Connector 47"/>
          <p:cNvCxnSpPr/>
          <p:nvPr/>
        </p:nvCxnSpPr>
        <p:spPr>
          <a:xfrm>
            <a:off x="6099048" y="3794760"/>
            <a:ext cx="2834640" cy="1600200"/>
          </a:xfrm>
          <a:prstGeom prst="line">
            <a:avLst/>
          </a:prstGeom>
          <a:ln w="31750">
            <a:solidFill>
              <a:srgbClr val="6B5E55"/>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973568" y="5138928"/>
            <a:ext cx="1920240" cy="512064"/>
          </a:xfrm>
          <a:prstGeom prst="roundRect">
            <a:avLst>
              <a:gd name="adj" fmla="val 40000"/>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Governance</a:t>
            </a:r>
          </a:p>
        </p:txBody>
      </p:sp>
      <p:sp>
        <p:nvSpPr>
          <p:cNvPr id="50" name="TextBox 49"/>
          <p:cNvSpPr txBox="1"/>
          <p:nvPr/>
        </p:nvSpPr>
        <p:spPr>
          <a:xfrm>
            <a:off x="9985248" y="4681728"/>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DMTT ROI</a:t>
            </a:r>
          </a:p>
        </p:txBody>
      </p:sp>
      <p:sp>
        <p:nvSpPr>
          <p:cNvPr id="51" name="TextBox 50"/>
          <p:cNvSpPr txBox="1"/>
          <p:nvPr/>
        </p:nvSpPr>
        <p:spPr>
          <a:xfrm>
            <a:off x="9985248" y="4919472"/>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Weekly review</a:t>
            </a:r>
          </a:p>
        </p:txBody>
      </p:sp>
      <p:sp>
        <p:nvSpPr>
          <p:cNvPr id="52" name="TextBox 51"/>
          <p:cNvSpPr txBox="1"/>
          <p:nvPr/>
        </p:nvSpPr>
        <p:spPr>
          <a:xfrm>
            <a:off x="9985248" y="5157216"/>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Risk register</a:t>
            </a:r>
          </a:p>
        </p:txBody>
      </p:sp>
      <p:sp>
        <p:nvSpPr>
          <p:cNvPr id="53" name="TextBox 52"/>
          <p:cNvSpPr txBox="1"/>
          <p:nvPr/>
        </p:nvSpPr>
        <p:spPr>
          <a:xfrm>
            <a:off x="9985248" y="5394960"/>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Budgets</a:t>
            </a:r>
          </a:p>
        </p:txBody>
      </p:sp>
      <p:sp>
        <p:nvSpPr>
          <p:cNvPr id="54" name="TextBox 53"/>
          <p:cNvSpPr txBox="1"/>
          <p:nvPr/>
        </p:nvSpPr>
        <p:spPr>
          <a:xfrm>
            <a:off x="9985248" y="5632704"/>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KPIs</a:t>
            </a:r>
          </a:p>
        </p:txBody>
      </p:sp>
      <p:sp>
        <p:nvSpPr>
          <p:cNvPr id="55" name="TextBox 54"/>
          <p:cNvSpPr txBox="1"/>
          <p:nvPr/>
        </p:nvSpPr>
        <p:spPr>
          <a:xfrm>
            <a:off x="9985248" y="5870448"/>
            <a:ext cx="1783080" cy="246888"/>
          </a:xfrm>
          <a:prstGeom prst="rect">
            <a:avLst/>
          </a:prstGeom>
          <a:noFill/>
        </p:spPr>
        <p:txBody>
          <a:bodyPr wrap="square" anchor="t" lIns="73152" rIns="73152" tIns="36576" bIns="36576">
            <a:spAutoFit/>
          </a:bodyPr>
          <a:lstStyle/>
          <a:p>
            <a:pPr algn="l"/>
            <a:r>
              <a:rPr sz="1000" b="0">
                <a:solidFill>
                  <a:srgbClr val="2B221E"/>
                </a:solidFill>
                <a:latin typeface="Calibri"/>
              </a:rPr>
              <a:t>Roadmap phases</a:t>
            </a:r>
          </a:p>
        </p:txBody>
      </p:sp>
      <p:sp>
        <p:nvSpPr>
          <p:cNvPr id="56" name="Rounded Rectangle 55"/>
          <p:cNvSpPr/>
          <p:nvPr/>
        </p:nvSpPr>
        <p:spPr>
          <a:xfrm>
            <a:off x="4910328" y="3337560"/>
            <a:ext cx="2377440" cy="914400"/>
          </a:xfrm>
          <a:prstGeom prst="roundRect">
            <a:avLst>
              <a:gd name="adj" fmla="val 30000"/>
            </a:avLst>
          </a:prstGeom>
          <a:solidFill>
            <a:srgbClr val="7A1F2B"/>
          </a:solidFill>
          <a:ln w="381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a:solidFill>
                  <a:srgbClr val="FFFFFF"/>
                </a:solidFill>
                <a:latin typeface="Calibri"/>
              </a:rPr>
              <a:t>Prasadam</a:t>
            </a:r>
          </a:p>
          <a:p>
            <a:pPr algn="ctr"/>
            <a:r>
              <a:rPr sz="1700" b="1">
                <a:solidFill>
                  <a:srgbClr val="FFFFFF"/>
                </a:solidFill>
                <a:latin typeface="Calibri"/>
              </a:rPr>
              <a:t>Vertical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TARGET AUDIENCES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Different circles, different products</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6</a:t>
            </a:r>
          </a:p>
        </p:txBody>
      </p:sp>
      <p:sp>
        <p:nvSpPr>
          <p:cNvPr id="8" name="Rounded Rectangle 7"/>
          <p:cNvSpPr/>
          <p:nvPr/>
        </p:nvSpPr>
        <p:spPr>
          <a:xfrm>
            <a:off x="548640" y="1508760"/>
            <a:ext cx="2121408" cy="32918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508760"/>
            <a:ext cx="2121408" cy="457200"/>
          </a:xfrm>
          <a:prstGeom prst="roundRect">
            <a:avLst>
              <a:gd name="adj" fmla="val 2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Circle 1</a:t>
            </a:r>
          </a:p>
        </p:txBody>
      </p:sp>
      <p:sp>
        <p:nvSpPr>
          <p:cNvPr id="10" name="TextBox 9"/>
          <p:cNvSpPr txBox="1"/>
          <p:nvPr/>
        </p:nvSpPr>
        <p:spPr>
          <a:xfrm>
            <a:off x="594360" y="2039112"/>
            <a:ext cx="2029968" cy="2743200"/>
          </a:xfrm>
          <a:prstGeom prst="rect">
            <a:avLst/>
          </a:prstGeom>
          <a:noFill/>
        </p:spPr>
        <p:txBody>
          <a:bodyPr wrap="square">
            <a:spAutoFit/>
          </a:bodyPr>
          <a:lstStyle/>
          <a:p>
            <a:pPr>
              <a:spcAft>
                <a:spcPts val="200"/>
              </a:spcAft>
            </a:pPr>
            <a:r>
              <a:rPr sz="1300">
                <a:solidFill>
                  <a:srgbClr val="2B221E"/>
                </a:solidFill>
                <a:latin typeface="Calibri"/>
              </a:rPr>
              <a:t>•  Those who come to us</a:t>
            </a:r>
          </a:p>
          <a:p>
            <a:pPr>
              <a:spcAft>
                <a:spcPts val="200"/>
              </a:spcAft>
            </a:pPr>
            <a:r>
              <a:rPr sz="1300">
                <a:solidFill>
                  <a:srgbClr val="2B221E"/>
                </a:solidFill>
                <a:latin typeface="Calibri"/>
              </a:rPr>
              <a:t>•  Temple visitors and festival crowds</a:t>
            </a:r>
          </a:p>
          <a:p>
            <a:pPr>
              <a:spcAft>
                <a:spcPts val="200"/>
              </a:spcAft>
            </a:pPr>
            <a:r>
              <a:rPr sz="1300">
                <a:solidFill>
                  <a:srgbClr val="2B221E"/>
                </a:solidFill>
                <a:latin typeface="Calibri"/>
              </a:rPr>
              <a:t>•  Donors and life members</a:t>
            </a:r>
          </a:p>
          <a:p>
            <a:pPr>
              <a:spcAft>
                <a:spcPts val="200"/>
              </a:spcAft>
            </a:pPr>
            <a:r>
              <a:rPr sz="1300">
                <a:solidFill>
                  <a:srgbClr val="2B221E"/>
                </a:solidFill>
                <a:latin typeface="Calibri"/>
              </a:rPr>
              <a:t>•  Internal departments</a:t>
            </a:r>
          </a:p>
        </p:txBody>
      </p:sp>
      <p:sp>
        <p:nvSpPr>
          <p:cNvPr id="11" name="Rounded Rectangle 10"/>
          <p:cNvSpPr/>
          <p:nvPr/>
        </p:nvSpPr>
        <p:spPr>
          <a:xfrm>
            <a:off x="2816352" y="1508760"/>
            <a:ext cx="2121408" cy="32918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16352" y="1508760"/>
            <a:ext cx="2121408" cy="457200"/>
          </a:xfrm>
          <a:prstGeom prst="roundRect">
            <a:avLst>
              <a:gd name="adj" fmla="val 2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Circle 2</a:t>
            </a:r>
          </a:p>
        </p:txBody>
      </p:sp>
      <p:sp>
        <p:nvSpPr>
          <p:cNvPr id="13" name="TextBox 12"/>
          <p:cNvSpPr txBox="1"/>
          <p:nvPr/>
        </p:nvSpPr>
        <p:spPr>
          <a:xfrm>
            <a:off x="2862072" y="2039112"/>
            <a:ext cx="2029968" cy="2743200"/>
          </a:xfrm>
          <a:prstGeom prst="rect">
            <a:avLst/>
          </a:prstGeom>
          <a:noFill/>
        </p:spPr>
        <p:txBody>
          <a:bodyPr wrap="square">
            <a:spAutoFit/>
          </a:bodyPr>
          <a:lstStyle/>
          <a:p>
            <a:pPr>
              <a:spcAft>
                <a:spcPts val="200"/>
              </a:spcAft>
            </a:pPr>
            <a:r>
              <a:rPr sz="1300">
                <a:solidFill>
                  <a:srgbClr val="2B221E"/>
                </a:solidFill>
                <a:latin typeface="Calibri"/>
              </a:rPr>
              <a:t>•  Those we go to (b2b)</a:t>
            </a:r>
          </a:p>
          <a:p>
            <a:pPr>
              <a:spcAft>
                <a:spcPts val="200"/>
              </a:spcAft>
            </a:pPr>
            <a:r>
              <a:rPr sz="1300">
                <a:solidFill>
                  <a:srgbClr val="2B221E"/>
                </a:solidFill>
                <a:latin typeface="Calibri"/>
              </a:rPr>
              <a:t>•  Corporate companies</a:t>
            </a:r>
          </a:p>
          <a:p>
            <a:pPr>
              <a:spcAft>
                <a:spcPts val="200"/>
              </a:spcAft>
            </a:pPr>
            <a:r>
              <a:rPr sz="1300">
                <a:solidFill>
                  <a:srgbClr val="2B221E"/>
                </a:solidFill>
                <a:latin typeface="Calibri"/>
              </a:rPr>
              <a:t>•  Educational institutions</a:t>
            </a:r>
          </a:p>
          <a:p>
            <a:pPr>
              <a:spcAft>
                <a:spcPts val="200"/>
              </a:spcAft>
            </a:pPr>
            <a:r>
              <a:rPr sz="1300">
                <a:solidFill>
                  <a:srgbClr val="2B221E"/>
                </a:solidFill>
                <a:latin typeface="Calibri"/>
              </a:rPr>
              <a:t>•  Associations and professional networks</a:t>
            </a:r>
          </a:p>
          <a:p>
            <a:pPr>
              <a:spcAft>
                <a:spcPts val="200"/>
              </a:spcAft>
            </a:pPr>
            <a:r>
              <a:rPr sz="1300">
                <a:solidFill>
                  <a:srgbClr val="2B221E"/>
                </a:solidFill>
                <a:latin typeface="Calibri"/>
              </a:rPr>
              <a:t>•  Event management companies</a:t>
            </a:r>
          </a:p>
        </p:txBody>
      </p:sp>
      <p:sp>
        <p:nvSpPr>
          <p:cNvPr id="14" name="Rounded Rectangle 13"/>
          <p:cNvSpPr/>
          <p:nvPr/>
        </p:nvSpPr>
        <p:spPr>
          <a:xfrm>
            <a:off x="5084064" y="1508760"/>
            <a:ext cx="2121408" cy="32918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84064" y="1508760"/>
            <a:ext cx="2121408" cy="457200"/>
          </a:xfrm>
          <a:prstGeom prst="roundRect">
            <a:avLst>
              <a:gd name="adj" fmla="val 25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Circle 3</a:t>
            </a:r>
          </a:p>
        </p:txBody>
      </p:sp>
      <p:sp>
        <p:nvSpPr>
          <p:cNvPr id="16" name="TextBox 15"/>
          <p:cNvSpPr txBox="1"/>
          <p:nvPr/>
        </p:nvSpPr>
        <p:spPr>
          <a:xfrm>
            <a:off x="5129784" y="2039112"/>
            <a:ext cx="2029968" cy="2743200"/>
          </a:xfrm>
          <a:prstGeom prst="rect">
            <a:avLst/>
          </a:prstGeom>
          <a:noFill/>
        </p:spPr>
        <p:txBody>
          <a:bodyPr wrap="square">
            <a:spAutoFit/>
          </a:bodyPr>
          <a:lstStyle/>
          <a:p>
            <a:pPr>
              <a:spcAft>
                <a:spcPts val="200"/>
              </a:spcAft>
            </a:pPr>
            <a:r>
              <a:rPr sz="1300">
                <a:solidFill>
                  <a:srgbClr val="2B221E"/>
                </a:solidFill>
                <a:latin typeface="Calibri"/>
              </a:rPr>
              <a:t>•  Open public (b2c outside)</a:t>
            </a:r>
          </a:p>
          <a:p>
            <a:pPr>
              <a:spcAft>
                <a:spcPts val="200"/>
              </a:spcAft>
            </a:pPr>
            <a:r>
              <a:rPr sz="1300">
                <a:solidFill>
                  <a:srgbClr val="2B221E"/>
                </a:solidFill>
                <a:latin typeface="Calibri"/>
              </a:rPr>
              <a:t>•  Gated communities</a:t>
            </a:r>
          </a:p>
          <a:p>
            <a:pPr>
              <a:spcAft>
                <a:spcPts val="200"/>
              </a:spcAft>
            </a:pPr>
            <a:r>
              <a:rPr sz="1300">
                <a:solidFill>
                  <a:srgbClr val="2B221E"/>
                </a:solidFill>
                <a:latin typeface="Calibri"/>
              </a:rPr>
              <a:t>•  Life-event families (open circle)</a:t>
            </a:r>
          </a:p>
        </p:txBody>
      </p:sp>
      <p:sp>
        <p:nvSpPr>
          <p:cNvPr id="17" name="Rounded Rectangle 16"/>
          <p:cNvSpPr/>
          <p:nvPr/>
        </p:nvSpPr>
        <p:spPr>
          <a:xfrm>
            <a:off x="7351775" y="1508760"/>
            <a:ext cx="2121408" cy="32918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51775" y="1508760"/>
            <a:ext cx="2121408" cy="457200"/>
          </a:xfrm>
          <a:prstGeom prst="roundRect">
            <a:avLst>
              <a:gd name="adj" fmla="val 25000"/>
            </a:avLst>
          </a:prstGeom>
          <a:solidFill>
            <a:srgbClr val="1F5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Circle 4</a:t>
            </a:r>
          </a:p>
        </p:txBody>
      </p:sp>
      <p:sp>
        <p:nvSpPr>
          <p:cNvPr id="19" name="TextBox 18"/>
          <p:cNvSpPr txBox="1"/>
          <p:nvPr/>
        </p:nvSpPr>
        <p:spPr>
          <a:xfrm>
            <a:off x="7397495" y="2039112"/>
            <a:ext cx="2029968" cy="2743200"/>
          </a:xfrm>
          <a:prstGeom prst="rect">
            <a:avLst/>
          </a:prstGeom>
          <a:noFill/>
        </p:spPr>
        <p:txBody>
          <a:bodyPr wrap="square">
            <a:spAutoFit/>
          </a:bodyPr>
          <a:lstStyle/>
          <a:p>
            <a:pPr>
              <a:spcAft>
                <a:spcPts val="200"/>
              </a:spcAft>
            </a:pPr>
            <a:r>
              <a:rPr sz="1300">
                <a:solidFill>
                  <a:srgbClr val="2B221E"/>
                </a:solidFill>
                <a:latin typeface="Calibri"/>
              </a:rPr>
              <a:t>•  Digital</a:t>
            </a:r>
          </a:p>
          <a:p>
            <a:pPr>
              <a:spcAft>
                <a:spcPts val="200"/>
              </a:spcAft>
            </a:pPr>
            <a:r>
              <a:rPr sz="1300">
                <a:solidFill>
                  <a:srgbClr val="2B221E"/>
                </a:solidFill>
                <a:latin typeface="Calibri"/>
              </a:rPr>
              <a:t>•  Online shoppers across India</a:t>
            </a:r>
          </a:p>
          <a:p>
            <a:pPr>
              <a:spcAft>
                <a:spcPts val="200"/>
              </a:spcAft>
            </a:pPr>
            <a:r>
              <a:rPr sz="1300">
                <a:solidFill>
                  <a:srgbClr val="2B221E"/>
                </a:solidFill>
                <a:latin typeface="Calibri"/>
              </a:rPr>
              <a:t>•  Health-conscious and diabetic buyers</a:t>
            </a:r>
          </a:p>
        </p:txBody>
      </p:sp>
      <p:sp>
        <p:nvSpPr>
          <p:cNvPr id="20" name="Rounded Rectangle 19"/>
          <p:cNvSpPr/>
          <p:nvPr/>
        </p:nvSpPr>
        <p:spPr>
          <a:xfrm>
            <a:off x="9619488" y="1508760"/>
            <a:ext cx="2121408" cy="329184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619488" y="1508760"/>
            <a:ext cx="2121408" cy="457200"/>
          </a:xfrm>
          <a:prstGeom prst="roundRect">
            <a:avLst>
              <a:gd name="adj" fmla="val 2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Circle 5</a:t>
            </a:r>
          </a:p>
        </p:txBody>
      </p:sp>
      <p:sp>
        <p:nvSpPr>
          <p:cNvPr id="22" name="TextBox 21"/>
          <p:cNvSpPr txBox="1"/>
          <p:nvPr/>
        </p:nvSpPr>
        <p:spPr>
          <a:xfrm>
            <a:off x="9665208" y="2039112"/>
            <a:ext cx="2029968" cy="2743200"/>
          </a:xfrm>
          <a:prstGeom prst="rect">
            <a:avLst/>
          </a:prstGeom>
          <a:noFill/>
        </p:spPr>
        <p:txBody>
          <a:bodyPr wrap="square">
            <a:spAutoFit/>
          </a:bodyPr>
          <a:lstStyle/>
          <a:p>
            <a:pPr>
              <a:spcAft>
                <a:spcPts val="200"/>
              </a:spcAft>
            </a:pPr>
            <a:r>
              <a:rPr sz="1300">
                <a:solidFill>
                  <a:srgbClr val="2B221E"/>
                </a:solidFill>
                <a:latin typeface="Calibri"/>
              </a:rPr>
              <a:t>•  Scale</a:t>
            </a:r>
          </a:p>
          <a:p>
            <a:pPr>
              <a:spcAft>
                <a:spcPts val="200"/>
              </a:spcAft>
            </a:pPr>
            <a:r>
              <a:rPr sz="1300">
                <a:solidFill>
                  <a:srgbClr val="2B221E"/>
                </a:solidFill>
                <a:latin typeface="Calibri"/>
              </a:rPr>
              <a:t>•  Institutional bulk / large gatherings</a:t>
            </a:r>
          </a:p>
          <a:p>
            <a:pPr>
              <a:spcAft>
                <a:spcPts val="200"/>
              </a:spcAft>
            </a:pPr>
            <a:r>
              <a:rPr sz="1300">
                <a:solidFill>
                  <a:srgbClr val="2B221E"/>
                </a:solidFill>
                <a:latin typeface="Calibri"/>
              </a:rPr>
              <a:t>•  QSR and restaurant diners</a:t>
            </a:r>
          </a:p>
          <a:p>
            <a:pPr>
              <a:spcAft>
                <a:spcPts val="200"/>
              </a:spcAft>
            </a:pPr>
            <a:r>
              <a:rPr sz="1300">
                <a:solidFill>
                  <a:srgbClr val="2B221E"/>
                </a:solidFill>
                <a:latin typeface="Calibri"/>
              </a:rPr>
              <a:t>•  Export and diaspora</a:t>
            </a:r>
          </a:p>
        </p:txBody>
      </p:sp>
      <p:sp>
        <p:nvSpPr>
          <p:cNvPr id="23" name="Rounded Rectangle 22"/>
          <p:cNvSpPr/>
          <p:nvPr/>
        </p:nvSpPr>
        <p:spPr>
          <a:xfrm>
            <a:off x="548640" y="5029200"/>
            <a:ext cx="11155680" cy="1188720"/>
          </a:xfrm>
          <a:prstGeom prst="roundRect">
            <a:avLst>
              <a:gd name="adj" fmla="val 10000"/>
            </a:avLst>
          </a:prstGeom>
          <a:solidFill>
            <a:srgbClr val="FBE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20640"/>
            <a:ext cx="10789920" cy="1005840"/>
          </a:xfrm>
          <a:prstGeom prst="rect">
            <a:avLst/>
          </a:prstGeom>
          <a:noFill/>
        </p:spPr>
        <p:txBody>
          <a:bodyPr wrap="square" anchor="t" lIns="73152" rIns="73152" tIns="36576" bIns="36576">
            <a:spAutoFit/>
          </a:bodyPr>
          <a:lstStyle/>
          <a:p>
            <a:pPr algn="l"/>
            <a:r>
              <a:rPr sz="1400" b="0">
                <a:solidFill>
                  <a:srgbClr val="7A1F2B"/>
                </a:solidFill>
                <a:latin typeface="Calibri"/>
              </a:rPr>
              <a:t>Start inside, then go out: Circle 1 (people already coming to us) funds the kitchen from day one;</a:t>
            </a:r>
          </a:p>
          <a:p>
            <a:pPr algn="l"/>
            <a:r>
              <a:rPr sz="1400" b="0">
                <a:solidFill>
                  <a:srgbClr val="7A1F2B"/>
                </a:solidFill>
                <a:latin typeface="Calibri"/>
              </a:rPr>
              <a:t>Circle 2 (our B2B network) brings the big festival orders; Circles 3–4 add year-round volume; Circle 5 is the long-term scale play.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TARGET AUDIENCES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What each audience needs and what we offer</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7</a:t>
            </a:r>
          </a:p>
        </p:txBody>
      </p:sp>
      <p:graphicFrame>
        <p:nvGraphicFramePr>
          <p:cNvPr id="8" name="Table 7"/>
          <p:cNvGraphicFramePr>
            <a:graphicFrameLocks noGrp="1"/>
          </p:cNvGraphicFramePr>
          <p:nvPr/>
        </p:nvGraphicFramePr>
        <p:xfrm>
          <a:off x="548640" y="1371600"/>
          <a:ext cx="11155680" cy="4754880"/>
        </p:xfrm>
        <a:graphic>
          <a:graphicData uri="http://schemas.openxmlformats.org/drawingml/2006/table">
            <a:tbl>
              <a:tblPr firstRow="1" bandRow="1">
                <a:tableStyleId>{5C22544A-7EE6-4342-B048-85BDC9FD1C3A}</a:tableStyleId>
              </a:tblPr>
              <a:tblGrid>
                <a:gridCol w="2377440"/>
                <a:gridCol w="4206240"/>
                <a:gridCol w="3108960"/>
                <a:gridCol w="1463040"/>
              </a:tblGrid>
              <a:tr h="316992">
                <a:tc>
                  <a:txBody>
                    <a:bodyPr/>
                    <a:lstStyle/>
                    <a:p>
                      <a:r>
                        <a:rPr sz="1000" b="1">
                          <a:solidFill>
                            <a:srgbClr val="FFFFFF"/>
                          </a:solidFill>
                          <a:latin typeface="Calibri"/>
                        </a:rPr>
                        <a:t>Audience</a:t>
                      </a:r>
                    </a:p>
                  </a:txBody>
                  <a:tcPr marT="20000" marB="20000">
                    <a:solidFill>
                      <a:srgbClr val="7A1F2B"/>
                    </a:solidFill>
                  </a:tcPr>
                </a:tc>
                <a:tc>
                  <a:txBody>
                    <a:bodyPr/>
                    <a:lstStyle/>
                    <a:p>
                      <a:r>
                        <a:rPr sz="1000" b="1">
                          <a:solidFill>
                            <a:srgbClr val="FFFFFF"/>
                          </a:solidFill>
                          <a:latin typeface="Calibri"/>
                        </a:rPr>
                        <a:t>Offer</a:t>
                      </a:r>
                    </a:p>
                  </a:txBody>
                  <a:tcPr marT="20000" marB="20000">
                    <a:solidFill>
                      <a:srgbClr val="7A1F2B"/>
                    </a:solidFill>
                  </a:tcPr>
                </a:tc>
                <a:tc>
                  <a:txBody>
                    <a:bodyPr/>
                    <a:lstStyle/>
                    <a:p>
                      <a:r>
                        <a:rPr sz="1000" b="1">
                          <a:solidFill>
                            <a:srgbClr val="FFFFFF"/>
                          </a:solidFill>
                          <a:latin typeface="Calibri"/>
                        </a:rPr>
                        <a:t>Channel</a:t>
                      </a:r>
                    </a:p>
                  </a:txBody>
                  <a:tcPr marT="20000" marB="20000">
                    <a:solidFill>
                      <a:srgbClr val="7A1F2B"/>
                    </a:solidFill>
                  </a:tcPr>
                </a:tc>
                <a:tc>
                  <a:txBody>
                    <a:bodyPr/>
                    <a:lstStyle/>
                    <a:p>
                      <a:r>
                        <a:rPr sz="1000" b="1">
                          <a:solidFill>
                            <a:srgbClr val="FFFFFF"/>
                          </a:solidFill>
                          <a:latin typeface="Calibri"/>
                        </a:rPr>
                        <a:t>Price</a:t>
                      </a:r>
                    </a:p>
                  </a:txBody>
                  <a:tcPr marT="20000" marB="20000">
                    <a:solidFill>
                      <a:srgbClr val="7A1F2B"/>
                    </a:solidFill>
                  </a:tcPr>
                </a:tc>
              </a:tr>
              <a:tr h="316992">
                <a:tc>
                  <a:txBody>
                    <a:bodyPr/>
                    <a:lstStyle/>
                    <a:p>
                      <a:r>
                        <a:rPr sz="850" b="1">
                          <a:solidFill>
                            <a:srgbClr val="2B221E"/>
                          </a:solidFill>
                          <a:latin typeface="Calibri"/>
                        </a:rPr>
                        <a:t>Temple visitors and festival crowds</a:t>
                      </a:r>
                    </a:p>
                  </a:txBody>
                  <a:tcPr marT="20000" marB="20000">
                    <a:solidFill>
                      <a:srgbClr val="FFFFFF"/>
                    </a:solidFill>
                  </a:tcPr>
                </a:tc>
                <a:tc>
                  <a:txBody>
                    <a:bodyPr/>
                    <a:lstStyle/>
                    <a:p>
                      <a:r>
                        <a:rPr sz="850" b="0">
                          <a:solidFill>
                            <a:srgbClr val="2B221E"/>
                          </a:solidFill>
                          <a:latin typeface="Calibri"/>
                        </a:rPr>
                        <a:t>Restaurant, lawn food court, multiple festival stalls, take-home packs, 250 g see-through boxes</a:t>
                      </a:r>
                    </a:p>
                  </a:txBody>
                  <a:tcPr marT="20000" marB="20000">
                    <a:solidFill>
                      <a:srgbClr val="FFFFFF"/>
                    </a:solidFill>
                  </a:tcPr>
                </a:tc>
                <a:tc>
                  <a:txBody>
                    <a:bodyPr/>
                    <a:lstStyle/>
                    <a:p>
                      <a:r>
                        <a:rPr sz="850" b="0">
                          <a:solidFill>
                            <a:srgbClr val="2B221E"/>
                          </a:solidFill>
                          <a:latin typeface="Calibri"/>
                        </a:rPr>
                        <a:t>Stalls at entrance/exit/Goshala path, restaurant, QR menus, UPI</a:t>
                      </a:r>
                    </a:p>
                  </a:txBody>
                  <a:tcPr marT="20000" marB="20000">
                    <a:solidFill>
                      <a:srgbClr val="FFFFFF"/>
                    </a:solidFill>
                  </a:tcPr>
                </a:tc>
                <a:tc>
                  <a:txBody>
                    <a:bodyPr/>
                    <a:lstStyle/>
                    <a:p>
                      <a:r>
                        <a:rPr sz="850" b="0">
                          <a:solidFill>
                            <a:srgbClr val="2B221E"/>
                          </a:solidFill>
                          <a:latin typeface="Calibri"/>
                        </a:rPr>
                        <a:t>Mass tier ₹30–₹250</a:t>
                      </a:r>
                    </a:p>
                  </a:txBody>
                  <a:tcPr marT="20000" marB="20000">
                    <a:solidFill>
                      <a:srgbClr val="FFFFFF"/>
                    </a:solidFill>
                  </a:tcPr>
                </a:tc>
              </a:tr>
              <a:tr h="316992">
                <a:tc>
                  <a:txBody>
                    <a:bodyPr/>
                    <a:lstStyle/>
                    <a:p>
                      <a:r>
                        <a:rPr sz="850" b="1">
                          <a:solidFill>
                            <a:srgbClr val="2B221E"/>
                          </a:solidFill>
                          <a:latin typeface="Calibri"/>
                        </a:rPr>
                        <a:t>Donors and life members</a:t>
                      </a:r>
                    </a:p>
                  </a:txBody>
                  <a:tcPr marT="20000" marB="20000">
                    <a:solidFill>
                      <a:srgbClr val="FBEBD0"/>
                    </a:solidFill>
                  </a:tcPr>
                </a:tc>
                <a:tc>
                  <a:txBody>
                    <a:bodyPr/>
                    <a:lstStyle/>
                    <a:p>
                      <a:r>
                        <a:rPr sz="850" b="0">
                          <a:solidFill>
                            <a:srgbClr val="2B221E"/>
                          </a:solidFill>
                          <a:latin typeface="Calibri"/>
                        </a:rPr>
                        <a:t>Donor prasadam packs, bahumana boxes, 5 kg namkeen tins, festival hampers</a:t>
                      </a:r>
                    </a:p>
                  </a:txBody>
                  <a:tcPr marT="20000" marB="20000">
                    <a:solidFill>
                      <a:srgbClr val="FBEBD0"/>
                    </a:solidFill>
                  </a:tcPr>
                </a:tc>
                <a:tc>
                  <a:txBody>
                    <a:bodyPr/>
                    <a:lstStyle/>
                    <a:p>
                      <a:r>
                        <a:rPr sz="850" b="0">
                          <a:solidFill>
                            <a:srgbClr val="2B221E"/>
                          </a:solidFill>
                          <a:latin typeface="Calibri"/>
                        </a:rPr>
                        <a:t>Existing donor dispatch system, WhatsApp, donor-care calls</a:t>
                      </a:r>
                    </a:p>
                  </a:txBody>
                  <a:tcPr marT="20000" marB="20000">
                    <a:solidFill>
                      <a:srgbClr val="FBEBD0"/>
                    </a:solidFill>
                  </a:tcPr>
                </a:tc>
                <a:tc>
                  <a:txBody>
                    <a:bodyPr/>
                    <a:lstStyle/>
                    <a:p>
                      <a:r>
                        <a:rPr sz="850" b="0">
                          <a:solidFill>
                            <a:srgbClr val="2B221E"/>
                          </a:solidFill>
                          <a:latin typeface="Calibri"/>
                        </a:rPr>
                        <a:t>Mid to premium</a:t>
                      </a:r>
                    </a:p>
                  </a:txBody>
                  <a:tcPr marT="20000" marB="20000">
                    <a:solidFill>
                      <a:srgbClr val="FBEBD0"/>
                    </a:solidFill>
                  </a:tcPr>
                </a:tc>
              </a:tr>
              <a:tr h="316992">
                <a:tc>
                  <a:txBody>
                    <a:bodyPr/>
                    <a:lstStyle/>
                    <a:p>
                      <a:r>
                        <a:rPr sz="850" b="1">
                          <a:solidFill>
                            <a:srgbClr val="2B221E"/>
                          </a:solidFill>
                          <a:latin typeface="Calibri"/>
                        </a:rPr>
                        <a:t>Internal departments</a:t>
                      </a:r>
                    </a:p>
                  </a:txBody>
                  <a:tcPr marT="20000" marB="20000">
                    <a:solidFill>
                      <a:srgbClr val="FFFFFF"/>
                    </a:solidFill>
                  </a:tcPr>
                </a:tc>
                <a:tc>
                  <a:txBody>
                    <a:bodyPr/>
                    <a:lstStyle/>
                    <a:p>
                      <a:r>
                        <a:rPr sz="850" b="0">
                          <a:solidFill>
                            <a:srgbClr val="2B221E"/>
                          </a:solidFill>
                          <a:latin typeface="Calibri"/>
                        </a:rPr>
                        <a:t>Weekly standing order, one fixed delivery day, festival top-ups</a:t>
                      </a:r>
                    </a:p>
                  </a:txBody>
                  <a:tcPr marT="20000" marB="20000">
                    <a:solidFill>
                      <a:srgbClr val="FFFFFF"/>
                    </a:solidFill>
                  </a:tcPr>
                </a:tc>
                <a:tc>
                  <a:txBody>
                    <a:bodyPr/>
                    <a:lstStyle/>
                    <a:p>
                      <a:r>
                        <a:rPr sz="850" b="0">
                          <a:solidFill>
                            <a:srgbClr val="2B221E"/>
                          </a:solidFill>
                          <a:latin typeface="Calibri"/>
                        </a:rPr>
                        <a:t>Internal order form in the system; monthly budget per department</a:t>
                      </a:r>
                    </a:p>
                  </a:txBody>
                  <a:tcPr marT="20000" marB="20000">
                    <a:solidFill>
                      <a:srgbClr val="FFFFFF"/>
                    </a:solidFill>
                  </a:tcPr>
                </a:tc>
                <a:tc>
                  <a:txBody>
                    <a:bodyPr/>
                    <a:lstStyle/>
                    <a:p>
                      <a:r>
                        <a:rPr sz="850" b="0">
                          <a:solidFill>
                            <a:srgbClr val="2B221E"/>
                          </a:solidFill>
                          <a:latin typeface="Calibri"/>
                        </a:rPr>
                        <a:t>Internal transfer price (cost + agreed margin)</a:t>
                      </a:r>
                    </a:p>
                  </a:txBody>
                  <a:tcPr marT="20000" marB="20000">
                    <a:solidFill>
                      <a:srgbClr val="FFFFFF"/>
                    </a:solidFill>
                  </a:tcPr>
                </a:tc>
              </a:tr>
              <a:tr h="316992">
                <a:tc>
                  <a:txBody>
                    <a:bodyPr/>
                    <a:lstStyle/>
                    <a:p>
                      <a:r>
                        <a:rPr sz="850" b="1">
                          <a:solidFill>
                            <a:srgbClr val="2B221E"/>
                          </a:solidFill>
                          <a:latin typeface="Calibri"/>
                        </a:rPr>
                        <a:t>Corporate companies</a:t>
                      </a:r>
                    </a:p>
                  </a:txBody>
                  <a:tcPr marT="20000" marB="20000">
                    <a:solidFill>
                      <a:srgbClr val="FBEBD0"/>
                    </a:solidFill>
                  </a:tcPr>
                </a:tc>
                <a:tc>
                  <a:txBody>
                    <a:bodyPr/>
                    <a:lstStyle/>
                    <a:p>
                      <a:r>
                        <a:rPr sz="850" b="0">
                          <a:solidFill>
                            <a:srgbClr val="2B221E"/>
                          </a:solidFill>
                          <a:latin typeface="Calibri"/>
                        </a:rPr>
                        <a:t>Own-brand gift boxes (3 tiers) and white-label boxes with company branding; samples, menu, price list</a:t>
                      </a:r>
                    </a:p>
                  </a:txBody>
                  <a:tcPr marT="20000" marB="20000">
                    <a:solidFill>
                      <a:srgbClr val="FBEBD0"/>
                    </a:solidFill>
                  </a:tcPr>
                </a:tc>
                <a:tc>
                  <a:txBody>
                    <a:bodyPr/>
                    <a:lstStyle/>
                    <a:p>
                      <a:r>
                        <a:rPr sz="850" b="0">
                          <a:solidFill>
                            <a:srgbClr val="2B221E"/>
                          </a:solidFill>
                          <a:latin typeface="Calibri"/>
                        </a:rPr>
                        <a:t>Owner-level meetings (Mukunda Dasa + production rep), chamber and BNI referrals, LinkedIn, email</a:t>
                      </a:r>
                    </a:p>
                  </a:txBody>
                  <a:tcPr marT="20000" marB="20000">
                    <a:solidFill>
                      <a:srgbClr val="FBEBD0"/>
                    </a:solidFill>
                  </a:tcPr>
                </a:tc>
                <a:tc>
                  <a:txBody>
                    <a:bodyPr/>
                    <a:lstStyle/>
                    <a:p>
                      <a:r>
                        <a:rPr sz="850" b="0">
                          <a:solidFill>
                            <a:srgbClr val="2B221E"/>
                          </a:solidFill>
                          <a:latin typeface="Calibri"/>
                        </a:rPr>
                        <a:t>₹250–₹2,500 per box; volume slabs</a:t>
                      </a:r>
                    </a:p>
                  </a:txBody>
                  <a:tcPr marT="20000" marB="20000">
                    <a:solidFill>
                      <a:srgbClr val="FBEBD0"/>
                    </a:solidFill>
                  </a:tcPr>
                </a:tc>
              </a:tr>
              <a:tr h="316992">
                <a:tc>
                  <a:txBody>
                    <a:bodyPr/>
                    <a:lstStyle/>
                    <a:p>
                      <a:r>
                        <a:rPr sz="850" b="1">
                          <a:solidFill>
                            <a:srgbClr val="2B221E"/>
                          </a:solidFill>
                          <a:latin typeface="Calibri"/>
                        </a:rPr>
                        <a:t>Educational institutions</a:t>
                      </a:r>
                    </a:p>
                  </a:txBody>
                  <a:tcPr marT="20000" marB="20000">
                    <a:solidFill>
                      <a:srgbClr val="FFFFFF"/>
                    </a:solidFill>
                  </a:tcPr>
                </a:tc>
                <a:tc>
                  <a:txBody>
                    <a:bodyPr/>
                    <a:lstStyle/>
                    <a:p>
                      <a:r>
                        <a:rPr sz="850" b="0">
                          <a:solidFill>
                            <a:srgbClr val="2B221E"/>
                          </a:solidFill>
                          <a:latin typeface="Calibri"/>
                        </a:rPr>
                        <a:t>Low-ticket student packs, staff boxes, event catering</a:t>
                      </a:r>
                    </a:p>
                  </a:txBody>
                  <a:tcPr marT="20000" marB="20000">
                    <a:solidFill>
                      <a:srgbClr val="FFFFFF"/>
                    </a:solidFill>
                  </a:tcPr>
                </a:tc>
                <a:tc>
                  <a:txBody>
                    <a:bodyPr/>
                    <a:lstStyle/>
                    <a:p>
                      <a:r>
                        <a:rPr sz="850" b="0">
                          <a:solidFill>
                            <a:srgbClr val="2B221E"/>
                          </a:solidFill>
                          <a:latin typeface="Calibri"/>
                        </a:rPr>
                        <a:t>Chairman relationships; academic-calendar planning</a:t>
                      </a:r>
                    </a:p>
                  </a:txBody>
                  <a:tcPr marT="20000" marB="20000">
                    <a:solidFill>
                      <a:srgbClr val="FFFFFF"/>
                    </a:solidFill>
                  </a:tcPr>
                </a:tc>
                <a:tc>
                  <a:txBody>
                    <a:bodyPr/>
                    <a:lstStyle/>
                    <a:p>
                      <a:r>
                        <a:rPr sz="850" b="0">
                          <a:solidFill>
                            <a:srgbClr val="2B221E"/>
                          </a:solidFill>
                          <a:latin typeface="Calibri"/>
                        </a:rPr>
                        <a:t>Mass tier with bulk slabs</a:t>
                      </a:r>
                    </a:p>
                  </a:txBody>
                  <a:tcPr marT="20000" marB="20000">
                    <a:solidFill>
                      <a:srgbClr val="FFFFFF"/>
                    </a:solidFill>
                  </a:tcPr>
                </a:tc>
              </a:tr>
              <a:tr h="316992">
                <a:tc>
                  <a:txBody>
                    <a:bodyPr/>
                    <a:lstStyle/>
                    <a:p>
                      <a:r>
                        <a:rPr sz="850" b="1">
                          <a:solidFill>
                            <a:srgbClr val="2B221E"/>
                          </a:solidFill>
                          <a:latin typeface="Calibri"/>
                        </a:rPr>
                        <a:t>Associations and professional networks</a:t>
                      </a:r>
                    </a:p>
                  </a:txBody>
                  <a:tcPr marT="20000" marB="20000">
                    <a:solidFill>
                      <a:srgbClr val="FBEBD0"/>
                    </a:solidFill>
                  </a:tcPr>
                </a:tc>
                <a:tc>
                  <a:txBody>
                    <a:bodyPr/>
                    <a:lstStyle/>
                    <a:p>
                      <a:r>
                        <a:rPr sz="850" b="0">
                          <a:solidFill>
                            <a:srgbClr val="2B221E"/>
                          </a:solidFill>
                          <a:latin typeface="Calibri"/>
                        </a:rPr>
                        <a:t>Co-branded hampers, member discount codes, event snack boxes</a:t>
                      </a:r>
                    </a:p>
                  </a:txBody>
                  <a:tcPr marT="20000" marB="20000">
                    <a:solidFill>
                      <a:srgbClr val="FBEBD0"/>
                    </a:solidFill>
                  </a:tcPr>
                </a:tc>
                <a:tc>
                  <a:txBody>
                    <a:bodyPr/>
                    <a:lstStyle/>
                    <a:p>
                      <a:r>
                        <a:rPr sz="850" b="0">
                          <a:solidFill>
                            <a:srgbClr val="2B221E"/>
                          </a:solidFill>
                          <a:latin typeface="Calibri"/>
                        </a:rPr>
                        <a:t>Presidents/secretaries, chapter meetings, newsletters</a:t>
                      </a:r>
                    </a:p>
                  </a:txBody>
                  <a:tcPr marT="20000" marB="20000">
                    <a:solidFill>
                      <a:srgbClr val="FBEBD0"/>
                    </a:solidFill>
                  </a:tcPr>
                </a:tc>
                <a:tc>
                  <a:txBody>
                    <a:bodyPr/>
                    <a:lstStyle/>
                    <a:p>
                      <a:r>
                        <a:rPr sz="850" b="0">
                          <a:solidFill>
                            <a:srgbClr val="2B221E"/>
                          </a:solidFill>
                          <a:latin typeface="Calibri"/>
                        </a:rPr>
                        <a:t>Mid tier</a:t>
                      </a:r>
                    </a:p>
                  </a:txBody>
                  <a:tcPr marT="20000" marB="20000">
                    <a:solidFill>
                      <a:srgbClr val="FBEBD0"/>
                    </a:solidFill>
                  </a:tcPr>
                </a:tc>
              </a:tr>
              <a:tr h="316992">
                <a:tc>
                  <a:txBody>
                    <a:bodyPr/>
                    <a:lstStyle/>
                    <a:p>
                      <a:r>
                        <a:rPr sz="850" b="1">
                          <a:solidFill>
                            <a:srgbClr val="2B221E"/>
                          </a:solidFill>
                          <a:latin typeface="Calibri"/>
                        </a:rPr>
                        <a:t>Event management companies</a:t>
                      </a:r>
                    </a:p>
                  </a:txBody>
                  <a:tcPr marT="20000" marB="20000">
                    <a:solidFill>
                      <a:srgbClr val="FFFFFF"/>
                    </a:solidFill>
                  </a:tcPr>
                </a:tc>
                <a:tc>
                  <a:txBody>
                    <a:bodyPr/>
                    <a:lstStyle/>
                    <a:p>
                      <a:r>
                        <a:rPr sz="850" b="0">
                          <a:solidFill>
                            <a:srgbClr val="2B221E"/>
                          </a:solidFill>
                          <a:latin typeface="Calibri"/>
                        </a:rPr>
                        <a:t>Return-gift boxes, live counters, catering</a:t>
                      </a:r>
                    </a:p>
                  </a:txBody>
                  <a:tcPr marT="20000" marB="20000">
                    <a:solidFill>
                      <a:srgbClr val="FFFFFF"/>
                    </a:solidFill>
                  </a:tcPr>
                </a:tc>
                <a:tc>
                  <a:txBody>
                    <a:bodyPr/>
                    <a:lstStyle/>
                    <a:p>
                      <a:r>
                        <a:rPr sz="850" b="0">
                          <a:solidFill>
                            <a:srgbClr val="2B221E"/>
                          </a:solidFill>
                          <a:latin typeface="Calibri"/>
                        </a:rPr>
                        <a:t>Partner commission / referral fee</a:t>
                      </a:r>
                    </a:p>
                  </a:txBody>
                  <a:tcPr marT="20000" marB="20000">
                    <a:solidFill>
                      <a:srgbClr val="FFFFFF"/>
                    </a:solidFill>
                  </a:tcPr>
                </a:tc>
                <a:tc>
                  <a:txBody>
                    <a:bodyPr/>
                    <a:lstStyle/>
                    <a:p>
                      <a:r>
                        <a:rPr sz="850" b="0">
                          <a:solidFill>
                            <a:srgbClr val="2B221E"/>
                          </a:solidFill>
                          <a:latin typeface="Calibri"/>
                        </a:rPr>
                        <a:t>Mid tier</a:t>
                      </a:r>
                    </a:p>
                  </a:txBody>
                  <a:tcPr marT="20000" marB="20000">
                    <a:solidFill>
                      <a:srgbClr val="FFFFFF"/>
                    </a:solidFill>
                  </a:tcPr>
                </a:tc>
              </a:tr>
              <a:tr h="316992">
                <a:tc>
                  <a:txBody>
                    <a:bodyPr/>
                    <a:lstStyle/>
                    <a:p>
                      <a:r>
                        <a:rPr sz="850" b="1">
                          <a:solidFill>
                            <a:srgbClr val="2B221E"/>
                          </a:solidFill>
                          <a:latin typeface="Calibri"/>
                        </a:rPr>
                        <a:t>Gated communities</a:t>
                      </a:r>
                    </a:p>
                  </a:txBody>
                  <a:tcPr marT="20000" marB="20000">
                    <a:solidFill>
                      <a:srgbClr val="FBEBD0"/>
                    </a:solidFill>
                  </a:tcPr>
                </a:tc>
                <a:tc>
                  <a:txBody>
                    <a:bodyPr/>
                    <a:lstStyle/>
                    <a:p>
                      <a:r>
                        <a:rPr sz="850" b="0">
                          <a:solidFill>
                            <a:srgbClr val="2B221E"/>
                          </a:solidFill>
                          <a:latin typeface="Calibri"/>
                        </a:rPr>
                        <a:t>Weekend stall with top sellers, pre-order for festivals, community WhatsApp group</a:t>
                      </a:r>
                    </a:p>
                  </a:txBody>
                  <a:tcPr marT="20000" marB="20000">
                    <a:solidFill>
                      <a:srgbClr val="FBEBD0"/>
                    </a:solidFill>
                  </a:tcPr>
                </a:tc>
                <a:tc>
                  <a:txBody>
                    <a:bodyPr/>
                    <a:lstStyle/>
                    <a:p>
                      <a:r>
                        <a:rPr sz="850" b="0">
                          <a:solidFill>
                            <a:srgbClr val="2B221E"/>
                          </a:solidFill>
                          <a:latin typeface="Calibri"/>
                        </a:rPr>
                        <a:t>Flea-market organisers (free stalls offered before), RWA committees</a:t>
                      </a:r>
                    </a:p>
                  </a:txBody>
                  <a:tcPr marT="20000" marB="20000">
                    <a:solidFill>
                      <a:srgbClr val="FBEBD0"/>
                    </a:solidFill>
                  </a:tcPr>
                </a:tc>
                <a:tc>
                  <a:txBody>
                    <a:bodyPr/>
                    <a:lstStyle/>
                    <a:p>
                      <a:r>
                        <a:rPr sz="850" b="0">
                          <a:solidFill>
                            <a:srgbClr val="2B221E"/>
                          </a:solidFill>
                          <a:latin typeface="Calibri"/>
                        </a:rPr>
                        <a:t>Mass tier</a:t>
                      </a:r>
                    </a:p>
                  </a:txBody>
                  <a:tcPr marT="20000" marB="20000">
                    <a:solidFill>
                      <a:srgbClr val="FBEBD0"/>
                    </a:solidFill>
                  </a:tcPr>
                </a:tc>
              </a:tr>
              <a:tr h="316992">
                <a:tc>
                  <a:txBody>
                    <a:bodyPr/>
                    <a:lstStyle/>
                    <a:p>
                      <a:r>
                        <a:rPr sz="850" b="1">
                          <a:solidFill>
                            <a:srgbClr val="2B221E"/>
                          </a:solidFill>
                          <a:latin typeface="Calibri"/>
                        </a:rPr>
                        <a:t>Life-event families (open circle)</a:t>
                      </a:r>
                    </a:p>
                  </a:txBody>
                  <a:tcPr marT="20000" marB="20000">
                    <a:solidFill>
                      <a:srgbClr val="FFFFFF"/>
                    </a:solidFill>
                  </a:tcPr>
                </a:tc>
                <a:tc>
                  <a:txBody>
                    <a:bodyPr/>
                    <a:lstStyle/>
                    <a:p>
                      <a:r>
                        <a:rPr sz="850" b="0">
                          <a:solidFill>
                            <a:srgbClr val="2B221E"/>
                          </a:solidFill>
                          <a:latin typeface="Calibri"/>
                        </a:rPr>
                        <a:t>Occasion packs, catering menus, bulk sweets</a:t>
                      </a:r>
                    </a:p>
                  </a:txBody>
                  <a:tcPr marT="20000" marB="20000">
                    <a:solidFill>
                      <a:srgbClr val="FFFFFF"/>
                    </a:solidFill>
                  </a:tcPr>
                </a:tc>
                <a:tc>
                  <a:txBody>
                    <a:bodyPr/>
                    <a:lstStyle/>
                    <a:p>
                      <a:r>
                        <a:rPr sz="850" b="0">
                          <a:solidFill>
                            <a:srgbClr val="2B221E"/>
                          </a:solidFill>
                          <a:latin typeface="Calibri"/>
                        </a:rPr>
                        <a:t>Google Ads, Instagram, referrals, temple ceremony desk</a:t>
                      </a:r>
                    </a:p>
                  </a:txBody>
                  <a:tcPr marT="20000" marB="20000">
                    <a:solidFill>
                      <a:srgbClr val="FFFFFF"/>
                    </a:solidFill>
                  </a:tcPr>
                </a:tc>
                <a:tc>
                  <a:txBody>
                    <a:bodyPr/>
                    <a:lstStyle/>
                    <a:p>
                      <a:r>
                        <a:rPr sz="850" b="0">
                          <a:solidFill>
                            <a:srgbClr val="2B221E"/>
                          </a:solidFill>
                          <a:latin typeface="Calibri"/>
                        </a:rPr>
                        <a:t>Mid tier</a:t>
                      </a:r>
                    </a:p>
                  </a:txBody>
                  <a:tcPr marT="20000" marB="20000">
                    <a:solidFill>
                      <a:srgbClr val="FFFFFF"/>
                    </a:solidFill>
                  </a:tcPr>
                </a:tc>
              </a:tr>
              <a:tr h="316992">
                <a:tc>
                  <a:txBody>
                    <a:bodyPr/>
                    <a:lstStyle/>
                    <a:p>
                      <a:r>
                        <a:rPr sz="850" b="1">
                          <a:solidFill>
                            <a:srgbClr val="2B221E"/>
                          </a:solidFill>
                          <a:latin typeface="Calibri"/>
                        </a:rPr>
                        <a:t>Online shoppers across India</a:t>
                      </a:r>
                    </a:p>
                  </a:txBody>
                  <a:tcPr marT="20000" marB="20000">
                    <a:solidFill>
                      <a:srgbClr val="FBEBD0"/>
                    </a:solidFill>
                  </a:tcPr>
                </a:tc>
                <a:tc>
                  <a:txBody>
                    <a:bodyPr/>
                    <a:lstStyle/>
                    <a:p>
                      <a:r>
                        <a:rPr sz="850" b="0">
                          <a:solidFill>
                            <a:srgbClr val="2B221E"/>
                          </a:solidFill>
                          <a:latin typeface="Calibri"/>
                        </a:rPr>
                        <a:t>Shopify store + Amazon; subscriptions; diabetic-friendly namkeen; jaggery range</a:t>
                      </a:r>
                    </a:p>
                  </a:txBody>
                  <a:tcPr marT="20000" marB="20000">
                    <a:solidFill>
                      <a:srgbClr val="FBEBD0"/>
                    </a:solidFill>
                  </a:tcPr>
                </a:tc>
                <a:tc>
                  <a:txBody>
                    <a:bodyPr/>
                    <a:lstStyle/>
                    <a:p>
                      <a:r>
                        <a:rPr sz="850" b="0">
                          <a:solidFill>
                            <a:srgbClr val="2B221E"/>
                          </a:solidFill>
                          <a:latin typeface="Calibri"/>
                        </a:rPr>
                        <a:t>Meta Ads, Google Ads, WhatsApp, RCS, SMS, SEO, influencers</a:t>
                      </a:r>
                    </a:p>
                  </a:txBody>
                  <a:tcPr marT="20000" marB="20000">
                    <a:solidFill>
                      <a:srgbClr val="FBEBD0"/>
                    </a:solidFill>
                  </a:tcPr>
                </a:tc>
                <a:tc>
                  <a:txBody>
                    <a:bodyPr/>
                    <a:lstStyle/>
                    <a:p>
                      <a:r>
                        <a:rPr sz="850" b="0">
                          <a:solidFill>
                            <a:srgbClr val="2B221E"/>
                          </a:solidFill>
                          <a:latin typeface="Calibri"/>
                        </a:rPr>
                        <a:t>Mid tier + shipping</a:t>
                      </a:r>
                    </a:p>
                  </a:txBody>
                  <a:tcPr marT="20000" marB="20000">
                    <a:solidFill>
                      <a:srgbClr val="FBEBD0"/>
                    </a:solidFill>
                  </a:tcPr>
                </a:tc>
              </a:tr>
              <a:tr h="316992">
                <a:tc>
                  <a:txBody>
                    <a:bodyPr/>
                    <a:lstStyle/>
                    <a:p>
                      <a:r>
                        <a:rPr sz="850" b="1">
                          <a:solidFill>
                            <a:srgbClr val="2B221E"/>
                          </a:solidFill>
                          <a:latin typeface="Calibri"/>
                        </a:rPr>
                        <a:t>Health-conscious and diabetic buyers</a:t>
                      </a:r>
                    </a:p>
                  </a:txBody>
                  <a:tcPr marT="20000" marB="20000">
                    <a:solidFill>
                      <a:srgbClr val="FFFFFF"/>
                    </a:solidFill>
                  </a:tcPr>
                </a:tc>
                <a:tc>
                  <a:txBody>
                    <a:bodyPr/>
                    <a:lstStyle/>
                    <a:p>
                      <a:r>
                        <a:rPr sz="850" b="0">
                          <a:solidFill>
                            <a:srgbClr val="2B221E"/>
                          </a:solidFill>
                          <a:latin typeface="Calibri"/>
                        </a:rPr>
                        <a:t>'Satvik Wellness' sub-range; namkeen for diabetics</a:t>
                      </a:r>
                    </a:p>
                  </a:txBody>
                  <a:tcPr marT="20000" marB="20000">
                    <a:solidFill>
                      <a:srgbClr val="FFFFFF"/>
                    </a:solidFill>
                  </a:tcPr>
                </a:tc>
                <a:tc>
                  <a:txBody>
                    <a:bodyPr/>
                    <a:lstStyle/>
                    <a:p>
                      <a:r>
                        <a:rPr sz="850" b="0">
                          <a:solidFill>
                            <a:srgbClr val="2B221E"/>
                          </a:solidFill>
                          <a:latin typeface="Calibri"/>
                        </a:rPr>
                        <a:t>Content marketing, doctors/yoga communities</a:t>
                      </a:r>
                    </a:p>
                  </a:txBody>
                  <a:tcPr marT="20000" marB="20000">
                    <a:solidFill>
                      <a:srgbClr val="FFFFFF"/>
                    </a:solidFill>
                  </a:tcPr>
                </a:tc>
                <a:tc>
                  <a:txBody>
                    <a:bodyPr/>
                    <a:lstStyle/>
                    <a:p>
                      <a:r>
                        <a:rPr sz="850" b="0">
                          <a:solidFill>
                            <a:srgbClr val="2B221E"/>
                          </a:solidFill>
                          <a:latin typeface="Calibri"/>
                        </a:rPr>
                        <a:t>Premium</a:t>
                      </a:r>
                    </a:p>
                  </a:txBody>
                  <a:tcPr marT="20000" marB="20000">
                    <a:solidFill>
                      <a:srgbClr val="FFFFFF"/>
                    </a:solidFill>
                  </a:tcPr>
                </a:tc>
              </a:tr>
              <a:tr h="316992">
                <a:tc>
                  <a:txBody>
                    <a:bodyPr/>
                    <a:lstStyle/>
                    <a:p>
                      <a:r>
                        <a:rPr sz="850" b="1">
                          <a:solidFill>
                            <a:srgbClr val="2B221E"/>
                          </a:solidFill>
                          <a:latin typeface="Calibri"/>
                        </a:rPr>
                        <a:t>Institutional bulk / large gatherings</a:t>
                      </a:r>
                    </a:p>
                  </a:txBody>
                  <a:tcPr marT="20000" marB="20000">
                    <a:solidFill>
                      <a:srgbClr val="FBEBD0"/>
                    </a:solidFill>
                  </a:tcPr>
                </a:tc>
                <a:tc>
                  <a:txBody>
                    <a:bodyPr/>
                    <a:lstStyle/>
                    <a:p>
                      <a:r>
                        <a:rPr sz="850" b="0">
                          <a:solidFill>
                            <a:srgbClr val="2B221E"/>
                          </a:solidFill>
                          <a:latin typeface="Calibri"/>
                        </a:rPr>
                        <a:t>Bulk meal packets, prasadam packs, catering</a:t>
                      </a:r>
                    </a:p>
                  </a:txBody>
                  <a:tcPr marT="20000" marB="20000">
                    <a:solidFill>
                      <a:srgbClr val="FBEBD0"/>
                    </a:solidFill>
                  </a:tcPr>
                </a:tc>
                <a:tc>
                  <a:txBody>
                    <a:bodyPr/>
                    <a:lstStyle/>
                    <a:p>
                      <a:r>
                        <a:rPr sz="850" b="0">
                          <a:solidFill>
                            <a:srgbClr val="2B221E"/>
                          </a:solidFill>
                          <a:latin typeface="Calibri"/>
                        </a:rPr>
                        <a:t>Direct leadership contact; tender responses</a:t>
                      </a:r>
                    </a:p>
                  </a:txBody>
                  <a:tcPr marT="20000" marB="20000">
                    <a:solidFill>
                      <a:srgbClr val="FBEBD0"/>
                    </a:solidFill>
                  </a:tcPr>
                </a:tc>
                <a:tc>
                  <a:txBody>
                    <a:bodyPr/>
                    <a:lstStyle/>
                    <a:p>
                      <a:r>
                        <a:rPr sz="850" b="0">
                          <a:solidFill>
                            <a:srgbClr val="2B221E"/>
                          </a:solidFill>
                          <a:latin typeface="Calibri"/>
                        </a:rPr>
                        <a:t>Per-plate contract</a:t>
                      </a:r>
                    </a:p>
                  </a:txBody>
                  <a:tcPr marT="20000" marB="20000">
                    <a:solidFill>
                      <a:srgbClr val="FBEBD0"/>
                    </a:solidFill>
                  </a:tcPr>
                </a:tc>
              </a:tr>
              <a:tr h="316992">
                <a:tc>
                  <a:txBody>
                    <a:bodyPr/>
                    <a:lstStyle/>
                    <a:p>
                      <a:r>
                        <a:rPr sz="850" b="1">
                          <a:solidFill>
                            <a:srgbClr val="2B221E"/>
                          </a:solidFill>
                          <a:latin typeface="Calibri"/>
                        </a:rPr>
                        <a:t>QSR and restaurant diners</a:t>
                      </a:r>
                    </a:p>
                  </a:txBody>
                  <a:tcPr marT="20000" marB="20000">
                    <a:solidFill>
                      <a:srgbClr val="FFFFFF"/>
                    </a:solidFill>
                  </a:tcPr>
                </a:tc>
                <a:tc>
                  <a:txBody>
                    <a:bodyPr/>
                    <a:lstStyle/>
                    <a:p>
                      <a:r>
                        <a:rPr sz="850" b="0">
                          <a:solidFill>
                            <a:srgbClr val="2B221E"/>
                          </a:solidFill>
                          <a:latin typeface="Calibri"/>
                        </a:rPr>
                        <a:t>Satvik QSR outlets (franchise with partner), later fine dine</a:t>
                      </a:r>
                    </a:p>
                  </a:txBody>
                  <a:tcPr marT="20000" marB="20000">
                    <a:solidFill>
                      <a:srgbClr val="FFFFFF"/>
                    </a:solidFill>
                  </a:tcPr>
                </a:tc>
                <a:tc>
                  <a:txBody>
                    <a:bodyPr/>
                    <a:lstStyle/>
                    <a:p>
                      <a:r>
                        <a:rPr sz="850" b="0">
                          <a:solidFill>
                            <a:srgbClr val="2B221E"/>
                          </a:solidFill>
                          <a:latin typeface="Calibri"/>
                        </a:rPr>
                        <a:t>Franchise partner, food-delivery apps</a:t>
                      </a:r>
                    </a:p>
                  </a:txBody>
                  <a:tcPr marT="20000" marB="20000">
                    <a:solidFill>
                      <a:srgbClr val="FFFFFF"/>
                    </a:solidFill>
                  </a:tcPr>
                </a:tc>
                <a:tc>
                  <a:txBody>
                    <a:bodyPr/>
                    <a:lstStyle/>
                    <a:p>
                      <a:r>
                        <a:rPr sz="850" b="0">
                          <a:solidFill>
                            <a:srgbClr val="2B221E"/>
                          </a:solidFill>
                          <a:latin typeface="Calibri"/>
                        </a:rPr>
                        <a:t>₹99–₹399 meals</a:t>
                      </a:r>
                    </a:p>
                  </a:txBody>
                  <a:tcPr marT="20000" marB="20000">
                    <a:solidFill>
                      <a:srgbClr val="FFFFFF"/>
                    </a:solidFill>
                  </a:tcPr>
                </a:tc>
              </a:tr>
              <a:tr h="316992">
                <a:tc>
                  <a:txBody>
                    <a:bodyPr/>
                    <a:lstStyle/>
                    <a:p>
                      <a:r>
                        <a:rPr sz="850" b="1">
                          <a:solidFill>
                            <a:srgbClr val="2B221E"/>
                          </a:solidFill>
                          <a:latin typeface="Calibri"/>
                        </a:rPr>
                        <a:t>Export and diaspora</a:t>
                      </a:r>
                    </a:p>
                  </a:txBody>
                  <a:tcPr marT="20000" marB="20000">
                    <a:solidFill>
                      <a:srgbClr val="FBEBD0"/>
                    </a:solidFill>
                  </a:tcPr>
                </a:tc>
                <a:tc>
                  <a:txBody>
                    <a:bodyPr/>
                    <a:lstStyle/>
                    <a:p>
                      <a:r>
                        <a:rPr sz="850" b="0">
                          <a:solidFill>
                            <a:srgbClr val="2B221E"/>
                          </a:solidFill>
                          <a:latin typeface="Calibri"/>
                        </a:rPr>
                        <a:t>Export-grade packaged range</a:t>
                      </a:r>
                    </a:p>
                  </a:txBody>
                  <a:tcPr marT="20000" marB="20000">
                    <a:solidFill>
                      <a:srgbClr val="FBEBD0"/>
                    </a:solidFill>
                  </a:tcPr>
                </a:tc>
                <a:tc>
                  <a:txBody>
                    <a:bodyPr/>
                    <a:lstStyle/>
                    <a:p>
                      <a:r>
                        <a:rPr sz="850" b="0">
                          <a:solidFill>
                            <a:srgbClr val="2B221E"/>
                          </a:solidFill>
                          <a:latin typeface="Calibri"/>
                        </a:rPr>
                        <a:t>Family business in Malaysia, European contacts, APEDA, Amazon Global</a:t>
                      </a:r>
                    </a:p>
                  </a:txBody>
                  <a:tcPr marT="20000" marB="20000">
                    <a:solidFill>
                      <a:srgbClr val="FBEBD0"/>
                    </a:solidFill>
                  </a:tcPr>
                </a:tc>
                <a:tc>
                  <a:txBody>
                    <a:bodyPr/>
                    <a:lstStyle/>
                    <a:p>
                      <a:r>
                        <a:rPr sz="850" b="0">
                          <a:solidFill>
                            <a:srgbClr val="2B221E"/>
                          </a:solidFill>
                          <a:latin typeface="Calibri"/>
                        </a:rPr>
                        <a:t>Export pricing</a:t>
                      </a:r>
                    </a:p>
                  </a:txBody>
                  <a:tcPr marT="20000" marB="20000">
                    <a:solidFill>
                      <a:srgbClr val="FBEBD0"/>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BUSINESS MODELS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14 revenue streams (1/2)</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8</a:t>
            </a:r>
          </a:p>
        </p:txBody>
      </p:sp>
      <p:sp>
        <p:nvSpPr>
          <p:cNvPr id="8" name="Rounded Rectangle 7"/>
          <p:cNvSpPr/>
          <p:nvPr/>
        </p:nvSpPr>
        <p:spPr>
          <a:xfrm>
            <a:off x="548640"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R1</a:t>
            </a:r>
          </a:p>
        </p:txBody>
      </p:sp>
      <p:sp>
        <p:nvSpPr>
          <p:cNvPr id="10" name="TextBox 9"/>
          <p:cNvSpPr txBox="1"/>
          <p:nvPr/>
        </p:nvSpPr>
        <p:spPr>
          <a:xfrm>
            <a:off x="1280160"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Internal supply to departments</a:t>
            </a:r>
          </a:p>
        </p:txBody>
      </p:sp>
      <p:sp>
        <p:nvSpPr>
          <p:cNvPr id="11" name="TextBox 10"/>
          <p:cNvSpPr txBox="1"/>
          <p:nvPr/>
        </p:nvSpPr>
        <p:spPr>
          <a:xfrm>
            <a:off x="621792"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Weekly standing orders to Culture Connect, LLP, online donors dispatch, corporate relations and campaigns, with one fixed delivery day and festival top-ups.</a:t>
            </a:r>
          </a:p>
        </p:txBody>
      </p:sp>
      <p:sp>
        <p:nvSpPr>
          <p:cNvPr id="12" name="TextBox 11"/>
          <p:cNvSpPr txBox="1"/>
          <p:nvPr/>
        </p:nvSpPr>
        <p:spPr>
          <a:xfrm>
            <a:off x="621792"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0–1 · Capex Low · Margin Low–Medium</a:t>
            </a:r>
          </a:p>
        </p:txBody>
      </p:sp>
      <p:sp>
        <p:nvSpPr>
          <p:cNvPr id="13" name="Rounded Rectangle 12"/>
          <p:cNvSpPr/>
          <p:nvPr/>
        </p:nvSpPr>
        <p:spPr>
          <a:xfrm>
            <a:off x="3355848"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65576"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R2</a:t>
            </a:r>
          </a:p>
        </p:txBody>
      </p:sp>
      <p:sp>
        <p:nvSpPr>
          <p:cNvPr id="15" name="TextBox 14"/>
          <p:cNvSpPr txBox="1"/>
          <p:nvPr/>
        </p:nvSpPr>
        <p:spPr>
          <a:xfrm>
            <a:off x="4087368"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Festival stalls and counters</a:t>
            </a:r>
          </a:p>
        </p:txBody>
      </p:sp>
      <p:sp>
        <p:nvSpPr>
          <p:cNvPr id="16" name="TextBox 15"/>
          <p:cNvSpPr txBox="1"/>
          <p:nvPr/>
        </p:nvSpPr>
        <p:spPr>
          <a:xfrm>
            <a:off x="3429000"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Rows of stalls at high-footfall points on festival days; permanent rain-proof pagodas; restaurant takes the entire lawn.</a:t>
            </a:r>
          </a:p>
        </p:txBody>
      </p:sp>
      <p:sp>
        <p:nvSpPr>
          <p:cNvPr id="17" name="TextBox 16"/>
          <p:cNvSpPr txBox="1"/>
          <p:nvPr/>
        </p:nvSpPr>
        <p:spPr>
          <a:xfrm>
            <a:off x="3429000"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1 onward · Capex Medium (pagodas) · Margin High</a:t>
            </a:r>
          </a:p>
        </p:txBody>
      </p:sp>
      <p:sp>
        <p:nvSpPr>
          <p:cNvPr id="18" name="Rounded Rectangle 17"/>
          <p:cNvSpPr/>
          <p:nvPr/>
        </p:nvSpPr>
        <p:spPr>
          <a:xfrm>
            <a:off x="6163055"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2783"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R3</a:t>
            </a:r>
          </a:p>
        </p:txBody>
      </p:sp>
      <p:sp>
        <p:nvSpPr>
          <p:cNvPr id="20" name="TextBox 19"/>
          <p:cNvSpPr txBox="1"/>
          <p:nvPr/>
        </p:nvSpPr>
        <p:spPr>
          <a:xfrm>
            <a:off x="6894575"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Temple restaurant and lawn food court</a:t>
            </a:r>
          </a:p>
        </p:txBody>
      </p:sp>
      <p:sp>
        <p:nvSpPr>
          <p:cNvPr id="21" name="TextBox 20"/>
          <p:cNvSpPr txBox="1"/>
          <p:nvPr/>
        </p:nvSpPr>
        <p:spPr>
          <a:xfrm>
            <a:off x="6236207"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Restaurant as the daily anchor; on festival days full-length counters, chairs and round tables across the lawn.</a:t>
            </a:r>
          </a:p>
        </p:txBody>
      </p:sp>
      <p:sp>
        <p:nvSpPr>
          <p:cNvPr id="22" name="TextBox 21"/>
          <p:cNvSpPr txBox="1"/>
          <p:nvPr/>
        </p:nvSpPr>
        <p:spPr>
          <a:xfrm>
            <a:off x="6236207"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1–3 · Capex Medium · Margin Medium</a:t>
            </a:r>
          </a:p>
        </p:txBody>
      </p:sp>
      <p:sp>
        <p:nvSpPr>
          <p:cNvPr id="23" name="Rounded Rectangle 22"/>
          <p:cNvSpPr/>
          <p:nvPr/>
        </p:nvSpPr>
        <p:spPr>
          <a:xfrm>
            <a:off x="8970263"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79991"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R4</a:t>
            </a:r>
          </a:p>
        </p:txBody>
      </p:sp>
      <p:sp>
        <p:nvSpPr>
          <p:cNvPr id="25" name="TextBox 24"/>
          <p:cNvSpPr txBox="1"/>
          <p:nvPr/>
        </p:nvSpPr>
        <p:spPr>
          <a:xfrm>
            <a:off x="9701783"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Corporate gifting (own brand)</a:t>
            </a:r>
          </a:p>
        </p:txBody>
      </p:sp>
      <p:sp>
        <p:nvSpPr>
          <p:cNvPr id="26" name="TextBox 25"/>
          <p:cNvSpPr txBox="1"/>
          <p:nvPr/>
        </p:nvSpPr>
        <p:spPr>
          <a:xfrm>
            <a:off x="9043415"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Dasara, Diwali, New Year, Sankranti and other gift boxes in three tiers, with dry fruits and sweets; samples, menu, price list.</a:t>
            </a:r>
          </a:p>
        </p:txBody>
      </p:sp>
      <p:sp>
        <p:nvSpPr>
          <p:cNvPr id="27" name="TextBox 26"/>
          <p:cNvSpPr txBox="1"/>
          <p:nvPr/>
        </p:nvSpPr>
        <p:spPr>
          <a:xfrm>
            <a:off x="9043415"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1 onward · Capex Low (packaging) · Margin High</a:t>
            </a:r>
          </a:p>
        </p:txBody>
      </p:sp>
      <p:sp>
        <p:nvSpPr>
          <p:cNvPr id="28" name="Rounded Rectangle 27"/>
          <p:cNvSpPr/>
          <p:nvPr/>
        </p:nvSpPr>
        <p:spPr>
          <a:xfrm>
            <a:off x="548640" y="3950208"/>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58368" y="4059936"/>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R5</a:t>
            </a:r>
          </a:p>
        </p:txBody>
      </p:sp>
      <p:sp>
        <p:nvSpPr>
          <p:cNvPr id="30" name="TextBox 29"/>
          <p:cNvSpPr txBox="1"/>
          <p:nvPr/>
        </p:nvSpPr>
        <p:spPr>
          <a:xfrm>
            <a:off x="1280160" y="4005072"/>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White-label / co-branded gifting</a:t>
            </a:r>
          </a:p>
        </p:txBody>
      </p:sp>
      <p:sp>
        <p:nvSpPr>
          <p:cNvPr id="31" name="TextBox 30"/>
          <p:cNvSpPr txBox="1"/>
          <p:nvPr/>
        </p:nvSpPr>
        <p:spPr>
          <a:xfrm>
            <a:off x="621792" y="4626864"/>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Same boxes with the client's logo and message (sticker or printed sleeve), so their brand travels with our prasadam.</a:t>
            </a:r>
          </a:p>
        </p:txBody>
      </p:sp>
      <p:sp>
        <p:nvSpPr>
          <p:cNvPr id="32" name="TextBox 31"/>
          <p:cNvSpPr txBox="1"/>
          <p:nvPr/>
        </p:nvSpPr>
        <p:spPr>
          <a:xfrm>
            <a:off x="621792" y="5824727"/>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1 onward · Capex Low · Margin High</a:t>
            </a:r>
          </a:p>
        </p:txBody>
      </p:sp>
      <p:sp>
        <p:nvSpPr>
          <p:cNvPr id="33" name="Rounded Rectangle 32"/>
          <p:cNvSpPr/>
          <p:nvPr/>
        </p:nvSpPr>
        <p:spPr>
          <a:xfrm>
            <a:off x="3355848" y="3950208"/>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465576" y="4059936"/>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R6</a:t>
            </a:r>
          </a:p>
        </p:txBody>
      </p:sp>
      <p:sp>
        <p:nvSpPr>
          <p:cNvPr id="35" name="TextBox 34"/>
          <p:cNvSpPr txBox="1"/>
          <p:nvPr/>
        </p:nvSpPr>
        <p:spPr>
          <a:xfrm>
            <a:off x="4087368" y="4005072"/>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Daily snacking (365-day retail)</a:t>
            </a:r>
          </a:p>
        </p:txBody>
      </p:sp>
      <p:sp>
        <p:nvSpPr>
          <p:cNvPr id="36" name="TextBox 35"/>
          <p:cNvSpPr txBox="1"/>
          <p:nvPr/>
        </p:nvSpPr>
        <p:spPr>
          <a:xfrm>
            <a:off x="3429000" y="4626864"/>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Sweets and savories unconnected to festivals: chikkis, kaja, khara, namkeen, puri unde, laddus, 250 g weekly specials.</a:t>
            </a:r>
          </a:p>
        </p:txBody>
      </p:sp>
      <p:sp>
        <p:nvSpPr>
          <p:cNvPr id="37" name="TextBox 36"/>
          <p:cNvSpPr txBox="1"/>
          <p:nvPr/>
        </p:nvSpPr>
        <p:spPr>
          <a:xfrm>
            <a:off x="3429000" y="5824727"/>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1–2 · Capex Low · Margin Medium</a:t>
            </a:r>
          </a:p>
        </p:txBody>
      </p:sp>
      <p:sp>
        <p:nvSpPr>
          <p:cNvPr id="38" name="Rounded Rectangle 37"/>
          <p:cNvSpPr/>
          <p:nvPr/>
        </p:nvSpPr>
        <p:spPr>
          <a:xfrm>
            <a:off x="6163055" y="3950208"/>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272783" y="4059936"/>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R7</a:t>
            </a:r>
          </a:p>
        </p:txBody>
      </p:sp>
      <p:sp>
        <p:nvSpPr>
          <p:cNvPr id="40" name="TextBox 39"/>
          <p:cNvSpPr txBox="1"/>
          <p:nvPr/>
        </p:nvSpPr>
        <p:spPr>
          <a:xfrm>
            <a:off x="6894575" y="4005072"/>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E-commerce (own store + marketplaces)</a:t>
            </a:r>
          </a:p>
        </p:txBody>
      </p:sp>
      <p:sp>
        <p:nvSpPr>
          <p:cNvPr id="41" name="TextBox 40"/>
          <p:cNvSpPr txBox="1"/>
          <p:nvPr/>
        </p:nvSpPr>
        <p:spPr>
          <a:xfrm>
            <a:off x="6236207" y="4626864"/>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Shopify store and Amazon listing for shelf-stable items, pan-India shipping, subscriptions, donor bundles.</a:t>
            </a:r>
          </a:p>
        </p:txBody>
      </p:sp>
      <p:sp>
        <p:nvSpPr>
          <p:cNvPr id="42" name="TextBox 41"/>
          <p:cNvSpPr txBox="1"/>
          <p:nvPr/>
        </p:nvSpPr>
        <p:spPr>
          <a:xfrm>
            <a:off x="6236207" y="5824727"/>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2 · Capex Low · Margin Medium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BUSINESS MODELS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14 revenue streams (2/2)</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9</a:t>
            </a:r>
          </a:p>
        </p:txBody>
      </p:sp>
      <p:sp>
        <p:nvSpPr>
          <p:cNvPr id="8" name="Rounded Rectangle 7"/>
          <p:cNvSpPr/>
          <p:nvPr/>
        </p:nvSpPr>
        <p:spPr>
          <a:xfrm>
            <a:off x="548640"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R8</a:t>
            </a:r>
          </a:p>
        </p:txBody>
      </p:sp>
      <p:sp>
        <p:nvSpPr>
          <p:cNvPr id="10" name="TextBox 9"/>
          <p:cNvSpPr txBox="1"/>
          <p:nvPr/>
        </p:nvSpPr>
        <p:spPr>
          <a:xfrm>
            <a:off x="1280160"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Catering and bulk meals</a:t>
            </a:r>
          </a:p>
        </p:txBody>
      </p:sp>
      <p:sp>
        <p:nvSpPr>
          <p:cNvPr id="11" name="TextBox 10"/>
          <p:cNvSpPr txBox="1"/>
          <p:nvPr/>
        </p:nvSpPr>
        <p:spPr>
          <a:xfrm>
            <a:off x="621792"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Satvik catering for house programmes, life events, corporate and institutional events; bulk meal packets (e.g. 50,000 meals).</a:t>
            </a:r>
          </a:p>
        </p:txBody>
      </p:sp>
      <p:sp>
        <p:nvSpPr>
          <p:cNvPr id="12" name="TextBox 11"/>
          <p:cNvSpPr txBox="1"/>
          <p:nvPr/>
        </p:nvSpPr>
        <p:spPr>
          <a:xfrm>
            <a:off x="621792"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2–4 · Capex High (at scale) · Margin Medium</a:t>
            </a:r>
          </a:p>
        </p:txBody>
      </p:sp>
      <p:sp>
        <p:nvSpPr>
          <p:cNvPr id="13" name="Rounded Rectangle 12"/>
          <p:cNvSpPr/>
          <p:nvPr/>
        </p:nvSpPr>
        <p:spPr>
          <a:xfrm>
            <a:off x="3355848"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65576"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R9</a:t>
            </a:r>
          </a:p>
        </p:txBody>
      </p:sp>
      <p:sp>
        <p:nvSpPr>
          <p:cNvPr id="15" name="TextBox 14"/>
          <p:cNvSpPr txBox="1"/>
          <p:nvPr/>
        </p:nvSpPr>
        <p:spPr>
          <a:xfrm>
            <a:off x="4087368"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Gated community flea markets</a:t>
            </a:r>
          </a:p>
        </p:txBody>
      </p:sp>
      <p:sp>
        <p:nvSpPr>
          <p:cNvPr id="16" name="TextBox 15"/>
          <p:cNvSpPr txBox="1"/>
          <p:nvPr/>
        </p:nvSpPr>
        <p:spPr>
          <a:xfrm>
            <a:off x="3429000"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Weekend stalls in ~100 gated communities, pre-orders for festivals, community WhatsApp groups.</a:t>
            </a:r>
          </a:p>
        </p:txBody>
      </p:sp>
      <p:sp>
        <p:nvSpPr>
          <p:cNvPr id="17" name="TextBox 16"/>
          <p:cNvSpPr txBox="1"/>
          <p:nvPr/>
        </p:nvSpPr>
        <p:spPr>
          <a:xfrm>
            <a:off x="3429000"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2 · Capex Low · Margin Medium</a:t>
            </a:r>
          </a:p>
        </p:txBody>
      </p:sp>
      <p:sp>
        <p:nvSpPr>
          <p:cNvPr id="18" name="Rounded Rectangle 17"/>
          <p:cNvSpPr/>
          <p:nvPr/>
        </p:nvSpPr>
        <p:spPr>
          <a:xfrm>
            <a:off x="6163055"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2783"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R10</a:t>
            </a:r>
          </a:p>
        </p:txBody>
      </p:sp>
      <p:sp>
        <p:nvSpPr>
          <p:cNvPr id="20" name="TextBox 19"/>
          <p:cNvSpPr txBox="1"/>
          <p:nvPr/>
        </p:nvSpPr>
        <p:spPr>
          <a:xfrm>
            <a:off x="6894575"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Outbound B2B and life-event sales</a:t>
            </a:r>
          </a:p>
        </p:txBody>
      </p:sp>
      <p:sp>
        <p:nvSpPr>
          <p:cNvPr id="21" name="TextBox 20"/>
          <p:cNvSpPr txBox="1"/>
          <p:nvPr/>
        </p:nvSpPr>
        <p:spPr>
          <a:xfrm>
            <a:off x="6236207"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Sell to companies, event managers and families for openings, naming ceremonies, birthdays, weddings, vehicle pujas.</a:t>
            </a:r>
          </a:p>
        </p:txBody>
      </p:sp>
      <p:sp>
        <p:nvSpPr>
          <p:cNvPr id="22" name="TextBox 21"/>
          <p:cNvSpPr txBox="1"/>
          <p:nvPr/>
        </p:nvSpPr>
        <p:spPr>
          <a:xfrm>
            <a:off x="6236207"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2–3 · Capex Low · Margin Medium</a:t>
            </a:r>
          </a:p>
        </p:txBody>
      </p:sp>
      <p:sp>
        <p:nvSpPr>
          <p:cNvPr id="23" name="Rounded Rectangle 22"/>
          <p:cNvSpPr/>
          <p:nvPr/>
        </p:nvSpPr>
        <p:spPr>
          <a:xfrm>
            <a:off x="8970263" y="1463040"/>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79991" y="1572768"/>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R11</a:t>
            </a:r>
          </a:p>
        </p:txBody>
      </p:sp>
      <p:sp>
        <p:nvSpPr>
          <p:cNvPr id="25" name="TextBox 24"/>
          <p:cNvSpPr txBox="1"/>
          <p:nvPr/>
        </p:nvSpPr>
        <p:spPr>
          <a:xfrm>
            <a:off x="9701783" y="1517904"/>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Pickles, papads and powders</a:t>
            </a:r>
          </a:p>
        </p:txBody>
      </p:sp>
      <p:sp>
        <p:nvSpPr>
          <p:cNvPr id="26" name="TextBox 25"/>
          <p:cNvSpPr txBox="1"/>
          <p:nvPr/>
        </p:nvSpPr>
        <p:spPr>
          <a:xfrm>
            <a:off x="9043415" y="2139696"/>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Masala powders, sambar powder, pickles, papads: very long shelf life, ideal for online and export.</a:t>
            </a:r>
          </a:p>
        </p:txBody>
      </p:sp>
      <p:sp>
        <p:nvSpPr>
          <p:cNvPr id="27" name="TextBox 26"/>
          <p:cNvSpPr txBox="1"/>
          <p:nvPr/>
        </p:nvSpPr>
        <p:spPr>
          <a:xfrm>
            <a:off x="9043415" y="3337559"/>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3 · Capex Low–Medium · Margin Medium–High</a:t>
            </a:r>
          </a:p>
        </p:txBody>
      </p:sp>
      <p:sp>
        <p:nvSpPr>
          <p:cNvPr id="28" name="Rounded Rectangle 27"/>
          <p:cNvSpPr/>
          <p:nvPr/>
        </p:nvSpPr>
        <p:spPr>
          <a:xfrm>
            <a:off x="548640" y="3950208"/>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58368" y="4059936"/>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R12</a:t>
            </a:r>
          </a:p>
        </p:txBody>
      </p:sp>
      <p:sp>
        <p:nvSpPr>
          <p:cNvPr id="30" name="TextBox 29"/>
          <p:cNvSpPr txBox="1"/>
          <p:nvPr/>
        </p:nvSpPr>
        <p:spPr>
          <a:xfrm>
            <a:off x="1280160" y="4005072"/>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QSR and fine-dine restaurants</a:t>
            </a:r>
          </a:p>
        </p:txBody>
      </p:sp>
      <p:sp>
        <p:nvSpPr>
          <p:cNvPr id="31" name="TextBox 30"/>
          <p:cNvSpPr txBox="1"/>
          <p:nvPr/>
        </p:nvSpPr>
        <p:spPr>
          <a:xfrm>
            <a:off x="621792" y="4626864"/>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Satvik quick-service outlets under the brand via the interested franchise partner; vision of 100 QSRs in Hyderabad; later fine dine.</a:t>
            </a:r>
          </a:p>
        </p:txBody>
      </p:sp>
      <p:sp>
        <p:nvSpPr>
          <p:cNvPr id="32" name="TextBox 31"/>
          <p:cNvSpPr txBox="1"/>
          <p:nvPr/>
        </p:nvSpPr>
        <p:spPr>
          <a:xfrm>
            <a:off x="621792" y="5824727"/>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4–5 · Capex Partner-funded · Margin Royalty 4–8% [ESTIMATE]</a:t>
            </a:r>
          </a:p>
        </p:txBody>
      </p:sp>
      <p:sp>
        <p:nvSpPr>
          <p:cNvPr id="33" name="Rounded Rectangle 32"/>
          <p:cNvSpPr/>
          <p:nvPr/>
        </p:nvSpPr>
        <p:spPr>
          <a:xfrm>
            <a:off x="3355848" y="3950208"/>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465576" y="4059936"/>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R13</a:t>
            </a:r>
          </a:p>
        </p:txBody>
      </p:sp>
      <p:sp>
        <p:nvSpPr>
          <p:cNvPr id="35" name="TextBox 34"/>
          <p:cNvSpPr txBox="1"/>
          <p:nvPr/>
        </p:nvSpPr>
        <p:spPr>
          <a:xfrm>
            <a:off x="4087368" y="4005072"/>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Exports and diaspora</a:t>
            </a:r>
          </a:p>
        </p:txBody>
      </p:sp>
      <p:sp>
        <p:nvSpPr>
          <p:cNvPr id="36" name="TextBox 35"/>
          <p:cNvSpPr txBox="1"/>
          <p:nvPr/>
        </p:nvSpPr>
        <p:spPr>
          <a:xfrm>
            <a:off x="3429000" y="4626864"/>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Long-shelf-life range for diaspora markets and temples abroad.</a:t>
            </a:r>
          </a:p>
        </p:txBody>
      </p:sp>
      <p:sp>
        <p:nvSpPr>
          <p:cNvPr id="37" name="TextBox 36"/>
          <p:cNvSpPr txBox="1"/>
          <p:nvPr/>
        </p:nvSpPr>
        <p:spPr>
          <a:xfrm>
            <a:off x="3429000" y="5824727"/>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5 · Capex Medium · Margin Medium–High</a:t>
            </a:r>
          </a:p>
        </p:txBody>
      </p:sp>
      <p:sp>
        <p:nvSpPr>
          <p:cNvPr id="38" name="Rounded Rectangle 37"/>
          <p:cNvSpPr/>
          <p:nvPr/>
        </p:nvSpPr>
        <p:spPr>
          <a:xfrm>
            <a:off x="6163055" y="3950208"/>
            <a:ext cx="2670048" cy="23317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272783" y="4059936"/>
            <a:ext cx="566928" cy="329184"/>
          </a:xfrm>
          <a:prstGeom prst="roundRect">
            <a:avLst>
              <a:gd name="adj" fmla="val 4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R14</a:t>
            </a:r>
          </a:p>
        </p:txBody>
      </p:sp>
      <p:sp>
        <p:nvSpPr>
          <p:cNvPr id="40" name="TextBox 39"/>
          <p:cNvSpPr txBox="1"/>
          <p:nvPr/>
        </p:nvSpPr>
        <p:spPr>
          <a:xfrm>
            <a:off x="6894575" y="4005072"/>
            <a:ext cx="1901952" cy="566928"/>
          </a:xfrm>
          <a:prstGeom prst="rect">
            <a:avLst/>
          </a:prstGeom>
          <a:noFill/>
        </p:spPr>
        <p:txBody>
          <a:bodyPr wrap="square" anchor="t" lIns="73152" rIns="73152" tIns="36576" bIns="36576">
            <a:spAutoFit/>
          </a:bodyPr>
          <a:lstStyle/>
          <a:p>
            <a:pPr algn="l"/>
            <a:r>
              <a:rPr sz="1150" b="1">
                <a:solidFill>
                  <a:srgbClr val="7A1F2B"/>
                </a:solidFill>
                <a:latin typeface="Calibri"/>
              </a:rPr>
              <a:t>Donor and sponsor packs</a:t>
            </a:r>
          </a:p>
        </p:txBody>
      </p:sp>
      <p:sp>
        <p:nvSpPr>
          <p:cNvPr id="41" name="TextBox 40"/>
          <p:cNvSpPr txBox="1"/>
          <p:nvPr/>
        </p:nvSpPr>
        <p:spPr>
          <a:xfrm>
            <a:off x="6236207" y="4626864"/>
            <a:ext cx="2542032" cy="1188720"/>
          </a:xfrm>
          <a:prstGeom prst="rect">
            <a:avLst/>
          </a:prstGeom>
          <a:noFill/>
        </p:spPr>
        <p:txBody>
          <a:bodyPr wrap="square" anchor="t" lIns="73152" rIns="73152" tIns="36576" bIns="36576">
            <a:spAutoFit/>
          </a:bodyPr>
          <a:lstStyle/>
          <a:p>
            <a:pPr algn="l"/>
            <a:r>
              <a:rPr sz="1000" b="0">
                <a:solidFill>
                  <a:srgbClr val="2B221E"/>
                </a:solidFill>
                <a:latin typeface="Calibri"/>
              </a:rPr>
              <a:t>Bahumana gift boxes for big donors, sponsor prasadam for festivals, 5 kg namkeen tins in monsoon.</a:t>
            </a:r>
          </a:p>
        </p:txBody>
      </p:sp>
      <p:sp>
        <p:nvSpPr>
          <p:cNvPr id="42" name="TextBox 41"/>
          <p:cNvSpPr txBox="1"/>
          <p:nvPr/>
        </p:nvSpPr>
        <p:spPr>
          <a:xfrm>
            <a:off x="6236207" y="5824727"/>
            <a:ext cx="2542032" cy="411480"/>
          </a:xfrm>
          <a:prstGeom prst="rect">
            <a:avLst/>
          </a:prstGeom>
          <a:noFill/>
        </p:spPr>
        <p:txBody>
          <a:bodyPr wrap="square" anchor="t" lIns="73152" rIns="73152" tIns="36576" bIns="36576">
            <a:spAutoFit/>
          </a:bodyPr>
          <a:lstStyle/>
          <a:p>
            <a:pPr algn="l"/>
            <a:r>
              <a:rPr sz="900" b="0">
                <a:solidFill>
                  <a:srgbClr val="6B5E55"/>
                </a:solidFill>
                <a:latin typeface="Calibri"/>
              </a:rPr>
              <a:t>Phase 1 onward · Capex Low · Margin Medium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PRICING STRATEGY</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Two segments: volume + premium</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10</a:t>
            </a:r>
          </a:p>
        </p:txBody>
      </p:sp>
      <p:sp>
        <p:nvSpPr>
          <p:cNvPr id="8" name="Rounded Rectangle 7"/>
          <p:cNvSpPr/>
          <p:nvPr/>
        </p:nvSpPr>
        <p:spPr>
          <a:xfrm>
            <a:off x="548640" y="1508760"/>
            <a:ext cx="5394960" cy="219456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508760"/>
            <a:ext cx="5394960" cy="457200"/>
          </a:xfrm>
          <a:prstGeom prst="roundRect">
            <a:avLst>
              <a:gd name="adj" fmla="val 2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Mass / competitive tier</a:t>
            </a:r>
          </a:p>
        </p:txBody>
      </p:sp>
      <p:sp>
        <p:nvSpPr>
          <p:cNvPr id="10" name="TextBox 9"/>
          <p:cNvSpPr txBox="1"/>
          <p:nvPr/>
        </p:nvSpPr>
        <p:spPr>
          <a:xfrm>
            <a:off x="594360" y="2039112"/>
            <a:ext cx="5303520" cy="1645920"/>
          </a:xfrm>
          <a:prstGeom prst="rect">
            <a:avLst/>
          </a:prstGeom>
          <a:noFill/>
        </p:spPr>
        <p:txBody>
          <a:bodyPr wrap="square">
            <a:spAutoFit/>
          </a:bodyPr>
          <a:lstStyle/>
          <a:p>
            <a:pPr>
              <a:spcAft>
                <a:spcPts val="200"/>
              </a:spcAft>
            </a:pPr>
            <a:r>
              <a:rPr sz="1300">
                <a:solidFill>
                  <a:srgbClr val="2B221E"/>
                </a:solidFill>
                <a:latin typeface="Calibri"/>
              </a:rPr>
              <a:t>•  Local-shop price or slightly below; huge volumes</a:t>
            </a:r>
          </a:p>
          <a:p>
            <a:pPr>
              <a:spcAft>
                <a:spcPts val="200"/>
              </a:spcAft>
            </a:pPr>
            <a:r>
              <a:rPr sz="1300">
                <a:solidFill>
                  <a:srgbClr val="2B221E"/>
                </a:solidFill>
                <a:latin typeface="Calibri"/>
              </a:rPr>
              <a:t>•  Covers rent, power, salaries; keeps kitchen rotating</a:t>
            </a:r>
          </a:p>
          <a:p>
            <a:pPr>
              <a:spcAft>
                <a:spcPts val="200"/>
              </a:spcAft>
            </a:pPr>
            <a:r>
              <a:rPr sz="1300">
                <a:solidFill>
                  <a:srgbClr val="2B221E"/>
                </a:solidFill>
                <a:latin typeface="Calibri"/>
              </a:rPr>
              <a:t>•  Counters, communities, internal supply, students</a:t>
            </a:r>
          </a:p>
        </p:txBody>
      </p:sp>
      <p:sp>
        <p:nvSpPr>
          <p:cNvPr id="11" name="Rounded Rectangle 10"/>
          <p:cNvSpPr/>
          <p:nvPr/>
        </p:nvSpPr>
        <p:spPr>
          <a:xfrm>
            <a:off x="6263640" y="1508760"/>
            <a:ext cx="5394960" cy="219456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63640" y="1508760"/>
            <a:ext cx="5394960" cy="457200"/>
          </a:xfrm>
          <a:prstGeom prst="roundRect">
            <a:avLst>
              <a:gd name="adj" fmla="val 2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Premium tier</a:t>
            </a:r>
          </a:p>
        </p:txBody>
      </p:sp>
      <p:sp>
        <p:nvSpPr>
          <p:cNvPr id="13" name="TextBox 12"/>
          <p:cNvSpPr txBox="1"/>
          <p:nvPr/>
        </p:nvSpPr>
        <p:spPr>
          <a:xfrm>
            <a:off x="6309360" y="2039112"/>
            <a:ext cx="5303520" cy="1645920"/>
          </a:xfrm>
          <a:prstGeom prst="rect">
            <a:avLst/>
          </a:prstGeom>
          <a:noFill/>
        </p:spPr>
        <p:txBody>
          <a:bodyPr wrap="square">
            <a:spAutoFit/>
          </a:bodyPr>
          <a:lstStyle/>
          <a:p>
            <a:pPr>
              <a:spcAft>
                <a:spcPts val="200"/>
              </a:spcAft>
            </a:pPr>
            <a:r>
              <a:rPr sz="1300">
                <a:solidFill>
                  <a:srgbClr val="2B221E"/>
                </a:solidFill>
                <a:latin typeface="Calibri"/>
              </a:rPr>
              <a:t>•  Pure ghee, dry fruits, jaggery, wooden boxes</a:t>
            </a:r>
          </a:p>
          <a:p>
            <a:pPr>
              <a:spcAft>
                <a:spcPts val="200"/>
              </a:spcAft>
            </a:pPr>
            <a:r>
              <a:rPr sz="1300">
                <a:solidFill>
                  <a:srgbClr val="2B221E"/>
                </a:solidFill>
                <a:latin typeface="Calibri"/>
              </a:rPr>
              <a:t>•  Limited volume, high margin</a:t>
            </a:r>
          </a:p>
          <a:p>
            <a:pPr>
              <a:spcAft>
                <a:spcPts val="200"/>
              </a:spcAft>
            </a:pPr>
            <a:r>
              <a:rPr sz="1300">
                <a:solidFill>
                  <a:srgbClr val="2B221E"/>
                </a:solidFill>
                <a:latin typeface="Calibri"/>
              </a:rPr>
              <a:t>•  VIP corporate boxes, donors, wellness range</a:t>
            </a:r>
          </a:p>
        </p:txBody>
      </p:sp>
      <p:graphicFrame>
        <p:nvGraphicFramePr>
          <p:cNvPr id="14" name="Table 13"/>
          <p:cNvGraphicFramePr>
            <a:graphicFrameLocks noGrp="1"/>
          </p:cNvGraphicFramePr>
          <p:nvPr/>
        </p:nvGraphicFramePr>
        <p:xfrm>
          <a:off x="548640" y="3931920"/>
          <a:ext cx="11155680" cy="2286000"/>
        </p:xfrm>
        <a:graphic>
          <a:graphicData uri="http://schemas.openxmlformats.org/drawingml/2006/table">
            <a:tbl>
              <a:tblPr firstRow="1" bandRow="1">
                <a:tableStyleId>{5C22544A-7EE6-4342-B048-85BDC9FD1C3A}</a:tableStyleId>
              </a:tblPr>
              <a:tblGrid>
                <a:gridCol w="2011680"/>
                <a:gridCol w="1828800"/>
                <a:gridCol w="4754880"/>
                <a:gridCol w="2560320"/>
              </a:tblGrid>
              <a:tr h="457200">
                <a:tc>
                  <a:txBody>
                    <a:bodyPr/>
                    <a:lstStyle/>
                    <a:p>
                      <a:r>
                        <a:rPr sz="1100" b="1">
                          <a:solidFill>
                            <a:srgbClr val="FFFFFF"/>
                          </a:solidFill>
                          <a:latin typeface="Calibri"/>
                        </a:rPr>
                        <a:t>Gift box</a:t>
                      </a:r>
                    </a:p>
                  </a:txBody>
                  <a:tcPr>
                    <a:solidFill>
                      <a:srgbClr val="7A1F2B"/>
                    </a:solidFill>
                  </a:tcPr>
                </a:tc>
                <a:tc>
                  <a:txBody>
                    <a:bodyPr/>
                    <a:lstStyle/>
                    <a:p>
                      <a:r>
                        <a:rPr sz="1100" b="1">
                          <a:solidFill>
                            <a:srgbClr val="FFFFFF"/>
                          </a:solidFill>
                          <a:latin typeface="Calibri"/>
                        </a:rPr>
                        <a:t>Price</a:t>
                      </a:r>
                    </a:p>
                  </a:txBody>
                  <a:tcPr>
                    <a:solidFill>
                      <a:srgbClr val="7A1F2B"/>
                    </a:solidFill>
                  </a:tcPr>
                </a:tc>
                <a:tc>
                  <a:txBody>
                    <a:bodyPr/>
                    <a:lstStyle/>
                    <a:p>
                      <a:r>
                        <a:rPr sz="1100" b="1">
                          <a:solidFill>
                            <a:srgbClr val="FFFFFF"/>
                          </a:solidFill>
                          <a:latin typeface="Calibri"/>
                        </a:rPr>
                        <a:t>Contents</a:t>
                      </a:r>
                    </a:p>
                  </a:txBody>
                  <a:tcPr>
                    <a:solidFill>
                      <a:srgbClr val="7A1F2B"/>
                    </a:solidFill>
                  </a:tcPr>
                </a:tc>
                <a:tc>
                  <a:txBody>
                    <a:bodyPr/>
                    <a:lstStyle/>
                    <a:p>
                      <a:r>
                        <a:rPr sz="1100" b="1">
                          <a:solidFill>
                            <a:srgbClr val="FFFFFF"/>
                          </a:solidFill>
                          <a:latin typeface="Calibri"/>
                        </a:rPr>
                        <a:t>Best for</a:t>
                      </a:r>
                    </a:p>
                  </a:txBody>
                  <a:tcPr>
                    <a:solidFill>
                      <a:srgbClr val="7A1F2B"/>
                    </a:solidFill>
                  </a:tcPr>
                </a:tc>
              </a:tr>
              <a:tr h="457200">
                <a:tc>
                  <a:txBody>
                    <a:bodyPr/>
                    <a:lstStyle/>
                    <a:p>
                      <a:r>
                        <a:rPr sz="1100" b="1">
                          <a:solidFill>
                            <a:srgbClr val="2B221E"/>
                          </a:solidFill>
                          <a:latin typeface="Calibri"/>
                        </a:rPr>
                        <a:t>Seva box</a:t>
                      </a:r>
                    </a:p>
                  </a:txBody>
                  <a:tcPr>
                    <a:solidFill>
                      <a:srgbClr val="FFFFFF"/>
                    </a:solidFill>
                  </a:tcPr>
                </a:tc>
                <a:tc>
                  <a:txBody>
                    <a:bodyPr/>
                    <a:lstStyle/>
                    <a:p>
                      <a:r>
                        <a:rPr sz="1100" b="0">
                          <a:solidFill>
                            <a:srgbClr val="2B221E"/>
                          </a:solidFill>
                          <a:latin typeface="Calibri"/>
                        </a:rPr>
                        <a:t>₹250–₹450</a:t>
                      </a:r>
                    </a:p>
                  </a:txBody>
                  <a:tcPr>
                    <a:solidFill>
                      <a:srgbClr val="FFFFFF"/>
                    </a:solidFill>
                  </a:tcPr>
                </a:tc>
                <a:tc>
                  <a:txBody>
                    <a:bodyPr/>
                    <a:lstStyle/>
                    <a:p>
                      <a:r>
                        <a:rPr sz="1100" b="0">
                          <a:solidFill>
                            <a:srgbClr val="2B221E"/>
                          </a:solidFill>
                          <a:latin typeface="Calibri"/>
                        </a:rPr>
                        <a:t>3 items (chikki, namkeen, laddu) in a see-through or card box with brand sticker</a:t>
                      </a:r>
                    </a:p>
                  </a:txBody>
                  <a:tcPr>
                    <a:solidFill>
                      <a:srgbClr val="FFFFFF"/>
                    </a:solidFill>
                  </a:tcPr>
                </a:tc>
                <a:tc>
                  <a:txBody>
                    <a:bodyPr/>
                    <a:lstStyle/>
                    <a:p>
                      <a:r>
                        <a:rPr sz="1100" b="0">
                          <a:solidFill>
                            <a:srgbClr val="2B221E"/>
                          </a:solidFill>
                          <a:latin typeface="Calibri"/>
                        </a:rPr>
                        <a:t>Staff gifting at scale, students, communities</a:t>
                      </a:r>
                    </a:p>
                  </a:txBody>
                  <a:tcPr>
                    <a:solidFill>
                      <a:srgbClr val="FFFFFF"/>
                    </a:solidFill>
                  </a:tcPr>
                </a:tc>
              </a:tr>
              <a:tr h="457200">
                <a:tc>
                  <a:txBody>
                    <a:bodyPr/>
                    <a:lstStyle/>
                    <a:p>
                      <a:r>
                        <a:rPr sz="1100" b="1">
                          <a:solidFill>
                            <a:srgbClr val="2B221E"/>
                          </a:solidFill>
                          <a:latin typeface="Calibri"/>
                        </a:rPr>
                        <a:t>Utsav box</a:t>
                      </a:r>
                    </a:p>
                  </a:txBody>
                  <a:tcPr>
                    <a:solidFill>
                      <a:srgbClr val="FBEBD0"/>
                    </a:solidFill>
                  </a:tcPr>
                </a:tc>
                <a:tc>
                  <a:txBody>
                    <a:bodyPr/>
                    <a:lstStyle/>
                    <a:p>
                      <a:r>
                        <a:rPr sz="1100" b="0">
                          <a:solidFill>
                            <a:srgbClr val="2B221E"/>
                          </a:solidFill>
                          <a:latin typeface="Calibri"/>
                        </a:rPr>
                        <a:t>₹600–₹1,200</a:t>
                      </a:r>
                    </a:p>
                  </a:txBody>
                  <a:tcPr>
                    <a:solidFill>
                      <a:srgbClr val="FBEBD0"/>
                    </a:solidFill>
                  </a:tcPr>
                </a:tc>
                <a:tc>
                  <a:txBody>
                    <a:bodyPr/>
                    <a:lstStyle/>
                    <a:p>
                      <a:r>
                        <a:rPr sz="1100" b="0">
                          <a:solidFill>
                            <a:srgbClr val="2B221E"/>
                          </a:solidFill>
                          <a:latin typeface="Calibri"/>
                        </a:rPr>
                        <a:t>5–6 items including a premium sweet and dry fruits in a printed rigid box</a:t>
                      </a:r>
                    </a:p>
                  </a:txBody>
                  <a:tcPr>
                    <a:solidFill>
                      <a:srgbClr val="FBEBD0"/>
                    </a:solidFill>
                  </a:tcPr>
                </a:tc>
                <a:tc>
                  <a:txBody>
                    <a:bodyPr/>
                    <a:lstStyle/>
                    <a:p>
                      <a:r>
                        <a:rPr sz="1100" b="0">
                          <a:solidFill>
                            <a:srgbClr val="2B221E"/>
                          </a:solidFill>
                          <a:latin typeface="Calibri"/>
                        </a:rPr>
                        <a:t>Employees, association members, donors</a:t>
                      </a:r>
                    </a:p>
                  </a:txBody>
                  <a:tcPr>
                    <a:solidFill>
                      <a:srgbClr val="FBEBD0"/>
                    </a:solidFill>
                  </a:tcPr>
                </a:tc>
              </a:tr>
              <a:tr h="457200">
                <a:tc>
                  <a:txBody>
                    <a:bodyPr/>
                    <a:lstStyle/>
                    <a:p>
                      <a:r>
                        <a:rPr sz="1100" b="1">
                          <a:solidFill>
                            <a:srgbClr val="2B221E"/>
                          </a:solidFill>
                          <a:latin typeface="Calibri"/>
                        </a:rPr>
                        <a:t>Vaikuntha box</a:t>
                      </a:r>
                    </a:p>
                  </a:txBody>
                  <a:tcPr>
                    <a:solidFill>
                      <a:srgbClr val="FFFFFF"/>
                    </a:solidFill>
                  </a:tcPr>
                </a:tc>
                <a:tc>
                  <a:txBody>
                    <a:bodyPr/>
                    <a:lstStyle/>
                    <a:p>
                      <a:r>
                        <a:rPr sz="1100" b="0">
                          <a:solidFill>
                            <a:srgbClr val="2B221E"/>
                          </a:solidFill>
                          <a:latin typeface="Calibri"/>
                        </a:rPr>
                        <a:t>₹1,500–₹3,000+</a:t>
                      </a:r>
                    </a:p>
                  </a:txBody>
                  <a:tcPr>
                    <a:solidFill>
                      <a:srgbClr val="FFFFFF"/>
                    </a:solidFill>
                  </a:tcPr>
                </a:tc>
                <a:tc>
                  <a:txBody>
                    <a:bodyPr/>
                    <a:lstStyle/>
                    <a:p>
                      <a:r>
                        <a:rPr sz="1100" b="0">
                          <a:solidFill>
                            <a:srgbClr val="2B221E"/>
                          </a:solidFill>
                          <a:latin typeface="Calibri"/>
                        </a:rPr>
                        <a:t>Wooden box, dry fruits, premium sweets, small Deity picture / Gita card</a:t>
                      </a:r>
                    </a:p>
                  </a:txBody>
                  <a:tcPr>
                    <a:solidFill>
                      <a:srgbClr val="FFFFFF"/>
                    </a:solidFill>
                  </a:tcPr>
                </a:tc>
                <a:tc>
                  <a:txBody>
                    <a:bodyPr/>
                    <a:lstStyle/>
                    <a:p>
                      <a:r>
                        <a:rPr sz="1100" b="0">
                          <a:solidFill>
                            <a:srgbClr val="2B221E"/>
                          </a:solidFill>
                          <a:latin typeface="Calibri"/>
                        </a:rPr>
                        <a:t>Clients, VIPs, directors, big donors</a:t>
                      </a:r>
                    </a:p>
                  </a:txBody>
                  <a:tcPr>
                    <a:solidFill>
                      <a:srgbClr val="FFFFFF"/>
                    </a:solidFill>
                  </a:tcPr>
                </a:tc>
              </a:tr>
              <a:tr h="457200">
                <a:tc>
                  <a:txBody>
                    <a:bodyPr/>
                    <a:lstStyle/>
                    <a:p>
                      <a:r>
                        <a:rPr sz="1100" b="1">
                          <a:solidFill>
                            <a:srgbClr val="2B221E"/>
                          </a:solidFill>
                          <a:latin typeface="Calibri"/>
                        </a:rPr>
                        <a:t>White-label add-on</a:t>
                      </a:r>
                    </a:p>
                  </a:txBody>
                  <a:tcPr>
                    <a:solidFill>
                      <a:srgbClr val="FBEBD0"/>
                    </a:solidFill>
                  </a:tcPr>
                </a:tc>
                <a:tc>
                  <a:txBody>
                    <a:bodyPr/>
                    <a:lstStyle/>
                    <a:p>
                      <a:r>
                        <a:rPr sz="1100" b="0">
                          <a:solidFill>
                            <a:srgbClr val="2B221E"/>
                          </a:solidFill>
                          <a:latin typeface="Calibri"/>
                        </a:rPr>
                        <a:t>+₹15–₹60 per box</a:t>
                      </a:r>
                    </a:p>
                  </a:txBody>
                  <a:tcPr>
                    <a:solidFill>
                      <a:srgbClr val="FBEBD0"/>
                    </a:solidFill>
                  </a:tcPr>
                </a:tc>
                <a:tc>
                  <a:txBody>
                    <a:bodyPr/>
                    <a:lstStyle/>
                    <a:p>
                      <a:r>
                        <a:rPr sz="1100" b="0">
                          <a:solidFill>
                            <a:srgbClr val="2B221E"/>
                          </a:solidFill>
                          <a:latin typeface="Calibri"/>
                        </a:rPr>
                        <a:t>Client logo sticker/sleeve, greeting card, custom message</a:t>
                      </a:r>
                    </a:p>
                  </a:txBody>
                  <a:tcPr>
                    <a:solidFill>
                      <a:srgbClr val="FBEBD0"/>
                    </a:solidFill>
                  </a:tcPr>
                </a:tc>
                <a:tc>
                  <a:txBody>
                    <a:bodyPr/>
                    <a:lstStyle/>
                    <a:p>
                      <a:r>
                        <a:rPr sz="1100" b="0">
                          <a:solidFill>
                            <a:srgbClr val="2B221E"/>
                          </a:solidFill>
                          <a:latin typeface="Calibri"/>
                        </a:rPr>
                        <a:t>Any tier, MOQ applies</a:t>
                      </a:r>
                    </a:p>
                  </a:txBody>
                  <a:tcPr>
                    <a:solidFill>
                      <a:srgbClr val="FBEBD0"/>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PRODUCT RANGE</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Products: 15–20+ days shelf life first</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11</a:t>
            </a:r>
          </a:p>
        </p:txBody>
      </p:sp>
      <p:sp>
        <p:nvSpPr>
          <p:cNvPr id="8" name="Rounded Rectangle 7"/>
          <p:cNvSpPr/>
          <p:nvPr/>
        </p:nvSpPr>
        <p:spPr>
          <a:xfrm>
            <a:off x="548640" y="1463040"/>
            <a:ext cx="3611880" cy="475488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463040"/>
            <a:ext cx="3611880" cy="457200"/>
          </a:xfrm>
          <a:prstGeom prst="roundRect">
            <a:avLst>
              <a:gd name="adj" fmla="val 2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Sweet</a:t>
            </a:r>
          </a:p>
        </p:txBody>
      </p:sp>
      <p:sp>
        <p:nvSpPr>
          <p:cNvPr id="10" name="TextBox 9"/>
          <p:cNvSpPr txBox="1"/>
          <p:nvPr/>
        </p:nvSpPr>
        <p:spPr>
          <a:xfrm>
            <a:off x="594360" y="1993392"/>
            <a:ext cx="3520440" cy="4206240"/>
          </a:xfrm>
          <a:prstGeom prst="rect">
            <a:avLst/>
          </a:prstGeom>
          <a:noFill/>
        </p:spPr>
        <p:txBody>
          <a:bodyPr wrap="square">
            <a:spAutoFit/>
          </a:bodyPr>
          <a:lstStyle/>
          <a:p>
            <a:pPr>
              <a:spcAft>
                <a:spcPts val="200"/>
              </a:spcAft>
            </a:pPr>
            <a:r>
              <a:rPr sz="1300">
                <a:solidFill>
                  <a:srgbClr val="2B221E"/>
                </a:solidFill>
                <a:latin typeface="Calibri"/>
              </a:rPr>
              <a:t>•  Groundnut chikki  (60–90 d)</a:t>
            </a:r>
          </a:p>
          <a:p>
            <a:pPr>
              <a:spcAft>
                <a:spcPts val="200"/>
              </a:spcAft>
            </a:pPr>
            <a:r>
              <a:rPr sz="1300">
                <a:solidFill>
                  <a:srgbClr val="2B221E"/>
                </a:solidFill>
                <a:latin typeface="Calibri"/>
              </a:rPr>
              <a:t>•  Til chikki (black &amp; white)  (60–90 d)</a:t>
            </a:r>
          </a:p>
          <a:p>
            <a:pPr>
              <a:spcAft>
                <a:spcPts val="200"/>
              </a:spcAft>
            </a:pPr>
            <a:r>
              <a:rPr sz="1300">
                <a:solidFill>
                  <a:srgbClr val="2B221E"/>
                </a:solidFill>
                <a:latin typeface="Calibri"/>
              </a:rPr>
              <a:t>•  Dry-fruit chikki  (45–60 d)</a:t>
            </a:r>
          </a:p>
          <a:p>
            <a:pPr>
              <a:spcAft>
                <a:spcPts val="200"/>
              </a:spcAft>
            </a:pPr>
            <a:r>
              <a:rPr sz="1300">
                <a:solidFill>
                  <a:srgbClr val="2B221E"/>
                </a:solidFill>
                <a:latin typeface="Calibri"/>
              </a:rPr>
              <a:t>•  Puri unde (puffed-rice balls)  (20–30 d)</a:t>
            </a:r>
          </a:p>
          <a:p>
            <a:pPr>
              <a:spcAft>
                <a:spcPts val="200"/>
              </a:spcAft>
            </a:pPr>
            <a:r>
              <a:rPr sz="1300">
                <a:solidFill>
                  <a:srgbClr val="2B221E"/>
                </a:solidFill>
                <a:latin typeface="Calibri"/>
              </a:rPr>
              <a:t>•  Poha puffed-rice unde  (20–30 d)</a:t>
            </a:r>
          </a:p>
          <a:p>
            <a:pPr>
              <a:spcAft>
                <a:spcPts val="200"/>
              </a:spcAft>
            </a:pPr>
            <a:r>
              <a:rPr sz="1300">
                <a:solidFill>
                  <a:srgbClr val="2B221E"/>
                </a:solidFill>
                <a:latin typeface="Calibri"/>
              </a:rPr>
              <a:t>•  Kaja / square kaja  (15–20 d)</a:t>
            </a:r>
          </a:p>
          <a:p>
            <a:pPr>
              <a:spcAft>
                <a:spcPts val="200"/>
              </a:spcAft>
            </a:pPr>
            <a:r>
              <a:rPr sz="1300">
                <a:solidFill>
                  <a:srgbClr val="2B221E"/>
                </a:solidFill>
                <a:latin typeface="Calibri"/>
              </a:rPr>
              <a:t>•  Besan / boondi laddu  (10–15 d)</a:t>
            </a:r>
          </a:p>
          <a:p>
            <a:pPr>
              <a:spcAft>
                <a:spcPts val="200"/>
              </a:spcAft>
            </a:pPr>
            <a:r>
              <a:rPr sz="1300">
                <a:solidFill>
                  <a:srgbClr val="2B221E"/>
                </a:solidFill>
                <a:latin typeface="Calibri"/>
              </a:rPr>
              <a:t>•  Dry-fruit laddu  (20–30 d)</a:t>
            </a:r>
          </a:p>
          <a:p>
            <a:pPr>
              <a:spcAft>
                <a:spcPts val="200"/>
              </a:spcAft>
            </a:pPr>
            <a:r>
              <a:rPr sz="1300">
                <a:solidFill>
                  <a:srgbClr val="2B221E"/>
                </a:solidFill>
                <a:latin typeface="Calibri"/>
              </a:rPr>
              <a:t>•  Mysore pak  (15–20 d)</a:t>
            </a:r>
          </a:p>
        </p:txBody>
      </p:sp>
      <p:sp>
        <p:nvSpPr>
          <p:cNvPr id="11" name="Rounded Rectangle 10"/>
          <p:cNvSpPr/>
          <p:nvPr/>
        </p:nvSpPr>
        <p:spPr>
          <a:xfrm>
            <a:off x="4315968" y="1463040"/>
            <a:ext cx="3611880" cy="228600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15968" y="1463040"/>
            <a:ext cx="3611880" cy="457200"/>
          </a:xfrm>
          <a:prstGeom prst="roundRect">
            <a:avLst>
              <a:gd name="adj" fmla="val 2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Savory</a:t>
            </a:r>
          </a:p>
        </p:txBody>
      </p:sp>
      <p:sp>
        <p:nvSpPr>
          <p:cNvPr id="13" name="TextBox 12"/>
          <p:cNvSpPr txBox="1"/>
          <p:nvPr/>
        </p:nvSpPr>
        <p:spPr>
          <a:xfrm>
            <a:off x="4361688" y="1993392"/>
            <a:ext cx="3520440" cy="1737360"/>
          </a:xfrm>
          <a:prstGeom prst="rect">
            <a:avLst/>
          </a:prstGeom>
          <a:noFill/>
        </p:spPr>
        <p:txBody>
          <a:bodyPr wrap="square">
            <a:spAutoFit/>
          </a:bodyPr>
          <a:lstStyle/>
          <a:p>
            <a:pPr>
              <a:spcAft>
                <a:spcPts val="200"/>
              </a:spcAft>
            </a:pPr>
            <a:r>
              <a:rPr sz="1200">
                <a:solidFill>
                  <a:srgbClr val="2B221E"/>
                </a:solidFill>
                <a:latin typeface="Calibri"/>
              </a:rPr>
              <a:t>•  Khara / mixture namkeen  (30–45 d)</a:t>
            </a:r>
          </a:p>
          <a:p>
            <a:pPr>
              <a:spcAft>
                <a:spcPts val="200"/>
              </a:spcAft>
            </a:pPr>
            <a:r>
              <a:rPr sz="1200">
                <a:solidFill>
                  <a:srgbClr val="2B221E"/>
                </a:solidFill>
                <a:latin typeface="Calibri"/>
              </a:rPr>
              <a:t>•  Chakli / murukku  (30–45 d)</a:t>
            </a:r>
          </a:p>
          <a:p>
            <a:pPr>
              <a:spcAft>
                <a:spcPts val="200"/>
              </a:spcAft>
            </a:pPr>
            <a:r>
              <a:rPr sz="1200">
                <a:solidFill>
                  <a:srgbClr val="2B221E"/>
                </a:solidFill>
                <a:latin typeface="Calibri"/>
              </a:rPr>
              <a:t>•  Ribbon pakoda / chekkalu  (30–45 d)</a:t>
            </a:r>
          </a:p>
          <a:p>
            <a:pPr>
              <a:spcAft>
                <a:spcPts val="200"/>
              </a:spcAft>
            </a:pPr>
            <a:r>
              <a:rPr sz="1200">
                <a:solidFill>
                  <a:srgbClr val="2B221E"/>
                </a:solidFill>
                <a:latin typeface="Calibri"/>
              </a:rPr>
              <a:t>•  Roasted/spiced nuts  (60–90 d)</a:t>
            </a:r>
          </a:p>
        </p:txBody>
      </p:sp>
      <p:sp>
        <p:nvSpPr>
          <p:cNvPr id="14" name="Rounded Rectangle 13"/>
          <p:cNvSpPr/>
          <p:nvPr/>
        </p:nvSpPr>
        <p:spPr>
          <a:xfrm>
            <a:off x="8083296" y="1463040"/>
            <a:ext cx="3611880" cy="228600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83296" y="1463040"/>
            <a:ext cx="3611880" cy="457200"/>
          </a:xfrm>
          <a:prstGeom prst="roundRect">
            <a:avLst>
              <a:gd name="adj" fmla="val 25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Pantry</a:t>
            </a:r>
          </a:p>
        </p:txBody>
      </p:sp>
      <p:sp>
        <p:nvSpPr>
          <p:cNvPr id="16" name="TextBox 15"/>
          <p:cNvSpPr txBox="1"/>
          <p:nvPr/>
        </p:nvSpPr>
        <p:spPr>
          <a:xfrm>
            <a:off x="8129016" y="1993392"/>
            <a:ext cx="3520440" cy="1737360"/>
          </a:xfrm>
          <a:prstGeom prst="rect">
            <a:avLst/>
          </a:prstGeom>
          <a:noFill/>
        </p:spPr>
        <p:txBody>
          <a:bodyPr wrap="square">
            <a:spAutoFit/>
          </a:bodyPr>
          <a:lstStyle/>
          <a:p>
            <a:pPr>
              <a:spcAft>
                <a:spcPts val="200"/>
              </a:spcAft>
            </a:pPr>
            <a:r>
              <a:rPr sz="1200">
                <a:solidFill>
                  <a:srgbClr val="2B221E"/>
                </a:solidFill>
                <a:latin typeface="Calibri"/>
              </a:rPr>
              <a:t>•  Masala powders &amp; sambar powder  (180+ d)</a:t>
            </a:r>
          </a:p>
          <a:p>
            <a:pPr>
              <a:spcAft>
                <a:spcPts val="200"/>
              </a:spcAft>
            </a:pPr>
            <a:r>
              <a:rPr sz="1200">
                <a:solidFill>
                  <a:srgbClr val="2B221E"/>
                </a:solidFill>
                <a:latin typeface="Calibri"/>
              </a:rPr>
              <a:t>•  Pickles  (180+ d)</a:t>
            </a:r>
          </a:p>
          <a:p>
            <a:pPr>
              <a:spcAft>
                <a:spcPts val="200"/>
              </a:spcAft>
            </a:pPr>
            <a:r>
              <a:rPr sz="1200">
                <a:solidFill>
                  <a:srgbClr val="2B221E"/>
                </a:solidFill>
                <a:latin typeface="Calibri"/>
              </a:rPr>
              <a:t>•  Papads  (180+ d)</a:t>
            </a:r>
          </a:p>
        </p:txBody>
      </p:sp>
      <p:sp>
        <p:nvSpPr>
          <p:cNvPr id="17" name="Rounded Rectangle 16"/>
          <p:cNvSpPr/>
          <p:nvPr/>
        </p:nvSpPr>
        <p:spPr>
          <a:xfrm>
            <a:off x="4315968" y="3931920"/>
            <a:ext cx="3611880" cy="228600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15968" y="3931920"/>
            <a:ext cx="3611880" cy="457200"/>
          </a:xfrm>
          <a:prstGeom prst="roundRect">
            <a:avLst>
              <a:gd name="adj" fmla="val 2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Gifting</a:t>
            </a:r>
          </a:p>
        </p:txBody>
      </p:sp>
      <p:sp>
        <p:nvSpPr>
          <p:cNvPr id="19" name="TextBox 18"/>
          <p:cNvSpPr txBox="1"/>
          <p:nvPr/>
        </p:nvSpPr>
        <p:spPr>
          <a:xfrm>
            <a:off x="4361688" y="4462272"/>
            <a:ext cx="3520440" cy="1737360"/>
          </a:xfrm>
          <a:prstGeom prst="rect">
            <a:avLst/>
          </a:prstGeom>
          <a:noFill/>
        </p:spPr>
        <p:txBody>
          <a:bodyPr wrap="square">
            <a:spAutoFit/>
          </a:bodyPr>
          <a:lstStyle/>
          <a:p>
            <a:pPr>
              <a:spcAft>
                <a:spcPts val="200"/>
              </a:spcAft>
            </a:pPr>
            <a:r>
              <a:rPr sz="1200">
                <a:solidFill>
                  <a:srgbClr val="2B221E"/>
                </a:solidFill>
                <a:latin typeface="Calibri"/>
              </a:rPr>
              <a:t>•  Dry fruits assortment  (90+ d)</a:t>
            </a:r>
          </a:p>
        </p:txBody>
      </p:sp>
      <p:sp>
        <p:nvSpPr>
          <p:cNvPr id="20" name="Rounded Rectangle 19"/>
          <p:cNvSpPr/>
          <p:nvPr/>
        </p:nvSpPr>
        <p:spPr>
          <a:xfrm>
            <a:off x="8083296" y="3931920"/>
            <a:ext cx="3611880" cy="228600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83296" y="3931920"/>
            <a:ext cx="3611880" cy="457200"/>
          </a:xfrm>
          <a:prstGeom prst="roundRect">
            <a:avLst>
              <a:gd name="adj" fmla="val 25000"/>
            </a:avLst>
          </a:prstGeom>
          <a:solidFill>
            <a:srgbClr val="1F5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Rotating</a:t>
            </a:r>
          </a:p>
        </p:txBody>
      </p:sp>
      <p:sp>
        <p:nvSpPr>
          <p:cNvPr id="22" name="TextBox 21"/>
          <p:cNvSpPr txBox="1"/>
          <p:nvPr/>
        </p:nvSpPr>
        <p:spPr>
          <a:xfrm>
            <a:off x="8129016" y="4462272"/>
            <a:ext cx="3520440" cy="1737360"/>
          </a:xfrm>
          <a:prstGeom prst="rect">
            <a:avLst/>
          </a:prstGeom>
          <a:noFill/>
        </p:spPr>
        <p:txBody>
          <a:bodyPr wrap="square">
            <a:spAutoFit/>
          </a:bodyPr>
          <a:lstStyle/>
          <a:p>
            <a:pPr>
              <a:spcAft>
                <a:spcPts val="200"/>
              </a:spcAft>
            </a:pPr>
            <a:r>
              <a:rPr sz="1200">
                <a:solidFill>
                  <a:srgbClr val="2B221E"/>
                </a:solidFill>
                <a:latin typeface="Calibri"/>
              </a:rPr>
              <a:t>•  Weekly special (250 g box)  (7–20 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PACKAGING</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Attractive packaging wins the market</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12</a:t>
            </a:r>
          </a:p>
        </p:txBody>
      </p:sp>
      <p:sp>
        <p:nvSpPr>
          <p:cNvPr id="8" name="TextBox 7"/>
          <p:cNvSpPr txBox="1"/>
          <p:nvPr/>
        </p:nvSpPr>
        <p:spPr>
          <a:xfrm>
            <a:off x="548640" y="1463040"/>
            <a:ext cx="6766560" cy="4846320"/>
          </a:xfrm>
          <a:prstGeom prst="rect">
            <a:avLst/>
          </a:prstGeom>
          <a:noFill/>
        </p:spPr>
        <p:txBody>
          <a:bodyPr wrap="square">
            <a:spAutoFit/>
          </a:bodyPr>
          <a:lstStyle/>
          <a:p>
            <a:pPr>
              <a:spcAft>
                <a:spcPts val="800"/>
              </a:spcAft>
            </a:pPr>
            <a:r>
              <a:rPr sz="1400">
                <a:solidFill>
                  <a:srgbClr val="2B221E"/>
                </a:solidFill>
                <a:latin typeface="Calibri"/>
              </a:rPr>
              <a:t>•  See-through plastic boxes (already in use) for counters and the 250 g weekly item; move to food-grade PET with tamper seal.</a:t>
            </a:r>
          </a:p>
          <a:p>
            <a:pPr>
              <a:spcAft>
                <a:spcPts val="800"/>
              </a:spcAft>
            </a:pPr>
            <a:r>
              <a:rPr sz="1400">
                <a:solidFill>
                  <a:srgbClr val="2B221E"/>
                </a:solidFill>
                <a:latin typeface="Calibri"/>
              </a:rPr>
              <a:t>•  Branded stickers: temple brand + FSSAI number + MFD/best-before + ingredients + veg mark; client stickers for white-label.</a:t>
            </a:r>
          </a:p>
          <a:p>
            <a:pPr>
              <a:spcAft>
                <a:spcPts val="800"/>
              </a:spcAft>
            </a:pPr>
            <a:r>
              <a:rPr sz="1400">
                <a:solidFill>
                  <a:srgbClr val="2B221E"/>
                </a:solidFill>
                <a:latin typeface="Calibri"/>
              </a:rPr>
              <a:t>•  Printed rigid boxes for the Utsav tier; wooden boxes (stock in storeroom) for the Vaikuntha tier.</a:t>
            </a:r>
          </a:p>
          <a:p>
            <a:pPr>
              <a:spcAft>
                <a:spcPts val="800"/>
              </a:spcAft>
            </a:pPr>
            <a:r>
              <a:rPr sz="1400">
                <a:solidFill>
                  <a:srgbClr val="2B221E"/>
                </a:solidFill>
                <a:latin typeface="Calibri"/>
              </a:rPr>
              <a:t>•  Gift sleeve with a short story card: 'Prepared with devotion and offered to Sri Sri Radha Krishna'.</a:t>
            </a:r>
          </a:p>
          <a:p>
            <a:pPr>
              <a:spcAft>
                <a:spcPts val="800"/>
              </a:spcAft>
            </a:pPr>
            <a:r>
              <a:rPr sz="1400">
                <a:solidFill>
                  <a:srgbClr val="2B221E"/>
                </a:solidFill>
                <a:latin typeface="Calibri"/>
              </a:rPr>
              <a:t>•  Tins for 5 kg namkeen and premium nuts.</a:t>
            </a:r>
          </a:p>
          <a:p>
            <a:pPr>
              <a:spcAft>
                <a:spcPts val="800"/>
              </a:spcAft>
            </a:pPr>
            <a:r>
              <a:rPr sz="1400">
                <a:solidFill>
                  <a:srgbClr val="2B221E"/>
                </a:solidFill>
                <a:latin typeface="Calibri"/>
              </a:rPr>
              <a:t>•  Eco option: kraft paper boxes and cloth bags for premium buyers; reduce single-use plastic over time.</a:t>
            </a:r>
          </a:p>
          <a:p>
            <a:pPr>
              <a:spcAft>
                <a:spcPts val="800"/>
              </a:spcAft>
            </a:pPr>
            <a:r>
              <a:rPr sz="1400">
                <a:solidFill>
                  <a:srgbClr val="2B221E"/>
                </a:solidFill>
                <a:latin typeface="Calibri"/>
              </a:rPr>
              <a:t>•  Every pack carries a QR code to the online store and to donation pages (cross-sell).</a:t>
            </a:r>
          </a:p>
        </p:txBody>
      </p:sp>
      <p:sp>
        <p:nvSpPr>
          <p:cNvPr id="9" name="Rounded Rectangle 8"/>
          <p:cNvSpPr/>
          <p:nvPr/>
        </p:nvSpPr>
        <p:spPr>
          <a:xfrm>
            <a:off x="7589520" y="1463040"/>
            <a:ext cx="4069080" cy="475488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0" y="1463040"/>
            <a:ext cx="4069080" cy="457200"/>
          </a:xfrm>
          <a:prstGeom prst="roundRect">
            <a:avLst>
              <a:gd name="adj" fmla="val 2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Every pack carries</a:t>
            </a:r>
          </a:p>
        </p:txBody>
      </p:sp>
      <p:sp>
        <p:nvSpPr>
          <p:cNvPr id="11" name="TextBox 10"/>
          <p:cNvSpPr txBox="1"/>
          <p:nvPr/>
        </p:nvSpPr>
        <p:spPr>
          <a:xfrm>
            <a:off x="7635240" y="1993392"/>
            <a:ext cx="3977640" cy="4206240"/>
          </a:xfrm>
          <a:prstGeom prst="rect">
            <a:avLst/>
          </a:prstGeom>
          <a:noFill/>
        </p:spPr>
        <p:txBody>
          <a:bodyPr wrap="square">
            <a:spAutoFit/>
          </a:bodyPr>
          <a:lstStyle/>
          <a:p>
            <a:pPr>
              <a:spcAft>
                <a:spcPts val="200"/>
              </a:spcAft>
            </a:pPr>
            <a:r>
              <a:rPr sz="1300">
                <a:solidFill>
                  <a:srgbClr val="2B221E"/>
                </a:solidFill>
                <a:latin typeface="Calibri"/>
              </a:rPr>
              <a:t>•  Temple brand + story card</a:t>
            </a:r>
          </a:p>
          <a:p>
            <a:pPr>
              <a:spcAft>
                <a:spcPts val="200"/>
              </a:spcAft>
            </a:pPr>
            <a:r>
              <a:rPr sz="1300">
                <a:solidFill>
                  <a:srgbClr val="2B221E"/>
                </a:solidFill>
                <a:latin typeface="Calibri"/>
              </a:rPr>
              <a:t>•  FSSAI logo &amp; number</a:t>
            </a:r>
          </a:p>
          <a:p>
            <a:pPr>
              <a:spcAft>
                <a:spcPts val="200"/>
              </a:spcAft>
            </a:pPr>
            <a:r>
              <a:rPr sz="1300">
                <a:solidFill>
                  <a:srgbClr val="2B221E"/>
                </a:solidFill>
                <a:latin typeface="Calibri"/>
              </a:rPr>
              <a:t>•  MFD, best-before, batch</a:t>
            </a:r>
          </a:p>
          <a:p>
            <a:pPr>
              <a:spcAft>
                <a:spcPts val="200"/>
              </a:spcAft>
            </a:pPr>
            <a:r>
              <a:rPr sz="1300">
                <a:solidFill>
                  <a:srgbClr val="2B221E"/>
                </a:solidFill>
                <a:latin typeface="Calibri"/>
              </a:rPr>
              <a:t>•  Ingredients &amp; allergens</a:t>
            </a:r>
          </a:p>
          <a:p>
            <a:pPr>
              <a:spcAft>
                <a:spcPts val="200"/>
              </a:spcAft>
            </a:pPr>
            <a:r>
              <a:rPr sz="1300">
                <a:solidFill>
                  <a:srgbClr val="2B221E"/>
                </a:solidFill>
                <a:latin typeface="Calibri"/>
              </a:rPr>
              <a:t>•  Veg mark, net weight, MRP</a:t>
            </a:r>
          </a:p>
          <a:p>
            <a:pPr>
              <a:spcAft>
                <a:spcPts val="200"/>
              </a:spcAft>
            </a:pPr>
            <a:r>
              <a:rPr sz="1300">
                <a:solidFill>
                  <a:srgbClr val="2B221E"/>
                </a:solidFill>
                <a:latin typeface="Calibri"/>
              </a:rPr>
              <a:t>•  QR to store &amp; donation page</a:t>
            </a:r>
          </a:p>
          <a:p>
            <a:pPr>
              <a:spcAft>
                <a:spcPts val="200"/>
              </a:spcAft>
            </a:pPr>
            <a:r>
              <a:rPr sz="1300">
                <a:solidFill>
                  <a:srgbClr val="2B221E"/>
                </a:solidFill>
                <a:latin typeface="Calibri"/>
              </a:rPr>
              <a:t>•  Client logo (white-label)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GO-TO-MARKET</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Marketing: brand + network + technology</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13</a:t>
            </a:r>
          </a:p>
        </p:txBody>
      </p:sp>
      <p:sp>
        <p:nvSpPr>
          <p:cNvPr id="8" name="Rounded Rectangle 7"/>
          <p:cNvSpPr/>
          <p:nvPr/>
        </p:nvSpPr>
        <p:spPr>
          <a:xfrm>
            <a:off x="548640" y="1417320"/>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63040"/>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Brand story</a:t>
            </a:r>
          </a:p>
        </p:txBody>
      </p:sp>
      <p:sp>
        <p:nvSpPr>
          <p:cNvPr id="10" name="TextBox 9"/>
          <p:cNvSpPr txBox="1"/>
          <p:nvPr/>
        </p:nvSpPr>
        <p:spPr>
          <a:xfrm>
            <a:off x="640080" y="1719072"/>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'From the house of Radha Krishna': satvik, pure, no preservatives, no artificial colours, offered to the Deity, profits support temple service.</a:t>
            </a:r>
          </a:p>
        </p:txBody>
      </p:sp>
      <p:sp>
        <p:nvSpPr>
          <p:cNvPr id="11" name="Rounded Rectangle 10"/>
          <p:cNvSpPr/>
          <p:nvPr/>
        </p:nvSpPr>
        <p:spPr>
          <a:xfrm>
            <a:off x="6172200" y="1417320"/>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463040"/>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Databases</a:t>
            </a:r>
          </a:p>
        </p:txBody>
      </p:sp>
      <p:sp>
        <p:nvSpPr>
          <p:cNvPr id="13" name="TextBox 12"/>
          <p:cNvSpPr txBox="1"/>
          <p:nvPr/>
        </p:nvSpPr>
        <p:spPr>
          <a:xfrm>
            <a:off x="6263640" y="1719072"/>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Segment donor, visitor, event and corporate databases; AI scoring to find likely buyers (DMTT data scientists).</a:t>
            </a:r>
          </a:p>
        </p:txBody>
      </p:sp>
      <p:sp>
        <p:nvSpPr>
          <p:cNvPr id="14" name="Rounded Rectangle 13"/>
          <p:cNvSpPr/>
          <p:nvPr/>
        </p:nvSpPr>
        <p:spPr>
          <a:xfrm>
            <a:off x="548640" y="2395728"/>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441448"/>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WhatsApp / SMS / RCS</a:t>
            </a:r>
          </a:p>
        </p:txBody>
      </p:sp>
      <p:sp>
        <p:nvSpPr>
          <p:cNvPr id="16" name="TextBox 15"/>
          <p:cNvSpPr txBox="1"/>
          <p:nvPr/>
        </p:nvSpPr>
        <p:spPr>
          <a:xfrm>
            <a:off x="640080" y="2697480"/>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Festival broadcast calendars, catalogue links, one-tap reorder, community groups for gated societies.</a:t>
            </a:r>
          </a:p>
        </p:txBody>
      </p:sp>
      <p:sp>
        <p:nvSpPr>
          <p:cNvPr id="17" name="Rounded Rectangle 16"/>
          <p:cNvSpPr/>
          <p:nvPr/>
        </p:nvSpPr>
        <p:spPr>
          <a:xfrm>
            <a:off x="6172200" y="2395728"/>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2441448"/>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Google Ads</a:t>
            </a:r>
          </a:p>
        </p:txBody>
      </p:sp>
      <p:sp>
        <p:nvSpPr>
          <p:cNvPr id="19" name="TextBox 18"/>
          <p:cNvSpPr txBox="1"/>
          <p:nvPr/>
        </p:nvSpPr>
        <p:spPr>
          <a:xfrm>
            <a:off x="6263640" y="2697480"/>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Search: 'Diwali gift boxes Hyderabad', 'corporate gifts Hyderabad', 'satvik catering', 'pure ghee sweets online'.</a:t>
            </a:r>
          </a:p>
        </p:txBody>
      </p:sp>
      <p:sp>
        <p:nvSpPr>
          <p:cNvPr id="20" name="Rounded Rectangle 19"/>
          <p:cNvSpPr/>
          <p:nvPr/>
        </p:nvSpPr>
        <p:spPr>
          <a:xfrm>
            <a:off x="548640" y="3374136"/>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419856"/>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Meta Ads &amp; Instagram</a:t>
            </a:r>
          </a:p>
        </p:txBody>
      </p:sp>
      <p:sp>
        <p:nvSpPr>
          <p:cNvPr id="22" name="TextBox 21"/>
          <p:cNvSpPr txBox="1"/>
          <p:nvPr/>
        </p:nvSpPr>
        <p:spPr>
          <a:xfrm>
            <a:off x="640080" y="3675888"/>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Reels of prasadam preparation, Deity offering, festival crowds; flash sales for leftovers; retargeting.</a:t>
            </a:r>
          </a:p>
        </p:txBody>
      </p:sp>
      <p:sp>
        <p:nvSpPr>
          <p:cNvPr id="23" name="Rounded Rectangle 22"/>
          <p:cNvSpPr/>
          <p:nvPr/>
        </p:nvSpPr>
        <p:spPr>
          <a:xfrm>
            <a:off x="6172200" y="3374136"/>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419856"/>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SEO &amp; content</a:t>
            </a:r>
          </a:p>
        </p:txBody>
      </p:sp>
      <p:sp>
        <p:nvSpPr>
          <p:cNvPr id="25" name="TextBox 24"/>
          <p:cNvSpPr txBox="1"/>
          <p:nvPr/>
        </p:nvSpPr>
        <p:spPr>
          <a:xfrm>
            <a:off x="6263640" y="3675888"/>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Leverage existing top ranking; product pages, recipes, 'why satvik' articles; Google Business Profile for the food court.</a:t>
            </a:r>
          </a:p>
        </p:txBody>
      </p:sp>
      <p:sp>
        <p:nvSpPr>
          <p:cNvPr id="26" name="Rounded Rectangle 25"/>
          <p:cNvSpPr/>
          <p:nvPr/>
        </p:nvSpPr>
        <p:spPr>
          <a:xfrm>
            <a:off x="548640" y="4352544"/>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398264"/>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Owner-level selling</a:t>
            </a:r>
          </a:p>
        </p:txBody>
      </p:sp>
      <p:sp>
        <p:nvSpPr>
          <p:cNvPr id="28" name="TextBox 27"/>
          <p:cNvSpPr txBox="1"/>
          <p:nvPr/>
        </p:nvSpPr>
        <p:spPr>
          <a:xfrm>
            <a:off x="640080" y="4654296"/>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Personal meetings with company owners via chambers, BNI, Rotary, T-Hub; sample box + catalogue + price list.</a:t>
            </a:r>
          </a:p>
        </p:txBody>
      </p:sp>
      <p:sp>
        <p:nvSpPr>
          <p:cNvPr id="29" name="Rounded Rectangle 28"/>
          <p:cNvSpPr/>
          <p:nvPr/>
        </p:nvSpPr>
        <p:spPr>
          <a:xfrm>
            <a:off x="6172200" y="4352544"/>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4398264"/>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Events &amp; PR</a:t>
            </a:r>
          </a:p>
        </p:txBody>
      </p:sp>
      <p:sp>
        <p:nvSpPr>
          <p:cNvPr id="31" name="TextBox 30"/>
          <p:cNvSpPr txBox="1"/>
          <p:nvPr/>
        </p:nvSpPr>
        <p:spPr>
          <a:xfrm>
            <a:off x="6263640" y="4654296"/>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Record attempts, Dandiya tie-ups, stalls at chamber and BNI events; press on 'temple kitchen goes online'.</a:t>
            </a:r>
          </a:p>
        </p:txBody>
      </p:sp>
      <p:sp>
        <p:nvSpPr>
          <p:cNvPr id="32" name="Rounded Rectangle 31"/>
          <p:cNvSpPr/>
          <p:nvPr/>
        </p:nvSpPr>
        <p:spPr>
          <a:xfrm>
            <a:off x="548640" y="5330952"/>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376672"/>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On-campus visibility</a:t>
            </a:r>
          </a:p>
        </p:txBody>
      </p:sp>
      <p:sp>
        <p:nvSpPr>
          <p:cNvPr id="34" name="TextBox 33"/>
          <p:cNvSpPr txBox="1"/>
          <p:nvPr/>
        </p:nvSpPr>
        <p:spPr>
          <a:xfrm>
            <a:off x="640080" y="5632704"/>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Signage and QR codes at darshan exit, Goshala, waterfall, restaurant; 'take prasadam home' messaging.</a:t>
            </a:r>
          </a:p>
        </p:txBody>
      </p:sp>
      <p:sp>
        <p:nvSpPr>
          <p:cNvPr id="35" name="Rounded Rectangle 34"/>
          <p:cNvSpPr/>
          <p:nvPr/>
        </p:nvSpPr>
        <p:spPr>
          <a:xfrm>
            <a:off x="6172200" y="5330952"/>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5376672"/>
            <a:ext cx="5303520" cy="274320"/>
          </a:xfrm>
          <a:prstGeom prst="rect">
            <a:avLst/>
          </a:prstGeom>
          <a:noFill/>
        </p:spPr>
        <p:txBody>
          <a:bodyPr wrap="square" anchor="t" lIns="73152" rIns="73152" tIns="36576" bIns="36576">
            <a:spAutoFit/>
          </a:bodyPr>
          <a:lstStyle/>
          <a:p>
            <a:pPr algn="l"/>
            <a:r>
              <a:rPr sz="1200" b="1">
                <a:solidFill>
                  <a:srgbClr val="E07B00"/>
                </a:solidFill>
                <a:latin typeface="Calibri"/>
              </a:rPr>
              <a:t>Cross-sell</a:t>
            </a:r>
          </a:p>
        </p:txBody>
      </p:sp>
      <p:sp>
        <p:nvSpPr>
          <p:cNvPr id="37" name="TextBox 36"/>
          <p:cNvSpPr txBox="1"/>
          <p:nvPr/>
        </p:nvSpPr>
        <p:spPr>
          <a:xfrm>
            <a:off x="6263640" y="5632704"/>
            <a:ext cx="5303520" cy="566928"/>
          </a:xfrm>
          <a:prstGeom prst="rect">
            <a:avLst/>
          </a:prstGeom>
          <a:noFill/>
        </p:spPr>
        <p:txBody>
          <a:bodyPr wrap="square" anchor="t" lIns="73152" rIns="73152" tIns="36576" bIns="36576">
            <a:spAutoFit/>
          </a:bodyPr>
          <a:lstStyle/>
          <a:p>
            <a:pPr algn="l"/>
            <a:r>
              <a:rPr sz="1000" b="0">
                <a:solidFill>
                  <a:srgbClr val="2B221E"/>
                </a:solidFill>
                <a:latin typeface="Calibri"/>
              </a:rPr>
              <a:t>QR on every pack to store and donation pages; prasadam with donation receipts; yatra packs.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SALES FUNNEL</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From first touch to repeat order</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14</a:t>
            </a:r>
          </a:p>
        </p:txBody>
      </p:sp>
      <p:sp>
        <p:nvSpPr>
          <p:cNvPr id="8" name="Rounded Rectangle 7"/>
          <p:cNvSpPr/>
          <p:nvPr/>
        </p:nvSpPr>
        <p:spPr>
          <a:xfrm>
            <a:off x="548640" y="1508760"/>
            <a:ext cx="5669280" cy="685800"/>
          </a:xfrm>
          <a:prstGeom prst="roundRect">
            <a:avLst>
              <a:gd name="adj" fmla="val 20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Awareness</a:t>
            </a:r>
          </a:p>
        </p:txBody>
      </p:sp>
      <p:sp>
        <p:nvSpPr>
          <p:cNvPr id="9" name="TextBox 8"/>
          <p:cNvSpPr txBox="1"/>
          <p:nvPr/>
        </p:nvSpPr>
        <p:spPr>
          <a:xfrm>
            <a:off x="6492240" y="1554480"/>
            <a:ext cx="5212080" cy="640080"/>
          </a:xfrm>
          <a:prstGeom prst="rect">
            <a:avLst/>
          </a:prstGeom>
          <a:noFill/>
        </p:spPr>
        <p:txBody>
          <a:bodyPr wrap="square" anchor="ctr" lIns="73152" rIns="73152" tIns="36576" bIns="36576">
            <a:spAutoFit/>
          </a:bodyPr>
          <a:lstStyle/>
          <a:p>
            <a:pPr algn="l"/>
            <a:r>
              <a:rPr sz="1200" b="0">
                <a:solidFill>
                  <a:srgbClr val="2B221E"/>
                </a:solidFill>
                <a:latin typeface="Calibri"/>
              </a:rPr>
              <a:t>Festival crowds, social reels, SEO, chamber/BNI events</a:t>
            </a:r>
          </a:p>
        </p:txBody>
      </p:sp>
      <p:sp>
        <p:nvSpPr>
          <p:cNvPr id="10" name="Rounded Rectangle 9"/>
          <p:cNvSpPr/>
          <p:nvPr/>
        </p:nvSpPr>
        <p:spPr>
          <a:xfrm>
            <a:off x="868680" y="2286000"/>
            <a:ext cx="5029200" cy="685800"/>
          </a:xfrm>
          <a:prstGeom prst="roundRect">
            <a:avLst>
              <a:gd name="adj" fmla="val 2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Interest</a:t>
            </a:r>
          </a:p>
        </p:txBody>
      </p:sp>
      <p:sp>
        <p:nvSpPr>
          <p:cNvPr id="11" name="TextBox 10"/>
          <p:cNvSpPr txBox="1"/>
          <p:nvPr/>
        </p:nvSpPr>
        <p:spPr>
          <a:xfrm>
            <a:off x="6492240" y="2331720"/>
            <a:ext cx="5212080" cy="640080"/>
          </a:xfrm>
          <a:prstGeom prst="rect">
            <a:avLst/>
          </a:prstGeom>
          <a:noFill/>
        </p:spPr>
        <p:txBody>
          <a:bodyPr wrap="square" anchor="ctr" lIns="73152" rIns="73152" tIns="36576" bIns="36576">
            <a:spAutoFit/>
          </a:bodyPr>
          <a:lstStyle/>
          <a:p>
            <a:pPr algn="l"/>
            <a:r>
              <a:rPr sz="1200" b="0">
                <a:solidFill>
                  <a:srgbClr val="2B221E"/>
                </a:solidFill>
                <a:latin typeface="Calibri"/>
              </a:rPr>
              <a:t>Catalogue on WhatsApp, website product pages, sample boxes</a:t>
            </a:r>
          </a:p>
        </p:txBody>
      </p:sp>
      <p:sp>
        <p:nvSpPr>
          <p:cNvPr id="12" name="Rounded Rectangle 11"/>
          <p:cNvSpPr/>
          <p:nvPr/>
        </p:nvSpPr>
        <p:spPr>
          <a:xfrm>
            <a:off x="1188720" y="3063239"/>
            <a:ext cx="4389120" cy="685800"/>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Consideration</a:t>
            </a:r>
          </a:p>
        </p:txBody>
      </p:sp>
      <p:sp>
        <p:nvSpPr>
          <p:cNvPr id="13" name="TextBox 12"/>
          <p:cNvSpPr txBox="1"/>
          <p:nvPr/>
        </p:nvSpPr>
        <p:spPr>
          <a:xfrm>
            <a:off x="6492240" y="3108960"/>
            <a:ext cx="5212080" cy="640080"/>
          </a:xfrm>
          <a:prstGeom prst="rect">
            <a:avLst/>
          </a:prstGeom>
          <a:noFill/>
        </p:spPr>
        <p:txBody>
          <a:bodyPr wrap="square" anchor="ctr" lIns="73152" rIns="73152" tIns="36576" bIns="36576">
            <a:spAutoFit/>
          </a:bodyPr>
          <a:lstStyle/>
          <a:p>
            <a:pPr algn="l"/>
            <a:r>
              <a:rPr sz="1200" b="0">
                <a:solidFill>
                  <a:srgbClr val="2B221E"/>
                </a:solidFill>
                <a:latin typeface="Calibri"/>
              </a:rPr>
              <a:t>Owner meeting, price list, white-label mock-up, reviews</a:t>
            </a:r>
          </a:p>
        </p:txBody>
      </p:sp>
      <p:sp>
        <p:nvSpPr>
          <p:cNvPr id="14" name="Rounded Rectangle 13"/>
          <p:cNvSpPr/>
          <p:nvPr/>
        </p:nvSpPr>
        <p:spPr>
          <a:xfrm>
            <a:off x="1508760" y="3840479"/>
            <a:ext cx="3749040" cy="68580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Purchase</a:t>
            </a:r>
          </a:p>
        </p:txBody>
      </p:sp>
      <p:sp>
        <p:nvSpPr>
          <p:cNvPr id="15" name="TextBox 14"/>
          <p:cNvSpPr txBox="1"/>
          <p:nvPr/>
        </p:nvSpPr>
        <p:spPr>
          <a:xfrm>
            <a:off x="6492240" y="3886200"/>
            <a:ext cx="5212080" cy="640080"/>
          </a:xfrm>
          <a:prstGeom prst="rect">
            <a:avLst/>
          </a:prstGeom>
          <a:noFill/>
        </p:spPr>
        <p:txBody>
          <a:bodyPr wrap="square" anchor="ctr" lIns="73152" rIns="73152" tIns="36576" bIns="36576">
            <a:spAutoFit/>
          </a:bodyPr>
          <a:lstStyle/>
          <a:p>
            <a:pPr algn="l"/>
            <a:r>
              <a:rPr sz="1200" b="0">
                <a:solidFill>
                  <a:srgbClr val="2B221E"/>
                </a:solidFill>
                <a:latin typeface="Calibri"/>
              </a:rPr>
              <a:t>Online checkout / PO with advance / UPI at stall</a:t>
            </a:r>
          </a:p>
        </p:txBody>
      </p:sp>
      <p:sp>
        <p:nvSpPr>
          <p:cNvPr id="16" name="Rounded Rectangle 15"/>
          <p:cNvSpPr/>
          <p:nvPr/>
        </p:nvSpPr>
        <p:spPr>
          <a:xfrm>
            <a:off x="1828800" y="4617720"/>
            <a:ext cx="3108960" cy="685800"/>
          </a:xfrm>
          <a:prstGeom prst="roundRect">
            <a:avLst>
              <a:gd name="adj" fmla="val 20000"/>
            </a:avLst>
          </a:prstGeom>
          <a:solidFill>
            <a:srgbClr val="1F5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Delivery &amp; delight</a:t>
            </a:r>
          </a:p>
        </p:txBody>
      </p:sp>
      <p:sp>
        <p:nvSpPr>
          <p:cNvPr id="17" name="TextBox 16"/>
          <p:cNvSpPr txBox="1"/>
          <p:nvPr/>
        </p:nvSpPr>
        <p:spPr>
          <a:xfrm>
            <a:off x="6492240" y="4663440"/>
            <a:ext cx="5212080" cy="640080"/>
          </a:xfrm>
          <a:prstGeom prst="rect">
            <a:avLst/>
          </a:prstGeom>
          <a:noFill/>
        </p:spPr>
        <p:txBody>
          <a:bodyPr wrap="square" anchor="ctr" lIns="73152" rIns="73152" tIns="36576" bIns="36576">
            <a:spAutoFit/>
          </a:bodyPr>
          <a:lstStyle/>
          <a:p>
            <a:pPr algn="l"/>
            <a:r>
              <a:rPr sz="1200" b="0">
                <a:solidFill>
                  <a:srgbClr val="2B221E"/>
                </a:solidFill>
                <a:latin typeface="Calibri"/>
              </a:rPr>
              <a:t>On-time dispatch, story card, feedback call</a:t>
            </a:r>
          </a:p>
        </p:txBody>
      </p:sp>
      <p:sp>
        <p:nvSpPr>
          <p:cNvPr id="18" name="Rounded Rectangle 17"/>
          <p:cNvSpPr/>
          <p:nvPr/>
        </p:nvSpPr>
        <p:spPr>
          <a:xfrm>
            <a:off x="2148840" y="5394960"/>
            <a:ext cx="2468880" cy="685800"/>
          </a:xfrm>
          <a:prstGeom prst="roundRect">
            <a:avLst>
              <a:gd name="adj" fmla="val 20000"/>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Repeat &amp; referral</a:t>
            </a:r>
          </a:p>
        </p:txBody>
      </p:sp>
      <p:sp>
        <p:nvSpPr>
          <p:cNvPr id="19" name="TextBox 18"/>
          <p:cNvSpPr txBox="1"/>
          <p:nvPr/>
        </p:nvSpPr>
        <p:spPr>
          <a:xfrm>
            <a:off x="6492240" y="5440680"/>
            <a:ext cx="5212080" cy="640080"/>
          </a:xfrm>
          <a:prstGeom prst="rect">
            <a:avLst/>
          </a:prstGeom>
          <a:noFill/>
        </p:spPr>
        <p:txBody>
          <a:bodyPr wrap="square" anchor="ctr" lIns="73152" rIns="73152" tIns="36576" bIns="36576">
            <a:spAutoFit/>
          </a:bodyPr>
          <a:lstStyle/>
          <a:p>
            <a:pPr algn="l"/>
            <a:r>
              <a:rPr sz="1200" b="0">
                <a:solidFill>
                  <a:srgbClr val="2B221E"/>
                </a:solidFill>
                <a:latin typeface="Calibri"/>
              </a:rPr>
              <a:t>Festival calendar reminders, subscription, referral rewards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TEMPLE CAMPUS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Festival stalls: 10× by going where the crowd is</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15</a:t>
            </a:r>
          </a:p>
        </p:txBody>
      </p:sp>
      <p:sp>
        <p:nvSpPr>
          <p:cNvPr id="8" name="Rounded Rectangle 7"/>
          <p:cNvSpPr/>
          <p:nvPr/>
        </p:nvSpPr>
        <p:spPr>
          <a:xfrm>
            <a:off x="548640" y="15087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Main entrance</a:t>
            </a:r>
          </a:p>
        </p:txBody>
      </p:sp>
      <p:sp>
        <p:nvSpPr>
          <p:cNvPr id="9" name="Rounded Rectangle 8"/>
          <p:cNvSpPr/>
          <p:nvPr/>
        </p:nvSpPr>
        <p:spPr>
          <a:xfrm>
            <a:off x="3355848" y="15087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Darshan exit queue</a:t>
            </a:r>
          </a:p>
        </p:txBody>
      </p:sp>
      <p:sp>
        <p:nvSpPr>
          <p:cNvPr id="10" name="Rounded Rectangle 9"/>
          <p:cNvSpPr/>
          <p:nvPr/>
        </p:nvSpPr>
        <p:spPr>
          <a:xfrm>
            <a:off x="6163055" y="15087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Goshala walking path</a:t>
            </a:r>
          </a:p>
        </p:txBody>
      </p:sp>
      <p:sp>
        <p:nvSpPr>
          <p:cNvPr id="11" name="Rounded Rectangle 10"/>
          <p:cNvSpPr/>
          <p:nvPr/>
        </p:nvSpPr>
        <p:spPr>
          <a:xfrm>
            <a:off x="8970263" y="15087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Staircases</a:t>
            </a:r>
          </a:p>
        </p:txBody>
      </p:sp>
      <p:sp>
        <p:nvSpPr>
          <p:cNvPr id="12" name="Rounded Rectangle 11"/>
          <p:cNvSpPr/>
          <p:nvPr/>
        </p:nvSpPr>
        <p:spPr>
          <a:xfrm>
            <a:off x="548640" y="24231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Garden / lawn</a:t>
            </a:r>
          </a:p>
        </p:txBody>
      </p:sp>
      <p:sp>
        <p:nvSpPr>
          <p:cNvPr id="13" name="Rounded Rectangle 12"/>
          <p:cNvSpPr/>
          <p:nvPr/>
        </p:nvSpPr>
        <p:spPr>
          <a:xfrm>
            <a:off x="3355848" y="24231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Waterfall &amp; benches</a:t>
            </a:r>
          </a:p>
        </p:txBody>
      </p:sp>
      <p:sp>
        <p:nvSpPr>
          <p:cNvPr id="14" name="Rounded Rectangle 13"/>
          <p:cNvSpPr/>
          <p:nvPr/>
        </p:nvSpPr>
        <p:spPr>
          <a:xfrm>
            <a:off x="6163055" y="24231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Goshala entrance → Samskara</a:t>
            </a:r>
          </a:p>
        </p:txBody>
      </p:sp>
      <p:sp>
        <p:nvSpPr>
          <p:cNvPr id="15" name="Rounded Rectangle 14"/>
          <p:cNvSpPr/>
          <p:nvPr/>
        </p:nvSpPr>
        <p:spPr>
          <a:xfrm>
            <a:off x="8970263" y="2423160"/>
            <a:ext cx="2651760" cy="749808"/>
          </a:xfrm>
          <a:prstGeom prst="roundRect">
            <a:avLst>
              <a:gd name="adj" fmla="val 25000"/>
            </a:avLst>
          </a:prstGeom>
          <a:solidFill>
            <a:srgbClr val="FFFFFF"/>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7A1F2B"/>
                </a:solidFill>
                <a:latin typeface="Calibri"/>
              </a:rPr>
              <a:t>Restaurant takes the lawn</a:t>
            </a:r>
          </a:p>
        </p:txBody>
      </p:sp>
      <p:sp>
        <p:nvSpPr>
          <p:cNvPr id="16" name="TextBox 15"/>
          <p:cNvSpPr txBox="1"/>
          <p:nvPr/>
        </p:nvSpPr>
        <p:spPr>
          <a:xfrm>
            <a:off x="548640" y="3520440"/>
            <a:ext cx="11155680" cy="2743200"/>
          </a:xfrm>
          <a:prstGeom prst="rect">
            <a:avLst/>
          </a:prstGeom>
          <a:noFill/>
        </p:spPr>
        <p:txBody>
          <a:bodyPr wrap="square">
            <a:spAutoFit/>
          </a:bodyPr>
          <a:lstStyle/>
          <a:p>
            <a:pPr>
              <a:spcAft>
                <a:spcPts val="400"/>
              </a:spcAft>
            </a:pPr>
            <a:r>
              <a:rPr sz="1400">
                <a:solidFill>
                  <a:srgbClr val="2B221E"/>
                </a:solidFill>
                <a:latin typeface="Calibri"/>
              </a:rPr>
              <a:t>•  One stall draws 10–50 people and the rest walk away. Put many counters in a row.</a:t>
            </a:r>
          </a:p>
          <a:p>
            <a:pPr>
              <a:spcAft>
                <a:spcPts val="400"/>
              </a:spcAft>
            </a:pPr>
            <a:r>
              <a:rPr sz="1400">
                <a:solidFill>
                  <a:srgbClr val="2B221E"/>
                </a:solidFill>
                <a:latin typeface="Calibri"/>
              </a:rPr>
              <a:t>•  Pre-packed combos (₹100/₹200/₹500), UPI at every counter, runners restock every hour.</a:t>
            </a:r>
          </a:p>
          <a:p>
            <a:pPr>
              <a:spcAft>
                <a:spcPts val="400"/>
              </a:spcAft>
            </a:pPr>
            <a:r>
              <a:rPr sz="1400">
                <a:solidFill>
                  <a:srgbClr val="2B221E"/>
                </a:solidFill>
                <a:latin typeface="Calibri"/>
              </a:rPr>
              <a:t>•  Permanent rain-proof pagodas: closed in rain, open otherwise.</a:t>
            </a:r>
          </a:p>
          <a:p>
            <a:pPr>
              <a:spcAft>
                <a:spcPts val="400"/>
              </a:spcAft>
            </a:pPr>
            <a:r>
              <a:rPr sz="1400">
                <a:solidFill>
                  <a:srgbClr val="2B221E"/>
                </a:solidFill>
                <a:latin typeface="Calibri"/>
              </a:rPr>
              <a:t>•  Passive selling: we are not pushing. People choose to approach, so this is not commercialising the temple.</a:t>
            </a:r>
          </a:p>
          <a:p>
            <a:pPr>
              <a:spcAft>
                <a:spcPts val="400"/>
              </a:spcAft>
            </a:pPr>
            <a:r>
              <a:rPr sz="1400">
                <a:solidFill>
                  <a:srgbClr val="2B221E"/>
                </a:solidFill>
                <a:latin typeface="Calibri"/>
              </a:rPr>
              <a:t>•  Shelf-stable stock is the hedge: leftovers go online / Instagram within 48 hours.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OPERATIONS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Operations: start with what we have</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16</a:t>
            </a:r>
          </a:p>
        </p:txBody>
      </p:sp>
      <p:sp>
        <p:nvSpPr>
          <p:cNvPr id="8" name="Rounded Rectangle 7"/>
          <p:cNvSpPr/>
          <p:nvPr/>
        </p:nvSpPr>
        <p:spPr>
          <a:xfrm>
            <a:off x="548640" y="1417320"/>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63040"/>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Kitchen &amp; production</a:t>
            </a:r>
          </a:p>
        </p:txBody>
      </p:sp>
      <p:sp>
        <p:nvSpPr>
          <p:cNvPr id="10" name="TextBox 9"/>
          <p:cNvSpPr txBox="1"/>
          <p:nvPr/>
        </p:nvSpPr>
        <p:spPr>
          <a:xfrm>
            <a:off x="640080" y="1719072"/>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Start in the existing/new kitchen with 4 staff + 1 hire now; add seasonal staff for hero campaigns; exclusive cook once weekly volume is committed; later a dedicated unit (converted building outside the temple).</a:t>
            </a:r>
          </a:p>
        </p:txBody>
      </p:sp>
      <p:sp>
        <p:nvSpPr>
          <p:cNvPr id="11" name="Rounded Rectangle 10"/>
          <p:cNvSpPr/>
          <p:nvPr/>
        </p:nvSpPr>
        <p:spPr>
          <a:xfrm>
            <a:off x="6172200" y="1417320"/>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463040"/>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Standard recipes</a:t>
            </a:r>
          </a:p>
        </p:txBody>
      </p:sp>
      <p:sp>
        <p:nvSpPr>
          <p:cNvPr id="13" name="TextBox 12"/>
          <p:cNvSpPr txBox="1"/>
          <p:nvPr/>
        </p:nvSpPr>
        <p:spPr>
          <a:xfrm>
            <a:off x="6263640" y="1719072"/>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Written recipes and yield sheets for every SKU so taste and cost stay constant; batch records.</a:t>
            </a:r>
          </a:p>
        </p:txBody>
      </p:sp>
      <p:sp>
        <p:nvSpPr>
          <p:cNvPr id="14" name="Rounded Rectangle 13"/>
          <p:cNvSpPr/>
          <p:nvPr/>
        </p:nvSpPr>
        <p:spPr>
          <a:xfrm>
            <a:off x="548640" y="2395728"/>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441448"/>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Shelf-life &amp; quality</a:t>
            </a:r>
          </a:p>
        </p:txBody>
      </p:sp>
      <p:sp>
        <p:nvSpPr>
          <p:cNvPr id="16" name="TextBox 15"/>
          <p:cNvSpPr txBox="1"/>
          <p:nvPr/>
        </p:nvSpPr>
        <p:spPr>
          <a:xfrm>
            <a:off x="640080" y="2697480"/>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Lab shelf-life test per SKU before online launch; moisture-proof packing; first-in-first-out; batch codes.</a:t>
            </a:r>
          </a:p>
        </p:txBody>
      </p:sp>
      <p:sp>
        <p:nvSpPr>
          <p:cNvPr id="17" name="Rounded Rectangle 16"/>
          <p:cNvSpPr/>
          <p:nvPr/>
        </p:nvSpPr>
        <p:spPr>
          <a:xfrm>
            <a:off x="6172200" y="2395728"/>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2441448"/>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Procurement</a:t>
            </a:r>
          </a:p>
        </p:txBody>
      </p:sp>
      <p:sp>
        <p:nvSpPr>
          <p:cNvPr id="19" name="TextBox 18"/>
          <p:cNvSpPr txBox="1"/>
          <p:nvPr/>
        </p:nvSpPr>
        <p:spPr>
          <a:xfrm>
            <a:off x="6263640" y="2697480"/>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Use negotiated temple vendor rates; bulk-buy ghee, jaggery, groundnut, dry fruits before festival season; two suppliers per key item.</a:t>
            </a:r>
          </a:p>
        </p:txBody>
      </p:sp>
      <p:sp>
        <p:nvSpPr>
          <p:cNvPr id="20" name="Rounded Rectangle 19"/>
          <p:cNvSpPr/>
          <p:nvPr/>
        </p:nvSpPr>
        <p:spPr>
          <a:xfrm>
            <a:off x="548640" y="3374136"/>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419856"/>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Storage</a:t>
            </a:r>
          </a:p>
        </p:txBody>
      </p:sp>
      <p:sp>
        <p:nvSpPr>
          <p:cNvPr id="22" name="TextBox 21"/>
          <p:cNvSpPr txBox="1"/>
          <p:nvPr/>
        </p:nvSpPr>
        <p:spPr>
          <a:xfrm>
            <a:off x="640080" y="3675888"/>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Dry store with racks, pest control and temperature/humidity monitoring; separate finished-goods store.</a:t>
            </a:r>
          </a:p>
        </p:txBody>
      </p:sp>
      <p:sp>
        <p:nvSpPr>
          <p:cNvPr id="23" name="Rounded Rectangle 22"/>
          <p:cNvSpPr/>
          <p:nvPr/>
        </p:nvSpPr>
        <p:spPr>
          <a:xfrm>
            <a:off x="6172200" y="3374136"/>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419856"/>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Order management</a:t>
            </a:r>
          </a:p>
        </p:txBody>
      </p:sp>
      <p:sp>
        <p:nvSpPr>
          <p:cNvPr id="25" name="TextBox 24"/>
          <p:cNvSpPr txBox="1"/>
          <p:nvPr/>
        </p:nvSpPr>
        <p:spPr>
          <a:xfrm>
            <a:off x="6263640" y="3675888"/>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One system for all orders (internal, B2B, online, festival): Shopify/ERP + production calendar; weekly minimum orders; festival forecasts from the calendar.</a:t>
            </a:r>
          </a:p>
        </p:txBody>
      </p:sp>
      <p:sp>
        <p:nvSpPr>
          <p:cNvPr id="26" name="Rounded Rectangle 25"/>
          <p:cNvSpPr/>
          <p:nvPr/>
        </p:nvSpPr>
        <p:spPr>
          <a:xfrm>
            <a:off x="548640" y="4352544"/>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398264"/>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Fulfilment</a:t>
            </a:r>
          </a:p>
        </p:txBody>
      </p:sp>
      <p:sp>
        <p:nvSpPr>
          <p:cNvPr id="28" name="TextBox 27"/>
          <p:cNvSpPr txBox="1"/>
          <p:nvPr/>
        </p:nvSpPr>
        <p:spPr>
          <a:xfrm>
            <a:off x="640080" y="4654296"/>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Reuse donor-dispatch set-up; courier aggregator for fastest partner; own vehicle for Hyderabad B2B; Amazon for marketplace.</a:t>
            </a:r>
          </a:p>
        </p:txBody>
      </p:sp>
      <p:sp>
        <p:nvSpPr>
          <p:cNvPr id="29" name="Rounded Rectangle 28"/>
          <p:cNvSpPr/>
          <p:nvPr/>
        </p:nvSpPr>
        <p:spPr>
          <a:xfrm>
            <a:off x="6172200" y="4352544"/>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4398264"/>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Festival stall SOP</a:t>
            </a:r>
          </a:p>
        </p:txBody>
      </p:sp>
      <p:sp>
        <p:nvSpPr>
          <p:cNvPr id="31" name="TextBox 30"/>
          <p:cNvSpPr txBox="1"/>
          <p:nvPr/>
        </p:nvSpPr>
        <p:spPr>
          <a:xfrm>
            <a:off x="6263640" y="4654296"/>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Layout map, stall kit (pagoda, table, POS, UPI QR, signage), cash-handling rules, hourly restocking runners, stock-out alerts.</a:t>
            </a:r>
          </a:p>
        </p:txBody>
      </p:sp>
      <p:sp>
        <p:nvSpPr>
          <p:cNvPr id="32" name="Rounded Rectangle 31"/>
          <p:cNvSpPr/>
          <p:nvPr/>
        </p:nvSpPr>
        <p:spPr>
          <a:xfrm>
            <a:off x="548640" y="5330952"/>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376672"/>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Compliance</a:t>
            </a:r>
          </a:p>
        </p:txBody>
      </p:sp>
      <p:sp>
        <p:nvSpPr>
          <p:cNvPr id="34" name="TextBox 33"/>
          <p:cNvSpPr txBox="1"/>
          <p:nvPr/>
        </p:nvSpPr>
        <p:spPr>
          <a:xfrm>
            <a:off x="640080" y="5632704"/>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FSSAI registration/licence matched to turnover, labelling (MFD, best-before, ingredients, veg mark, FSSAI no.), GST 5%, trade licence, fire NOC, staff medical checks, water testing.</a:t>
            </a:r>
          </a:p>
        </p:txBody>
      </p:sp>
      <p:sp>
        <p:nvSpPr>
          <p:cNvPr id="35" name="Rounded Rectangle 34"/>
          <p:cNvSpPr/>
          <p:nvPr/>
        </p:nvSpPr>
        <p:spPr>
          <a:xfrm>
            <a:off x="6172200" y="5330952"/>
            <a:ext cx="5486400" cy="886968"/>
          </a:xfrm>
          <a:prstGeom prst="roundRect">
            <a:avLst>
              <a:gd name="adj" fmla="val 10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5376672"/>
            <a:ext cx="5303520" cy="274320"/>
          </a:xfrm>
          <a:prstGeom prst="rect">
            <a:avLst/>
          </a:prstGeom>
          <a:noFill/>
        </p:spPr>
        <p:txBody>
          <a:bodyPr wrap="square" anchor="t" lIns="73152" rIns="73152" tIns="36576" bIns="36576">
            <a:spAutoFit/>
          </a:bodyPr>
          <a:lstStyle/>
          <a:p>
            <a:pPr algn="l"/>
            <a:r>
              <a:rPr sz="1200" b="1">
                <a:solidFill>
                  <a:srgbClr val="7A1F2B"/>
                </a:solidFill>
                <a:latin typeface="Calibri"/>
              </a:rPr>
              <a:t>Finance &amp; ROI (DMTT)</a:t>
            </a:r>
          </a:p>
        </p:txBody>
      </p:sp>
      <p:sp>
        <p:nvSpPr>
          <p:cNvPr id="37" name="TextBox 36"/>
          <p:cNvSpPr txBox="1"/>
          <p:nvPr/>
        </p:nvSpPr>
        <p:spPr>
          <a:xfrm>
            <a:off x="6263640" y="5632704"/>
            <a:ext cx="5303520" cy="566928"/>
          </a:xfrm>
          <a:prstGeom prst="rect">
            <a:avLst/>
          </a:prstGeom>
          <a:noFill/>
        </p:spPr>
        <p:txBody>
          <a:bodyPr wrap="square" anchor="t" lIns="73152" rIns="73152" tIns="36576" bIns="36576">
            <a:spAutoFit/>
          </a:bodyPr>
          <a:lstStyle/>
          <a:p>
            <a:pPr algn="l"/>
            <a:r>
              <a:rPr sz="950" b="0">
                <a:solidFill>
                  <a:srgbClr val="2B221E"/>
                </a:solidFill>
                <a:latin typeface="Calibri"/>
              </a:rPr>
              <a:t>Separate cost centre; track revenue, ingredient cost, packaging, salaries, marketing, hours spent by each team; monthly P&amp;L and ROI dashboard.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PROCESS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One order flow for every channel</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17</a:t>
            </a:r>
          </a:p>
        </p:txBody>
      </p:sp>
      <p:sp>
        <p:nvSpPr>
          <p:cNvPr id="8" name="Rounded Rectangle 7"/>
          <p:cNvSpPr/>
          <p:nvPr/>
        </p:nvSpPr>
        <p:spPr>
          <a:xfrm>
            <a:off x="502920" y="2377440"/>
            <a:ext cx="1463040" cy="1463040"/>
          </a:xfrm>
          <a:prstGeom prst="roundRect">
            <a:avLst>
              <a:gd name="adj" fmla="val 1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Order in</a:t>
            </a:r>
          </a:p>
          <a:p>
            <a:pPr algn="ctr"/>
            <a:r>
              <a:rPr sz="1100" b="1">
                <a:solidFill>
                  <a:srgbClr val="FFFFFF"/>
                </a:solidFill>
                <a:latin typeface="Calibri"/>
              </a:rPr>
              <a:t>(internal / B2B / online / stall)</a:t>
            </a:r>
          </a:p>
        </p:txBody>
      </p:sp>
      <p:sp>
        <p:nvSpPr>
          <p:cNvPr id="9" name="Right Arrow 8"/>
          <p:cNvSpPr/>
          <p:nvPr/>
        </p:nvSpPr>
        <p:spPr>
          <a:xfrm>
            <a:off x="1984248" y="2971800"/>
            <a:ext cx="182880" cy="274320"/>
          </a:xfrm>
          <a:prstGeom prst="rightArrow">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176272" y="2377440"/>
            <a:ext cx="1463040" cy="1463040"/>
          </a:xfrm>
          <a:prstGeom prst="roundRect">
            <a:avLst>
              <a:gd name="adj" fmla="val 1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Order system</a:t>
            </a:r>
          </a:p>
          <a:p>
            <a:pPr algn="ctr"/>
            <a:r>
              <a:rPr sz="1100" b="1">
                <a:solidFill>
                  <a:srgbClr val="FFFFFF"/>
                </a:solidFill>
                <a:latin typeface="Calibri"/>
              </a:rPr>
              <a:t>(tag stream &amp; campaign)</a:t>
            </a:r>
          </a:p>
        </p:txBody>
      </p:sp>
      <p:sp>
        <p:nvSpPr>
          <p:cNvPr id="11" name="Right Arrow 10"/>
          <p:cNvSpPr/>
          <p:nvPr/>
        </p:nvSpPr>
        <p:spPr>
          <a:xfrm>
            <a:off x="3657600" y="2971800"/>
            <a:ext cx="182880" cy="274320"/>
          </a:xfrm>
          <a:prstGeom prst="rightArrow">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49624" y="2377440"/>
            <a:ext cx="1463040" cy="1463040"/>
          </a:xfrm>
          <a:prstGeom prst="roundRect">
            <a:avLst>
              <a:gd name="adj" fmla="val 15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Production plan</a:t>
            </a:r>
          </a:p>
          <a:p>
            <a:pPr algn="ctr"/>
            <a:r>
              <a:rPr sz="1100" b="1">
                <a:solidFill>
                  <a:srgbClr val="FFFFFF"/>
                </a:solidFill>
                <a:latin typeface="Calibri"/>
              </a:rPr>
              <a:t>(weekly + festival calendar)</a:t>
            </a:r>
          </a:p>
        </p:txBody>
      </p:sp>
      <p:sp>
        <p:nvSpPr>
          <p:cNvPr id="13" name="Right Arrow 12"/>
          <p:cNvSpPr/>
          <p:nvPr/>
        </p:nvSpPr>
        <p:spPr>
          <a:xfrm>
            <a:off x="5330952" y="2971800"/>
            <a:ext cx="182880" cy="274320"/>
          </a:xfrm>
          <a:prstGeom prst="rightArrow">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522976" y="2377440"/>
            <a:ext cx="1463040" cy="146304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Cook, QC,</a:t>
            </a:r>
          </a:p>
          <a:p>
            <a:pPr algn="ctr"/>
            <a:r>
              <a:rPr sz="1100" b="1">
                <a:solidFill>
                  <a:srgbClr val="FFFFFF"/>
                </a:solidFill>
                <a:latin typeface="Calibri"/>
              </a:rPr>
              <a:t>pack &amp; label</a:t>
            </a:r>
          </a:p>
        </p:txBody>
      </p:sp>
      <p:sp>
        <p:nvSpPr>
          <p:cNvPr id="15" name="Right Arrow 14"/>
          <p:cNvSpPr/>
          <p:nvPr/>
        </p:nvSpPr>
        <p:spPr>
          <a:xfrm>
            <a:off x="7004304" y="2971800"/>
            <a:ext cx="182880" cy="274320"/>
          </a:xfrm>
          <a:prstGeom prst="rightArrow">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96328" y="2377440"/>
            <a:ext cx="1463040" cy="1463040"/>
          </a:xfrm>
          <a:prstGeom prst="roundRect">
            <a:avLst>
              <a:gd name="adj" fmla="val 15000"/>
            </a:avLst>
          </a:prstGeom>
          <a:solidFill>
            <a:srgbClr val="1F5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Dispatch</a:t>
            </a:r>
          </a:p>
          <a:p>
            <a:pPr algn="ctr"/>
            <a:r>
              <a:rPr sz="1100" b="1">
                <a:solidFill>
                  <a:srgbClr val="FFFFFF"/>
                </a:solidFill>
                <a:latin typeface="Calibri"/>
              </a:rPr>
              <a:t>(own vehicle / courier / Amazon)</a:t>
            </a:r>
          </a:p>
        </p:txBody>
      </p:sp>
      <p:sp>
        <p:nvSpPr>
          <p:cNvPr id="17" name="Right Arrow 16"/>
          <p:cNvSpPr/>
          <p:nvPr/>
        </p:nvSpPr>
        <p:spPr>
          <a:xfrm>
            <a:off x="8677656" y="2971800"/>
            <a:ext cx="182880" cy="274320"/>
          </a:xfrm>
          <a:prstGeom prst="rightArrow">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869680" y="2377440"/>
            <a:ext cx="1463040" cy="1463040"/>
          </a:xfrm>
          <a:prstGeom prst="roundRect">
            <a:avLst>
              <a:gd name="adj" fmla="val 1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Payment &amp;</a:t>
            </a:r>
          </a:p>
          <a:p>
            <a:pPr algn="ctr"/>
            <a:r>
              <a:rPr sz="1100" b="1">
                <a:solidFill>
                  <a:srgbClr val="FFFFFF"/>
                </a:solidFill>
                <a:latin typeface="Calibri"/>
              </a:rPr>
              <a:t>feedback</a:t>
            </a:r>
          </a:p>
        </p:txBody>
      </p:sp>
      <p:sp>
        <p:nvSpPr>
          <p:cNvPr id="19" name="Right Arrow 18"/>
          <p:cNvSpPr/>
          <p:nvPr/>
        </p:nvSpPr>
        <p:spPr>
          <a:xfrm>
            <a:off x="10351008" y="2971800"/>
            <a:ext cx="182880" cy="274320"/>
          </a:xfrm>
          <a:prstGeom prst="rightArrow">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543032" y="2377440"/>
            <a:ext cx="1463040" cy="1463040"/>
          </a:xfrm>
          <a:prstGeom prst="roundRect">
            <a:avLst>
              <a:gd name="adj" fmla="val 1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DMTT ROI</a:t>
            </a:r>
          </a:p>
          <a:p>
            <a:pPr algn="ctr"/>
            <a:r>
              <a:rPr sz="1100" b="1">
                <a:solidFill>
                  <a:srgbClr val="FFFFFF"/>
                </a:solidFill>
                <a:latin typeface="Calibri"/>
              </a:rPr>
              <a:t>dashboard</a:t>
            </a:r>
          </a:p>
        </p:txBody>
      </p:sp>
      <p:sp>
        <p:nvSpPr>
          <p:cNvPr id="21" name="TextBox 20"/>
          <p:cNvSpPr txBox="1"/>
          <p:nvPr/>
        </p:nvSpPr>
        <p:spPr>
          <a:xfrm>
            <a:off x="548640" y="4297680"/>
            <a:ext cx="11155680" cy="2011680"/>
          </a:xfrm>
          <a:prstGeom prst="rect">
            <a:avLst/>
          </a:prstGeom>
          <a:noFill/>
        </p:spPr>
        <p:txBody>
          <a:bodyPr wrap="square">
            <a:spAutoFit/>
          </a:bodyPr>
          <a:lstStyle/>
          <a:p>
            <a:pPr>
              <a:spcAft>
                <a:spcPts val="400"/>
              </a:spcAft>
            </a:pPr>
            <a:r>
              <a:rPr sz="1400">
                <a:solidFill>
                  <a:srgbClr val="2B221E"/>
                </a:solidFill>
                <a:latin typeface="Calibri"/>
              </a:rPr>
              <a:t>•  Internal departments: weekly minimum order, one fixed delivery day, festival top-ups entered in advance.</a:t>
            </a:r>
          </a:p>
          <a:p>
            <a:pPr>
              <a:spcAft>
                <a:spcPts val="400"/>
              </a:spcAft>
            </a:pPr>
            <a:r>
              <a:rPr sz="1400">
                <a:solidFill>
                  <a:srgbClr val="2B221E"/>
                </a:solidFill>
                <a:latin typeface="Calibri"/>
              </a:rPr>
              <a:t>•  B2B: 50% advance, sticker proof approval, locked production slot, dispatch buffer before festival.</a:t>
            </a:r>
          </a:p>
          <a:p>
            <a:pPr>
              <a:spcAft>
                <a:spcPts val="400"/>
              </a:spcAft>
            </a:pPr>
            <a:r>
              <a:rPr sz="1400">
                <a:solidFill>
                  <a:srgbClr val="2B221E"/>
                </a:solidFill>
                <a:latin typeface="Calibri"/>
              </a:rPr>
              <a:t>•  All prasadam orders go only to the in-house production lead; no outside vendors.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ROADMAP</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Roadmap: six phases from foundation to export</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18</a:t>
            </a:r>
          </a:p>
        </p:txBody>
      </p:sp>
      <p:sp>
        <p:nvSpPr>
          <p:cNvPr id="8" name="Rectangle 7"/>
          <p:cNvSpPr/>
          <p:nvPr/>
        </p:nvSpPr>
        <p:spPr>
          <a:xfrm>
            <a:off x="548640" y="2103120"/>
            <a:ext cx="1115568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80160" y="1920240"/>
            <a:ext cx="411480" cy="41148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0</a:t>
            </a:r>
          </a:p>
        </p:txBody>
      </p:sp>
      <p:sp>
        <p:nvSpPr>
          <p:cNvPr id="10" name="TextBox 9"/>
          <p:cNvSpPr txBox="1"/>
          <p:nvPr/>
        </p:nvSpPr>
        <p:spPr>
          <a:xfrm>
            <a:off x="548640" y="1417320"/>
            <a:ext cx="1828800" cy="457200"/>
          </a:xfrm>
          <a:prstGeom prst="rect">
            <a:avLst/>
          </a:prstGeom>
          <a:noFill/>
        </p:spPr>
        <p:txBody>
          <a:bodyPr wrap="square" anchor="t" lIns="73152" rIns="73152" tIns="36576" bIns="36576">
            <a:spAutoFit/>
          </a:bodyPr>
          <a:lstStyle/>
          <a:p>
            <a:pPr algn="ctr"/>
            <a:r>
              <a:rPr sz="1000" b="1">
                <a:solidFill>
                  <a:srgbClr val="6B5E55"/>
                </a:solidFill>
                <a:latin typeface="Calibri"/>
              </a:rPr>
              <a:t>26 Sep – 10 Oct 2026</a:t>
            </a:r>
          </a:p>
        </p:txBody>
      </p:sp>
      <p:sp>
        <p:nvSpPr>
          <p:cNvPr id="11" name="TextBox 10"/>
          <p:cNvSpPr txBox="1"/>
          <p:nvPr/>
        </p:nvSpPr>
        <p:spPr>
          <a:xfrm>
            <a:off x="548640" y="2468880"/>
            <a:ext cx="1828800" cy="548640"/>
          </a:xfrm>
          <a:prstGeom prst="rect">
            <a:avLst/>
          </a:prstGeom>
          <a:noFill/>
        </p:spPr>
        <p:txBody>
          <a:bodyPr wrap="square" anchor="t" lIns="73152" rIns="73152" tIns="36576" bIns="36576">
            <a:spAutoFit/>
          </a:bodyPr>
          <a:lstStyle/>
          <a:p>
            <a:pPr algn="ctr"/>
            <a:r>
              <a:rPr sz="1300" b="1">
                <a:solidFill>
                  <a:srgbClr val="7A1F2B"/>
                </a:solidFill>
                <a:latin typeface="Calibri"/>
              </a:rPr>
              <a:t>Foundation</a:t>
            </a:r>
          </a:p>
        </p:txBody>
      </p:sp>
      <p:sp>
        <p:nvSpPr>
          <p:cNvPr id="12" name="TextBox 11"/>
          <p:cNvSpPr txBox="1"/>
          <p:nvPr/>
        </p:nvSpPr>
        <p:spPr>
          <a:xfrm>
            <a:off x="548640" y="2971800"/>
            <a:ext cx="1828800" cy="457200"/>
          </a:xfrm>
          <a:prstGeom prst="rect">
            <a:avLst/>
          </a:prstGeom>
          <a:noFill/>
        </p:spPr>
        <p:txBody>
          <a:bodyPr wrap="square" anchor="t" lIns="73152" rIns="73152" tIns="36576" bIns="36576">
            <a:spAutoFit/>
          </a:bodyPr>
          <a:lstStyle/>
          <a:p>
            <a:pPr algn="ctr"/>
            <a:r>
              <a:rPr sz="1000" b="1">
                <a:solidFill>
                  <a:srgbClr val="E07B00"/>
                </a:solidFill>
                <a:latin typeface="Calibri"/>
              </a:rPr>
              <a:t>Data, decisions and a ready-to-sell kit</a:t>
            </a:r>
          </a:p>
        </p:txBody>
      </p:sp>
      <p:sp>
        <p:nvSpPr>
          <p:cNvPr id="13" name="TextBox 12"/>
          <p:cNvSpPr txBox="1"/>
          <p:nvPr/>
        </p:nvSpPr>
        <p:spPr>
          <a:xfrm>
            <a:off x="548640" y="3520440"/>
            <a:ext cx="1828800" cy="2834640"/>
          </a:xfrm>
          <a:prstGeom prst="rect">
            <a:avLst/>
          </a:prstGeom>
          <a:noFill/>
        </p:spPr>
        <p:txBody>
          <a:bodyPr wrap="square">
            <a:spAutoFit/>
          </a:bodyPr>
          <a:lstStyle/>
          <a:p>
            <a:pPr>
              <a:spcAft>
                <a:spcPts val="100"/>
              </a:spcAft>
            </a:pPr>
            <a:r>
              <a:rPr sz="900">
                <a:solidFill>
                  <a:srgbClr val="2B221E"/>
                </a:solidFill>
                <a:latin typeface="Calibri"/>
              </a:rPr>
              <a:t>•  Share order confirmation details requested by production</a:t>
            </a:r>
          </a:p>
          <a:p>
            <a:pPr>
              <a:spcAft>
                <a:spcPts val="100"/>
              </a:spcAft>
            </a:pPr>
            <a:r>
              <a:rPr sz="900">
                <a:solidFill>
                  <a:srgbClr val="2B221E"/>
                </a:solidFill>
                <a:latin typeface="Calibri"/>
              </a:rPr>
              <a:t>•  Analyse 6–12 months of prasadam purchases and order volumes</a:t>
            </a:r>
          </a:p>
          <a:p>
            <a:pPr>
              <a:spcAft>
                <a:spcPts val="100"/>
              </a:spcAft>
            </a:pPr>
            <a:r>
              <a:rPr sz="900">
                <a:solidFill>
                  <a:srgbClr val="2B221E"/>
                </a:solidFill>
                <a:latin typeface="Calibri"/>
              </a:rPr>
              <a:t>•  Estimate weekly minimum and festival peak demand</a:t>
            </a:r>
          </a:p>
          <a:p>
            <a:pPr>
              <a:spcAft>
                <a:spcPts val="100"/>
              </a:spcAft>
            </a:pPr>
            <a:r>
              <a:rPr sz="900">
                <a:solidFill>
                  <a:srgbClr val="2B221E"/>
                </a:solidFill>
                <a:latin typeface="Calibri"/>
              </a:rPr>
              <a:t>•  Budget per department (LLP, Culture Connect, online donors)</a:t>
            </a:r>
          </a:p>
          <a:p>
            <a:pPr>
              <a:spcAft>
                <a:spcPts val="100"/>
              </a:spcAft>
            </a:pPr>
            <a:r>
              <a:rPr sz="900">
                <a:solidFill>
                  <a:srgbClr val="2B221E"/>
                </a:solidFill>
                <a:latin typeface="Calibri"/>
              </a:rPr>
              <a:t>•  Final product list, quantities and samples from production</a:t>
            </a:r>
          </a:p>
          <a:p>
            <a:pPr>
              <a:spcAft>
                <a:spcPts val="100"/>
              </a:spcAft>
            </a:pPr>
            <a:r>
              <a:rPr sz="900">
                <a:solidFill>
                  <a:srgbClr val="2B221E"/>
                </a:solidFill>
                <a:latin typeface="Calibri"/>
              </a:rPr>
              <a:t>•  Costing and two-tier pricing (mass and premium)</a:t>
            </a:r>
          </a:p>
        </p:txBody>
      </p:sp>
      <p:sp>
        <p:nvSpPr>
          <p:cNvPr id="14" name="Oval 13"/>
          <p:cNvSpPr/>
          <p:nvPr/>
        </p:nvSpPr>
        <p:spPr>
          <a:xfrm>
            <a:off x="3154680" y="1920240"/>
            <a:ext cx="411480" cy="41148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a:t>
            </a:r>
          </a:p>
        </p:txBody>
      </p:sp>
      <p:sp>
        <p:nvSpPr>
          <p:cNvPr id="15" name="TextBox 14"/>
          <p:cNvSpPr txBox="1"/>
          <p:nvPr/>
        </p:nvSpPr>
        <p:spPr>
          <a:xfrm>
            <a:off x="2423160" y="1417320"/>
            <a:ext cx="1828800" cy="457200"/>
          </a:xfrm>
          <a:prstGeom prst="rect">
            <a:avLst/>
          </a:prstGeom>
          <a:noFill/>
        </p:spPr>
        <p:txBody>
          <a:bodyPr wrap="square" anchor="t" lIns="73152" rIns="73152" tIns="36576" bIns="36576">
            <a:spAutoFit/>
          </a:bodyPr>
          <a:lstStyle/>
          <a:p>
            <a:pPr algn="ctr"/>
            <a:r>
              <a:rPr sz="1000" b="1">
                <a:solidFill>
                  <a:srgbClr val="6B5E55"/>
                </a:solidFill>
                <a:latin typeface="Calibri"/>
              </a:rPr>
              <a:t>11 Oct – 30 Nov 2026</a:t>
            </a:r>
          </a:p>
        </p:txBody>
      </p:sp>
      <p:sp>
        <p:nvSpPr>
          <p:cNvPr id="16" name="TextBox 15"/>
          <p:cNvSpPr txBox="1"/>
          <p:nvPr/>
        </p:nvSpPr>
        <p:spPr>
          <a:xfrm>
            <a:off x="2423160" y="2468880"/>
            <a:ext cx="1828800" cy="548640"/>
          </a:xfrm>
          <a:prstGeom prst="rect">
            <a:avLst/>
          </a:prstGeom>
          <a:noFill/>
        </p:spPr>
        <p:txBody>
          <a:bodyPr wrap="square" anchor="t" lIns="73152" rIns="73152" tIns="36576" bIns="36576">
            <a:spAutoFit/>
          </a:bodyPr>
          <a:lstStyle/>
          <a:p>
            <a:pPr algn="ctr"/>
            <a:r>
              <a:rPr sz="1300" b="1">
                <a:solidFill>
                  <a:srgbClr val="7A1F2B"/>
                </a:solidFill>
                <a:latin typeface="Calibri"/>
              </a:rPr>
              <a:t>Pilot: Dasara &amp; Diwali</a:t>
            </a:r>
          </a:p>
        </p:txBody>
      </p:sp>
      <p:sp>
        <p:nvSpPr>
          <p:cNvPr id="17" name="TextBox 16"/>
          <p:cNvSpPr txBox="1"/>
          <p:nvPr/>
        </p:nvSpPr>
        <p:spPr>
          <a:xfrm>
            <a:off x="2423160" y="2971800"/>
            <a:ext cx="1828800" cy="457200"/>
          </a:xfrm>
          <a:prstGeom prst="rect">
            <a:avLst/>
          </a:prstGeom>
          <a:noFill/>
        </p:spPr>
        <p:txBody>
          <a:bodyPr wrap="square" anchor="t" lIns="73152" rIns="73152" tIns="36576" bIns="36576">
            <a:spAutoFit/>
          </a:bodyPr>
          <a:lstStyle/>
          <a:p>
            <a:pPr algn="ctr"/>
            <a:r>
              <a:rPr sz="1000" b="1">
                <a:solidFill>
                  <a:srgbClr val="E07B00"/>
                </a:solidFill>
                <a:latin typeface="Calibri"/>
              </a:rPr>
              <a:t>Prove corporate gifting, stalls and internal supply</a:t>
            </a:r>
          </a:p>
        </p:txBody>
      </p:sp>
      <p:sp>
        <p:nvSpPr>
          <p:cNvPr id="18" name="TextBox 17"/>
          <p:cNvSpPr txBox="1"/>
          <p:nvPr/>
        </p:nvSpPr>
        <p:spPr>
          <a:xfrm>
            <a:off x="2423160" y="3520440"/>
            <a:ext cx="1828800" cy="2834640"/>
          </a:xfrm>
          <a:prstGeom prst="rect">
            <a:avLst/>
          </a:prstGeom>
          <a:noFill/>
        </p:spPr>
        <p:txBody>
          <a:bodyPr wrap="square">
            <a:spAutoFit/>
          </a:bodyPr>
          <a:lstStyle/>
          <a:p>
            <a:pPr>
              <a:spcAft>
                <a:spcPts val="100"/>
              </a:spcAft>
            </a:pPr>
            <a:r>
              <a:rPr sz="900">
                <a:solidFill>
                  <a:srgbClr val="2B221E"/>
                </a:solidFill>
                <a:latin typeface="Calibri"/>
              </a:rPr>
              <a:t>•  Owner meetings with 20+ companies, MNR, chambers, BNI</a:t>
            </a:r>
          </a:p>
          <a:p>
            <a:pPr>
              <a:spcAft>
                <a:spcPts val="100"/>
              </a:spcAft>
            </a:pPr>
            <a:r>
              <a:rPr sz="900">
                <a:solidFill>
                  <a:srgbClr val="2B221E"/>
                </a:solidFill>
                <a:latin typeface="Calibri"/>
              </a:rPr>
              <a:t>•  Serve the three companies that already asked</a:t>
            </a:r>
          </a:p>
          <a:p>
            <a:pPr>
              <a:spcAft>
                <a:spcPts val="100"/>
              </a:spcAft>
            </a:pPr>
            <a:r>
              <a:rPr sz="900">
                <a:solidFill>
                  <a:srgbClr val="2B221E"/>
                </a:solidFill>
                <a:latin typeface="Calibri"/>
              </a:rPr>
              <a:t>•  White-label boxes for first clients</a:t>
            </a:r>
          </a:p>
          <a:p>
            <a:pPr>
              <a:spcAft>
                <a:spcPts val="100"/>
              </a:spcAft>
            </a:pPr>
            <a:r>
              <a:rPr sz="900">
                <a:solidFill>
                  <a:srgbClr val="2B221E"/>
                </a:solidFill>
                <a:latin typeface="Calibri"/>
              </a:rPr>
              <a:t>•  Mahalaya / Pitru Paksha and Dasara stalls in multiple locations</a:t>
            </a:r>
          </a:p>
          <a:p>
            <a:pPr>
              <a:spcAft>
                <a:spcPts val="100"/>
              </a:spcAft>
            </a:pPr>
            <a:r>
              <a:rPr sz="900">
                <a:solidFill>
                  <a:srgbClr val="2B221E"/>
                </a:solidFill>
                <a:latin typeface="Calibri"/>
              </a:rPr>
              <a:t>•  Diwali gift box production and dispatch</a:t>
            </a:r>
          </a:p>
          <a:p>
            <a:pPr>
              <a:spcAft>
                <a:spcPts val="100"/>
              </a:spcAft>
            </a:pPr>
            <a:r>
              <a:rPr sz="900">
                <a:solidFill>
                  <a:srgbClr val="2B221E"/>
                </a:solidFill>
                <a:latin typeface="Calibri"/>
              </a:rPr>
              <a:t>•  Weekly standing internal orders live</a:t>
            </a:r>
          </a:p>
        </p:txBody>
      </p:sp>
      <p:sp>
        <p:nvSpPr>
          <p:cNvPr id="19" name="Oval 18"/>
          <p:cNvSpPr/>
          <p:nvPr/>
        </p:nvSpPr>
        <p:spPr>
          <a:xfrm>
            <a:off x="5029199" y="1920240"/>
            <a:ext cx="411480" cy="41148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2</a:t>
            </a:r>
          </a:p>
        </p:txBody>
      </p:sp>
      <p:sp>
        <p:nvSpPr>
          <p:cNvPr id="20" name="TextBox 19"/>
          <p:cNvSpPr txBox="1"/>
          <p:nvPr/>
        </p:nvSpPr>
        <p:spPr>
          <a:xfrm>
            <a:off x="4297679" y="1417320"/>
            <a:ext cx="1828800" cy="457200"/>
          </a:xfrm>
          <a:prstGeom prst="rect">
            <a:avLst/>
          </a:prstGeom>
          <a:noFill/>
        </p:spPr>
        <p:txBody>
          <a:bodyPr wrap="square" anchor="t" lIns="73152" rIns="73152" tIns="36576" bIns="36576">
            <a:spAutoFit/>
          </a:bodyPr>
          <a:lstStyle/>
          <a:p>
            <a:pPr algn="ctr"/>
            <a:r>
              <a:rPr sz="1000" b="1">
                <a:solidFill>
                  <a:srgbClr val="6B5E55"/>
                </a:solidFill>
                <a:latin typeface="Calibri"/>
              </a:rPr>
              <a:t>Dec 2026 – Mar 2027</a:t>
            </a:r>
          </a:p>
        </p:txBody>
      </p:sp>
      <p:sp>
        <p:nvSpPr>
          <p:cNvPr id="21" name="TextBox 20"/>
          <p:cNvSpPr txBox="1"/>
          <p:nvPr/>
        </p:nvSpPr>
        <p:spPr>
          <a:xfrm>
            <a:off x="4297679" y="2468880"/>
            <a:ext cx="1828800" cy="548640"/>
          </a:xfrm>
          <a:prstGeom prst="rect">
            <a:avLst/>
          </a:prstGeom>
          <a:noFill/>
        </p:spPr>
        <p:txBody>
          <a:bodyPr wrap="square" anchor="t" lIns="73152" rIns="73152" tIns="36576" bIns="36576">
            <a:spAutoFit/>
          </a:bodyPr>
          <a:lstStyle/>
          <a:p>
            <a:pPr algn="ctr"/>
            <a:r>
              <a:rPr sz="1300" b="1">
                <a:solidFill>
                  <a:srgbClr val="7A1F2B"/>
                </a:solidFill>
                <a:latin typeface="Calibri"/>
              </a:rPr>
              <a:t>Launch channels</a:t>
            </a:r>
          </a:p>
        </p:txBody>
      </p:sp>
      <p:sp>
        <p:nvSpPr>
          <p:cNvPr id="22" name="TextBox 21"/>
          <p:cNvSpPr txBox="1"/>
          <p:nvPr/>
        </p:nvSpPr>
        <p:spPr>
          <a:xfrm>
            <a:off x="4297679" y="2971800"/>
            <a:ext cx="1828800" cy="457200"/>
          </a:xfrm>
          <a:prstGeom prst="rect">
            <a:avLst/>
          </a:prstGeom>
          <a:noFill/>
        </p:spPr>
        <p:txBody>
          <a:bodyPr wrap="square" anchor="t" lIns="73152" rIns="73152" tIns="36576" bIns="36576">
            <a:spAutoFit/>
          </a:bodyPr>
          <a:lstStyle/>
          <a:p>
            <a:pPr algn="ctr"/>
            <a:r>
              <a:rPr sz="1000" b="1">
                <a:solidFill>
                  <a:srgbClr val="E07B00"/>
                </a:solidFill>
                <a:latin typeface="Calibri"/>
              </a:rPr>
              <a:t>Year-round revenue and digital sales</a:t>
            </a:r>
          </a:p>
        </p:txBody>
      </p:sp>
      <p:sp>
        <p:nvSpPr>
          <p:cNvPr id="23" name="TextBox 22"/>
          <p:cNvSpPr txBox="1"/>
          <p:nvPr/>
        </p:nvSpPr>
        <p:spPr>
          <a:xfrm>
            <a:off x="4297679" y="3520440"/>
            <a:ext cx="1828800" cy="2834640"/>
          </a:xfrm>
          <a:prstGeom prst="rect">
            <a:avLst/>
          </a:prstGeom>
          <a:noFill/>
        </p:spPr>
        <p:txBody>
          <a:bodyPr wrap="square">
            <a:spAutoFit/>
          </a:bodyPr>
          <a:lstStyle/>
          <a:p>
            <a:pPr>
              <a:spcAft>
                <a:spcPts val="100"/>
              </a:spcAft>
            </a:pPr>
            <a:r>
              <a:rPr sz="900">
                <a:solidFill>
                  <a:srgbClr val="2B221E"/>
                </a:solidFill>
                <a:latin typeface="Calibri"/>
              </a:rPr>
              <a:t>•  Shopify store + Amazon listing for shelf-stable range</a:t>
            </a:r>
          </a:p>
          <a:p>
            <a:pPr>
              <a:spcAft>
                <a:spcPts val="100"/>
              </a:spcAft>
            </a:pPr>
            <a:r>
              <a:rPr sz="900">
                <a:solidFill>
                  <a:srgbClr val="2B221E"/>
                </a:solidFill>
                <a:latin typeface="Calibri"/>
              </a:rPr>
              <a:t>•  Shelf-life lab tests and full FSSAI labelling</a:t>
            </a:r>
          </a:p>
          <a:p>
            <a:pPr>
              <a:spcAft>
                <a:spcPts val="100"/>
              </a:spcAft>
            </a:pPr>
            <a:r>
              <a:rPr sz="900">
                <a:solidFill>
                  <a:srgbClr val="2B221E"/>
                </a:solidFill>
                <a:latin typeface="Calibri"/>
              </a:rPr>
              <a:t>•  New Year, Sankranti (til chikki), Vaikuntha Ekadashi, Gita Jayanti campaigns</a:t>
            </a:r>
          </a:p>
          <a:p>
            <a:pPr>
              <a:spcAft>
                <a:spcPts val="100"/>
              </a:spcAft>
            </a:pPr>
            <a:r>
              <a:rPr sz="900">
                <a:solidFill>
                  <a:srgbClr val="2B221E"/>
                </a:solidFill>
                <a:latin typeface="Calibri"/>
              </a:rPr>
              <a:t>•  Gated community weekend stalls (start 10, grow to 30)</a:t>
            </a:r>
          </a:p>
          <a:p>
            <a:pPr>
              <a:spcAft>
                <a:spcPts val="100"/>
              </a:spcAft>
            </a:pPr>
            <a:r>
              <a:rPr sz="900">
                <a:solidFill>
                  <a:srgbClr val="2B221E"/>
                </a:solidFill>
                <a:latin typeface="Calibri"/>
              </a:rPr>
              <a:t>•  Catering pilot: house programmes and small events</a:t>
            </a:r>
          </a:p>
          <a:p>
            <a:pPr>
              <a:spcAft>
                <a:spcPts val="100"/>
              </a:spcAft>
            </a:pPr>
            <a:r>
              <a:rPr sz="900">
                <a:solidFill>
                  <a:srgbClr val="2B221E"/>
                </a:solidFill>
                <a:latin typeface="Calibri"/>
              </a:rPr>
              <a:t>•  Satvik subscription box beta</a:t>
            </a:r>
          </a:p>
        </p:txBody>
      </p:sp>
      <p:sp>
        <p:nvSpPr>
          <p:cNvPr id="24" name="Oval 23"/>
          <p:cNvSpPr/>
          <p:nvPr/>
        </p:nvSpPr>
        <p:spPr>
          <a:xfrm>
            <a:off x="6903719" y="1920240"/>
            <a:ext cx="411480" cy="41148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3</a:t>
            </a:r>
          </a:p>
        </p:txBody>
      </p:sp>
      <p:sp>
        <p:nvSpPr>
          <p:cNvPr id="25" name="TextBox 24"/>
          <p:cNvSpPr txBox="1"/>
          <p:nvPr/>
        </p:nvSpPr>
        <p:spPr>
          <a:xfrm>
            <a:off x="6172199" y="1417320"/>
            <a:ext cx="1828800" cy="457200"/>
          </a:xfrm>
          <a:prstGeom prst="rect">
            <a:avLst/>
          </a:prstGeom>
          <a:noFill/>
        </p:spPr>
        <p:txBody>
          <a:bodyPr wrap="square" anchor="t" lIns="73152" rIns="73152" tIns="36576" bIns="36576">
            <a:spAutoFit/>
          </a:bodyPr>
          <a:lstStyle/>
          <a:p>
            <a:pPr algn="ctr"/>
            <a:r>
              <a:rPr sz="1000" b="1">
                <a:solidFill>
                  <a:srgbClr val="6B5E55"/>
                </a:solidFill>
                <a:latin typeface="Calibri"/>
              </a:rPr>
              <a:t>Apr – Sep 2027</a:t>
            </a:r>
          </a:p>
        </p:txBody>
      </p:sp>
      <p:sp>
        <p:nvSpPr>
          <p:cNvPr id="26" name="TextBox 25"/>
          <p:cNvSpPr txBox="1"/>
          <p:nvPr/>
        </p:nvSpPr>
        <p:spPr>
          <a:xfrm>
            <a:off x="6172199" y="2468880"/>
            <a:ext cx="1828800" cy="548640"/>
          </a:xfrm>
          <a:prstGeom prst="rect">
            <a:avLst/>
          </a:prstGeom>
          <a:noFill/>
        </p:spPr>
        <p:txBody>
          <a:bodyPr wrap="square" anchor="t" lIns="73152" rIns="73152" tIns="36576" bIns="36576">
            <a:spAutoFit/>
          </a:bodyPr>
          <a:lstStyle/>
          <a:p>
            <a:pPr algn="ctr"/>
            <a:r>
              <a:rPr sz="1300" b="1">
                <a:solidFill>
                  <a:srgbClr val="7A1F2B"/>
                </a:solidFill>
                <a:latin typeface="Calibri"/>
              </a:rPr>
              <a:t>Scale in Hyderabad</a:t>
            </a:r>
          </a:p>
        </p:txBody>
      </p:sp>
      <p:sp>
        <p:nvSpPr>
          <p:cNvPr id="27" name="TextBox 26"/>
          <p:cNvSpPr txBox="1"/>
          <p:nvPr/>
        </p:nvSpPr>
        <p:spPr>
          <a:xfrm>
            <a:off x="6172199" y="2971800"/>
            <a:ext cx="1828800" cy="457200"/>
          </a:xfrm>
          <a:prstGeom prst="rect">
            <a:avLst/>
          </a:prstGeom>
          <a:noFill/>
        </p:spPr>
        <p:txBody>
          <a:bodyPr wrap="square" anchor="t" lIns="73152" rIns="73152" tIns="36576" bIns="36576">
            <a:spAutoFit/>
          </a:bodyPr>
          <a:lstStyle/>
          <a:p>
            <a:pPr algn="ctr"/>
            <a:r>
              <a:rPr sz="1000" b="1">
                <a:solidFill>
                  <a:srgbClr val="E07B00"/>
                </a:solidFill>
                <a:latin typeface="Calibri"/>
              </a:rPr>
              <a:t>10× festival sales and new product lines</a:t>
            </a:r>
          </a:p>
        </p:txBody>
      </p:sp>
      <p:sp>
        <p:nvSpPr>
          <p:cNvPr id="28" name="TextBox 27"/>
          <p:cNvSpPr txBox="1"/>
          <p:nvPr/>
        </p:nvSpPr>
        <p:spPr>
          <a:xfrm>
            <a:off x="6172199" y="3520440"/>
            <a:ext cx="1828800" cy="2834640"/>
          </a:xfrm>
          <a:prstGeom prst="rect">
            <a:avLst/>
          </a:prstGeom>
          <a:noFill/>
        </p:spPr>
        <p:txBody>
          <a:bodyPr wrap="square">
            <a:spAutoFit/>
          </a:bodyPr>
          <a:lstStyle/>
          <a:p>
            <a:pPr>
              <a:spcAft>
                <a:spcPts val="100"/>
              </a:spcAft>
            </a:pPr>
            <a:r>
              <a:rPr sz="900">
                <a:solidFill>
                  <a:srgbClr val="2B221E"/>
                </a:solidFill>
                <a:latin typeface="Calibri"/>
              </a:rPr>
              <a:t>•  Permanent rain-proof pagodas; lawn food-court SOP</a:t>
            </a:r>
          </a:p>
          <a:p>
            <a:pPr>
              <a:spcAft>
                <a:spcPts val="100"/>
              </a:spcAft>
            </a:pPr>
            <a:r>
              <a:rPr sz="900">
                <a:solidFill>
                  <a:srgbClr val="2B221E"/>
                </a:solidFill>
                <a:latin typeface="Calibri"/>
              </a:rPr>
              <a:t>•  Pickles, papads and powders line</a:t>
            </a:r>
          </a:p>
          <a:p>
            <a:pPr>
              <a:spcAft>
                <a:spcPts val="100"/>
              </a:spcAft>
            </a:pPr>
            <a:r>
              <a:rPr sz="900">
                <a:solidFill>
                  <a:srgbClr val="2B221E"/>
                </a:solidFill>
                <a:latin typeface="Calibri"/>
              </a:rPr>
              <a:t>•  Janmashtami 2027 target: 10× 2026 counter sales</a:t>
            </a:r>
          </a:p>
          <a:p>
            <a:pPr>
              <a:spcAft>
                <a:spcPts val="100"/>
              </a:spcAft>
            </a:pPr>
            <a:r>
              <a:rPr sz="900">
                <a:solidFill>
                  <a:srgbClr val="2B221E"/>
                </a:solidFill>
                <a:latin typeface="Calibri"/>
              </a:rPr>
              <a:t>•  Catering scale-up; partner kitchens for 50,000-meal orders</a:t>
            </a:r>
          </a:p>
          <a:p>
            <a:pPr>
              <a:spcAft>
                <a:spcPts val="100"/>
              </a:spcAft>
            </a:pPr>
            <a:r>
              <a:rPr sz="900">
                <a:solidFill>
                  <a:srgbClr val="2B221E"/>
                </a:solidFill>
                <a:latin typeface="Calibri"/>
              </a:rPr>
              <a:t>•  Learning visits: ISKCON Mysore and Ahmedabad</a:t>
            </a:r>
          </a:p>
          <a:p>
            <a:pPr>
              <a:spcAft>
                <a:spcPts val="100"/>
              </a:spcAft>
            </a:pPr>
            <a:r>
              <a:rPr sz="900">
                <a:solidFill>
                  <a:srgbClr val="2B221E"/>
                </a:solidFill>
                <a:latin typeface="Calibri"/>
              </a:rPr>
              <a:t>•  Year-1 review and Year-2 budget</a:t>
            </a:r>
          </a:p>
        </p:txBody>
      </p:sp>
      <p:sp>
        <p:nvSpPr>
          <p:cNvPr id="29" name="Oval 28"/>
          <p:cNvSpPr/>
          <p:nvPr/>
        </p:nvSpPr>
        <p:spPr>
          <a:xfrm>
            <a:off x="8778239" y="1920240"/>
            <a:ext cx="411480" cy="411480"/>
          </a:xfrm>
          <a:prstGeom prst="ellipse">
            <a:avLst/>
          </a:prstGeom>
          <a:solidFill>
            <a:srgbClr val="1F5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4</a:t>
            </a:r>
          </a:p>
        </p:txBody>
      </p:sp>
      <p:sp>
        <p:nvSpPr>
          <p:cNvPr id="30" name="TextBox 29"/>
          <p:cNvSpPr txBox="1"/>
          <p:nvPr/>
        </p:nvSpPr>
        <p:spPr>
          <a:xfrm>
            <a:off x="8046719" y="1417320"/>
            <a:ext cx="1828800" cy="457200"/>
          </a:xfrm>
          <a:prstGeom prst="rect">
            <a:avLst/>
          </a:prstGeom>
          <a:noFill/>
        </p:spPr>
        <p:txBody>
          <a:bodyPr wrap="square" anchor="t" lIns="73152" rIns="73152" tIns="36576" bIns="36576">
            <a:spAutoFit/>
          </a:bodyPr>
          <a:lstStyle/>
          <a:p>
            <a:pPr algn="ctr"/>
            <a:r>
              <a:rPr sz="1000" b="1">
                <a:solidFill>
                  <a:srgbClr val="6B5E55"/>
                </a:solidFill>
                <a:latin typeface="Calibri"/>
              </a:rPr>
              <a:t>Oct 2027 – Sep 2028</a:t>
            </a:r>
          </a:p>
        </p:txBody>
      </p:sp>
      <p:sp>
        <p:nvSpPr>
          <p:cNvPr id="31" name="TextBox 30"/>
          <p:cNvSpPr txBox="1"/>
          <p:nvPr/>
        </p:nvSpPr>
        <p:spPr>
          <a:xfrm>
            <a:off x="8046719" y="2468880"/>
            <a:ext cx="1828800" cy="548640"/>
          </a:xfrm>
          <a:prstGeom prst="rect">
            <a:avLst/>
          </a:prstGeom>
          <a:noFill/>
        </p:spPr>
        <p:txBody>
          <a:bodyPr wrap="square" anchor="t" lIns="73152" rIns="73152" tIns="36576" bIns="36576">
            <a:spAutoFit/>
          </a:bodyPr>
          <a:lstStyle/>
          <a:p>
            <a:pPr algn="ctr"/>
            <a:r>
              <a:rPr sz="1300" b="1">
                <a:solidFill>
                  <a:srgbClr val="7A1F2B"/>
                </a:solidFill>
                <a:latin typeface="Calibri"/>
              </a:rPr>
              <a:t>Dedicated unit &amp; QSR pilot</a:t>
            </a:r>
          </a:p>
        </p:txBody>
      </p:sp>
      <p:sp>
        <p:nvSpPr>
          <p:cNvPr id="32" name="TextBox 31"/>
          <p:cNvSpPr txBox="1"/>
          <p:nvPr/>
        </p:nvSpPr>
        <p:spPr>
          <a:xfrm>
            <a:off x="8046719" y="2971800"/>
            <a:ext cx="1828800" cy="457200"/>
          </a:xfrm>
          <a:prstGeom prst="rect">
            <a:avLst/>
          </a:prstGeom>
          <a:noFill/>
        </p:spPr>
        <p:txBody>
          <a:bodyPr wrap="square" anchor="t" lIns="73152" rIns="73152" tIns="36576" bIns="36576">
            <a:spAutoFit/>
          </a:bodyPr>
          <a:lstStyle/>
          <a:p>
            <a:pPr algn="ctr"/>
            <a:r>
              <a:rPr sz="1000" b="1">
                <a:solidFill>
                  <a:srgbClr val="E07B00"/>
                </a:solidFill>
                <a:latin typeface="Calibri"/>
              </a:rPr>
              <a:t>Own capacity, machinery and first outlets</a:t>
            </a:r>
          </a:p>
        </p:txBody>
      </p:sp>
      <p:sp>
        <p:nvSpPr>
          <p:cNvPr id="33" name="TextBox 32"/>
          <p:cNvSpPr txBox="1"/>
          <p:nvPr/>
        </p:nvSpPr>
        <p:spPr>
          <a:xfrm>
            <a:off x="8046719" y="3520440"/>
            <a:ext cx="1828800" cy="2834640"/>
          </a:xfrm>
          <a:prstGeom prst="rect">
            <a:avLst/>
          </a:prstGeom>
          <a:noFill/>
        </p:spPr>
        <p:txBody>
          <a:bodyPr wrap="square">
            <a:spAutoFit/>
          </a:bodyPr>
          <a:lstStyle/>
          <a:p>
            <a:pPr>
              <a:spcAft>
                <a:spcPts val="100"/>
              </a:spcAft>
            </a:pPr>
            <a:r>
              <a:rPr sz="900">
                <a:solidFill>
                  <a:srgbClr val="2B221E"/>
                </a:solidFill>
                <a:latin typeface="Calibri"/>
              </a:rPr>
              <a:t>•  Dedicated production unit (converted building), machinery</a:t>
            </a:r>
          </a:p>
          <a:p>
            <a:pPr>
              <a:spcAft>
                <a:spcPts val="100"/>
              </a:spcAft>
            </a:pPr>
            <a:r>
              <a:rPr sz="900">
                <a:solidFill>
                  <a:srgbClr val="2B221E"/>
                </a:solidFill>
                <a:latin typeface="Calibri"/>
              </a:rPr>
              <a:t>•  State/Central FSSAI licence as turnover grows</a:t>
            </a:r>
          </a:p>
          <a:p>
            <a:pPr>
              <a:spcAft>
                <a:spcPts val="100"/>
              </a:spcAft>
            </a:pPr>
            <a:r>
              <a:rPr sz="900">
                <a:solidFill>
                  <a:srgbClr val="2B221E"/>
                </a:solidFill>
                <a:latin typeface="Calibri"/>
              </a:rPr>
              <a:t>•  Brand licence agreement with QSR partner; 1–3 pilot outlets</a:t>
            </a:r>
          </a:p>
          <a:p>
            <a:pPr>
              <a:spcAft>
                <a:spcPts val="100"/>
              </a:spcAft>
            </a:pPr>
            <a:r>
              <a:rPr sz="900">
                <a:solidFill>
                  <a:srgbClr val="2B221E"/>
                </a:solidFill>
                <a:latin typeface="Calibri"/>
              </a:rPr>
              <a:t>•  Pan-India e-commerce push; corporate contracts across South India</a:t>
            </a:r>
          </a:p>
          <a:p>
            <a:pPr>
              <a:spcAft>
                <a:spcPts val="100"/>
              </a:spcAft>
            </a:pPr>
            <a:r>
              <a:rPr sz="900">
                <a:solidFill>
                  <a:srgbClr val="2B221E"/>
                </a:solidFill>
                <a:latin typeface="Calibri"/>
              </a:rPr>
              <a:t>•  Team of ~25–40</a:t>
            </a:r>
          </a:p>
        </p:txBody>
      </p:sp>
      <p:sp>
        <p:nvSpPr>
          <p:cNvPr id="34" name="Oval 33"/>
          <p:cNvSpPr/>
          <p:nvPr/>
        </p:nvSpPr>
        <p:spPr>
          <a:xfrm>
            <a:off x="10652760" y="1920240"/>
            <a:ext cx="411480" cy="411480"/>
          </a:xfrm>
          <a:prstGeom prst="ellipse">
            <a:avLst/>
          </a:prstGeom>
          <a:solidFill>
            <a:srgbClr val="6B5E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5</a:t>
            </a:r>
          </a:p>
        </p:txBody>
      </p:sp>
      <p:sp>
        <p:nvSpPr>
          <p:cNvPr id="35" name="TextBox 34"/>
          <p:cNvSpPr txBox="1"/>
          <p:nvPr/>
        </p:nvSpPr>
        <p:spPr>
          <a:xfrm>
            <a:off x="9921240" y="1417320"/>
            <a:ext cx="1828800" cy="457200"/>
          </a:xfrm>
          <a:prstGeom prst="rect">
            <a:avLst/>
          </a:prstGeom>
          <a:noFill/>
        </p:spPr>
        <p:txBody>
          <a:bodyPr wrap="square" anchor="t" lIns="73152" rIns="73152" tIns="36576" bIns="36576">
            <a:spAutoFit/>
          </a:bodyPr>
          <a:lstStyle/>
          <a:p>
            <a:pPr algn="ctr"/>
            <a:r>
              <a:rPr sz="1000" b="1">
                <a:solidFill>
                  <a:srgbClr val="6B5E55"/>
                </a:solidFill>
                <a:latin typeface="Calibri"/>
              </a:rPr>
              <a:t>Year 3–5</a:t>
            </a:r>
          </a:p>
        </p:txBody>
      </p:sp>
      <p:sp>
        <p:nvSpPr>
          <p:cNvPr id="36" name="TextBox 35"/>
          <p:cNvSpPr txBox="1"/>
          <p:nvPr/>
        </p:nvSpPr>
        <p:spPr>
          <a:xfrm>
            <a:off x="9921240" y="2468880"/>
            <a:ext cx="1828800" cy="548640"/>
          </a:xfrm>
          <a:prstGeom prst="rect">
            <a:avLst/>
          </a:prstGeom>
          <a:noFill/>
        </p:spPr>
        <p:txBody>
          <a:bodyPr wrap="square" anchor="t" lIns="73152" rIns="73152" tIns="36576" bIns="36576">
            <a:spAutoFit/>
          </a:bodyPr>
          <a:lstStyle/>
          <a:p>
            <a:pPr algn="ctr"/>
            <a:r>
              <a:rPr sz="1300" b="1">
                <a:solidFill>
                  <a:srgbClr val="7A1F2B"/>
                </a:solidFill>
                <a:latin typeface="Calibri"/>
              </a:rPr>
              <a:t>National &amp; export</a:t>
            </a:r>
          </a:p>
        </p:txBody>
      </p:sp>
      <p:sp>
        <p:nvSpPr>
          <p:cNvPr id="37" name="TextBox 36"/>
          <p:cNvSpPr txBox="1"/>
          <p:nvPr/>
        </p:nvSpPr>
        <p:spPr>
          <a:xfrm>
            <a:off x="9921240" y="2971800"/>
            <a:ext cx="1828800" cy="457200"/>
          </a:xfrm>
          <a:prstGeom prst="rect">
            <a:avLst/>
          </a:prstGeom>
          <a:noFill/>
        </p:spPr>
        <p:txBody>
          <a:bodyPr wrap="square" anchor="t" lIns="73152" rIns="73152" tIns="36576" bIns="36576">
            <a:spAutoFit/>
          </a:bodyPr>
          <a:lstStyle/>
          <a:p>
            <a:pPr algn="ctr"/>
            <a:r>
              <a:rPr sz="1000" b="1">
                <a:solidFill>
                  <a:srgbClr val="E07B00"/>
                </a:solidFill>
                <a:latin typeface="Calibri"/>
              </a:rPr>
              <a:t>A national vertical with exports</a:t>
            </a:r>
          </a:p>
        </p:txBody>
      </p:sp>
      <p:sp>
        <p:nvSpPr>
          <p:cNvPr id="38" name="TextBox 37"/>
          <p:cNvSpPr txBox="1"/>
          <p:nvPr/>
        </p:nvSpPr>
        <p:spPr>
          <a:xfrm>
            <a:off x="9921240" y="3520440"/>
            <a:ext cx="1828800" cy="2834640"/>
          </a:xfrm>
          <a:prstGeom prst="rect">
            <a:avLst/>
          </a:prstGeom>
          <a:noFill/>
        </p:spPr>
        <p:txBody>
          <a:bodyPr wrap="square">
            <a:spAutoFit/>
          </a:bodyPr>
          <a:lstStyle/>
          <a:p>
            <a:pPr>
              <a:spcAft>
                <a:spcPts val="100"/>
              </a:spcAft>
            </a:pPr>
            <a:r>
              <a:rPr sz="900">
                <a:solidFill>
                  <a:srgbClr val="2B221E"/>
                </a:solidFill>
                <a:latin typeface="Calibri"/>
              </a:rPr>
              <a:t>•  Scale QSRs towards the 100-outlet Hyderabad vision</a:t>
            </a:r>
          </a:p>
          <a:p>
            <a:pPr>
              <a:spcAft>
                <a:spcPts val="100"/>
              </a:spcAft>
            </a:pPr>
            <a:r>
              <a:rPr sz="900">
                <a:solidFill>
                  <a:srgbClr val="2B221E"/>
                </a:solidFill>
                <a:latin typeface="Calibri"/>
              </a:rPr>
              <a:t>•  Export via Malaysia and Europe contacts; APEDA/IEC</a:t>
            </a:r>
          </a:p>
          <a:p>
            <a:pPr>
              <a:spcAft>
                <a:spcPts val="100"/>
              </a:spcAft>
            </a:pPr>
            <a:r>
              <a:rPr sz="900">
                <a:solidFill>
                  <a:srgbClr val="2B221E"/>
                </a:solidFill>
                <a:latin typeface="Calibri"/>
              </a:rPr>
              <a:t>•  Replicate model with other temples</a:t>
            </a:r>
          </a:p>
          <a:p>
            <a:pPr>
              <a:spcAft>
                <a:spcPts val="100"/>
              </a:spcAft>
            </a:pPr>
            <a:r>
              <a:rPr sz="900">
                <a:solidFill>
                  <a:srgbClr val="2B221E"/>
                </a:solidFill>
                <a:latin typeface="Calibri"/>
              </a:rPr>
              <a:t>•  ~100 employees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IMMEDIATE PLAN</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The next 60 days: Dasara and Diwali pilot</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19</a:t>
            </a:r>
          </a:p>
        </p:txBody>
      </p:sp>
      <p:sp>
        <p:nvSpPr>
          <p:cNvPr id="8" name="Rounded Rectangle 7"/>
          <p:cNvSpPr/>
          <p:nvPr/>
        </p:nvSpPr>
        <p:spPr>
          <a:xfrm>
            <a:off x="548640" y="1508760"/>
            <a:ext cx="2670048" cy="470916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508760"/>
            <a:ext cx="2670048" cy="457200"/>
          </a:xfrm>
          <a:prstGeom prst="roundRect">
            <a:avLst>
              <a:gd name="adj" fmla="val 2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Week 1–2 · 26 Sep – 10 Oct</a:t>
            </a:r>
          </a:p>
        </p:txBody>
      </p:sp>
      <p:sp>
        <p:nvSpPr>
          <p:cNvPr id="10" name="TextBox 9"/>
          <p:cNvSpPr txBox="1"/>
          <p:nvPr/>
        </p:nvSpPr>
        <p:spPr>
          <a:xfrm>
            <a:off x="594360" y="2039112"/>
            <a:ext cx="2578608" cy="4160520"/>
          </a:xfrm>
          <a:prstGeom prst="rect">
            <a:avLst/>
          </a:prstGeom>
          <a:noFill/>
        </p:spPr>
        <p:txBody>
          <a:bodyPr wrap="square">
            <a:spAutoFit/>
          </a:bodyPr>
          <a:lstStyle/>
          <a:p>
            <a:pPr>
              <a:spcAft>
                <a:spcPts val="200"/>
              </a:spcAft>
            </a:pPr>
            <a:r>
              <a:rPr sz="1500">
                <a:solidFill>
                  <a:srgbClr val="2B221E"/>
                </a:solidFill>
                <a:latin typeface="Calibri"/>
              </a:rPr>
              <a:t>•  Order data analysis</a:t>
            </a:r>
          </a:p>
          <a:p>
            <a:pPr>
              <a:spcAft>
                <a:spcPts val="200"/>
              </a:spcAft>
            </a:pPr>
            <a:r>
              <a:rPr sz="1500">
                <a:solidFill>
                  <a:srgbClr val="2B221E"/>
                </a:solidFill>
                <a:latin typeface="Calibri"/>
              </a:rPr>
              <a:t>•  Budgets per department</a:t>
            </a:r>
          </a:p>
          <a:p>
            <a:pPr>
              <a:spcAft>
                <a:spcPts val="200"/>
              </a:spcAft>
            </a:pPr>
            <a:r>
              <a:rPr sz="1500">
                <a:solidFill>
                  <a:srgbClr val="2B221E"/>
                </a:solidFill>
                <a:latin typeface="Calibri"/>
              </a:rPr>
              <a:t>•  Samples &amp; costing</a:t>
            </a:r>
          </a:p>
          <a:p>
            <a:pPr>
              <a:spcAft>
                <a:spcPts val="200"/>
              </a:spcAft>
            </a:pPr>
            <a:r>
              <a:rPr sz="1500">
                <a:solidFill>
                  <a:srgbClr val="2B221E"/>
                </a:solidFill>
                <a:latin typeface="Calibri"/>
              </a:rPr>
              <a:t>•  Pricing &amp; gift tiers</a:t>
            </a:r>
          </a:p>
          <a:p>
            <a:pPr>
              <a:spcAft>
                <a:spcPts val="200"/>
              </a:spcAft>
            </a:pPr>
            <a:r>
              <a:rPr sz="1500">
                <a:solidFill>
                  <a:srgbClr val="2B221E"/>
                </a:solidFill>
                <a:latin typeface="Calibri"/>
              </a:rPr>
              <a:t>•  Catalogue &amp; stickers</a:t>
            </a:r>
          </a:p>
          <a:p>
            <a:pPr>
              <a:spcAft>
                <a:spcPts val="200"/>
              </a:spcAft>
            </a:pPr>
            <a:r>
              <a:rPr sz="1500">
                <a:solidFill>
                  <a:srgbClr val="2B221E"/>
                </a:solidFill>
                <a:latin typeface="Calibri"/>
              </a:rPr>
              <a:t>•  Hire 1 person</a:t>
            </a:r>
          </a:p>
          <a:p>
            <a:pPr>
              <a:spcAft>
                <a:spcPts val="200"/>
              </a:spcAft>
            </a:pPr>
            <a:r>
              <a:rPr sz="1500">
                <a:solidFill>
                  <a:srgbClr val="2B221E"/>
                </a:solidFill>
                <a:latin typeface="Calibri"/>
              </a:rPr>
              <a:t>•  Decision meeting 5 Oct</a:t>
            </a:r>
          </a:p>
        </p:txBody>
      </p:sp>
      <p:sp>
        <p:nvSpPr>
          <p:cNvPr id="11" name="Rounded Rectangle 10"/>
          <p:cNvSpPr/>
          <p:nvPr/>
        </p:nvSpPr>
        <p:spPr>
          <a:xfrm>
            <a:off x="3355848" y="1508760"/>
            <a:ext cx="2670048" cy="470916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5848" y="1508760"/>
            <a:ext cx="2670048" cy="457200"/>
          </a:xfrm>
          <a:prstGeom prst="roundRect">
            <a:avLst>
              <a:gd name="adj" fmla="val 2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Week 3–4 · 11 – 24 Oct</a:t>
            </a:r>
          </a:p>
        </p:txBody>
      </p:sp>
      <p:sp>
        <p:nvSpPr>
          <p:cNvPr id="13" name="TextBox 12"/>
          <p:cNvSpPr txBox="1"/>
          <p:nvPr/>
        </p:nvSpPr>
        <p:spPr>
          <a:xfrm>
            <a:off x="3401568" y="2039112"/>
            <a:ext cx="2578608" cy="4160520"/>
          </a:xfrm>
          <a:prstGeom prst="rect">
            <a:avLst/>
          </a:prstGeom>
          <a:noFill/>
        </p:spPr>
        <p:txBody>
          <a:bodyPr wrap="square">
            <a:spAutoFit/>
          </a:bodyPr>
          <a:lstStyle/>
          <a:p>
            <a:pPr>
              <a:spcAft>
                <a:spcPts val="200"/>
              </a:spcAft>
            </a:pPr>
            <a:r>
              <a:rPr sz="1500">
                <a:solidFill>
                  <a:srgbClr val="2B221E"/>
                </a:solidFill>
                <a:latin typeface="Calibri"/>
              </a:rPr>
              <a:t>•  Owner meetings</a:t>
            </a:r>
          </a:p>
          <a:p>
            <a:pPr>
              <a:spcAft>
                <a:spcPts val="200"/>
              </a:spcAft>
            </a:pPr>
            <a:r>
              <a:rPr sz="1500">
                <a:solidFill>
                  <a:srgbClr val="2B221E"/>
                </a:solidFill>
                <a:latin typeface="Calibri"/>
              </a:rPr>
              <a:t>•  Serve 3 waiting companies</a:t>
            </a:r>
          </a:p>
          <a:p>
            <a:pPr>
              <a:spcAft>
                <a:spcPts val="200"/>
              </a:spcAft>
            </a:pPr>
            <a:r>
              <a:rPr sz="1500">
                <a:solidFill>
                  <a:srgbClr val="2B221E"/>
                </a:solidFill>
                <a:latin typeface="Calibri"/>
              </a:rPr>
              <a:t>•  Mahalaya &amp; Dasara stalls</a:t>
            </a:r>
          </a:p>
          <a:p>
            <a:pPr>
              <a:spcAft>
                <a:spcPts val="200"/>
              </a:spcAft>
            </a:pPr>
            <a:r>
              <a:rPr sz="1500">
                <a:solidFill>
                  <a:srgbClr val="2B221E"/>
                </a:solidFill>
                <a:latin typeface="Calibri"/>
              </a:rPr>
              <a:t>•  Weekly internal orders live</a:t>
            </a:r>
          </a:p>
          <a:p>
            <a:pPr>
              <a:spcAft>
                <a:spcPts val="200"/>
              </a:spcAft>
            </a:pPr>
            <a:r>
              <a:rPr sz="1500">
                <a:solidFill>
                  <a:srgbClr val="2B221E"/>
                </a:solidFill>
                <a:latin typeface="Calibri"/>
              </a:rPr>
              <a:t>•  Seasonal staff</a:t>
            </a:r>
          </a:p>
        </p:txBody>
      </p:sp>
      <p:sp>
        <p:nvSpPr>
          <p:cNvPr id="14" name="Rounded Rectangle 13"/>
          <p:cNvSpPr/>
          <p:nvPr/>
        </p:nvSpPr>
        <p:spPr>
          <a:xfrm>
            <a:off x="6163055" y="1508760"/>
            <a:ext cx="2670048" cy="470916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63055" y="1508760"/>
            <a:ext cx="2670048" cy="457200"/>
          </a:xfrm>
          <a:prstGeom prst="roundRect">
            <a:avLst>
              <a:gd name="adj" fmla="val 25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Week 5–6 · 25 Oct – 8 Nov</a:t>
            </a:r>
          </a:p>
        </p:txBody>
      </p:sp>
      <p:sp>
        <p:nvSpPr>
          <p:cNvPr id="16" name="TextBox 15"/>
          <p:cNvSpPr txBox="1"/>
          <p:nvPr/>
        </p:nvSpPr>
        <p:spPr>
          <a:xfrm>
            <a:off x="6208775" y="2039112"/>
            <a:ext cx="2578608" cy="4160520"/>
          </a:xfrm>
          <a:prstGeom prst="rect">
            <a:avLst/>
          </a:prstGeom>
          <a:noFill/>
        </p:spPr>
        <p:txBody>
          <a:bodyPr wrap="square">
            <a:spAutoFit/>
          </a:bodyPr>
          <a:lstStyle/>
          <a:p>
            <a:pPr>
              <a:spcAft>
                <a:spcPts val="200"/>
              </a:spcAft>
            </a:pPr>
            <a:r>
              <a:rPr sz="1500">
                <a:solidFill>
                  <a:srgbClr val="2B221E"/>
                </a:solidFill>
                <a:latin typeface="Calibri"/>
              </a:rPr>
              <a:t>•  Diwali production</a:t>
            </a:r>
          </a:p>
          <a:p>
            <a:pPr>
              <a:spcAft>
                <a:spcPts val="200"/>
              </a:spcAft>
            </a:pPr>
            <a:r>
              <a:rPr sz="1500">
                <a:solidFill>
                  <a:srgbClr val="2B221E"/>
                </a:solidFill>
                <a:latin typeface="Calibri"/>
              </a:rPr>
              <a:t>•  White-label dispatch</a:t>
            </a:r>
          </a:p>
          <a:p>
            <a:pPr>
              <a:spcAft>
                <a:spcPts val="200"/>
              </a:spcAft>
            </a:pPr>
            <a:r>
              <a:rPr sz="1500">
                <a:solidFill>
                  <a:srgbClr val="2B221E"/>
                </a:solidFill>
                <a:latin typeface="Calibri"/>
              </a:rPr>
              <a:t>•  Donor bahumana boxes</a:t>
            </a:r>
          </a:p>
          <a:p>
            <a:pPr>
              <a:spcAft>
                <a:spcPts val="200"/>
              </a:spcAft>
            </a:pPr>
            <a:r>
              <a:rPr sz="1500">
                <a:solidFill>
                  <a:srgbClr val="2B221E"/>
                </a:solidFill>
                <a:latin typeface="Calibri"/>
              </a:rPr>
              <a:t>•  Daily stand-ups</a:t>
            </a:r>
          </a:p>
        </p:txBody>
      </p:sp>
      <p:sp>
        <p:nvSpPr>
          <p:cNvPr id="17" name="Rounded Rectangle 16"/>
          <p:cNvSpPr/>
          <p:nvPr/>
        </p:nvSpPr>
        <p:spPr>
          <a:xfrm>
            <a:off x="8970263" y="1508760"/>
            <a:ext cx="2670048" cy="470916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70263" y="1508760"/>
            <a:ext cx="2670048" cy="457200"/>
          </a:xfrm>
          <a:prstGeom prst="roundRect">
            <a:avLst>
              <a:gd name="adj" fmla="val 2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Week 7–9 · 9 – 30 Nov</a:t>
            </a:r>
          </a:p>
        </p:txBody>
      </p:sp>
      <p:sp>
        <p:nvSpPr>
          <p:cNvPr id="19" name="TextBox 18"/>
          <p:cNvSpPr txBox="1"/>
          <p:nvPr/>
        </p:nvSpPr>
        <p:spPr>
          <a:xfrm>
            <a:off x="9015983" y="2039112"/>
            <a:ext cx="2578608" cy="4160520"/>
          </a:xfrm>
          <a:prstGeom prst="rect">
            <a:avLst/>
          </a:prstGeom>
          <a:noFill/>
        </p:spPr>
        <p:txBody>
          <a:bodyPr wrap="square">
            <a:spAutoFit/>
          </a:bodyPr>
          <a:lstStyle/>
          <a:p>
            <a:pPr>
              <a:spcAft>
                <a:spcPts val="200"/>
              </a:spcAft>
            </a:pPr>
            <a:r>
              <a:rPr sz="1500">
                <a:solidFill>
                  <a:srgbClr val="2B221E"/>
                </a:solidFill>
                <a:latin typeface="Calibri"/>
              </a:rPr>
              <a:t>•  Leftovers online / Instagram</a:t>
            </a:r>
          </a:p>
          <a:p>
            <a:pPr>
              <a:spcAft>
                <a:spcPts val="200"/>
              </a:spcAft>
            </a:pPr>
            <a:r>
              <a:rPr sz="1500">
                <a:solidFill>
                  <a:srgbClr val="2B221E"/>
                </a:solidFill>
                <a:latin typeface="Calibri"/>
              </a:rPr>
              <a:t>•  Collect payments</a:t>
            </a:r>
          </a:p>
          <a:p>
            <a:pPr>
              <a:spcAft>
                <a:spcPts val="200"/>
              </a:spcAft>
            </a:pPr>
            <a:r>
              <a:rPr sz="1500">
                <a:solidFill>
                  <a:srgbClr val="2B221E"/>
                </a:solidFill>
                <a:latin typeface="Calibri"/>
              </a:rPr>
              <a:t>•  P&amp;L + ROI</a:t>
            </a:r>
          </a:p>
          <a:p>
            <a:pPr>
              <a:spcAft>
                <a:spcPts val="200"/>
              </a:spcAft>
            </a:pPr>
            <a:r>
              <a:rPr sz="1500">
                <a:solidFill>
                  <a:srgbClr val="2B221E"/>
                </a:solidFill>
                <a:latin typeface="Calibri"/>
              </a:rPr>
              <a:t>•  Pilot review &amp; go/no-go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FINANCIALS</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Financial outlook [estimate]</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20</a:t>
            </a:r>
          </a:p>
        </p:txBody>
      </p:sp>
      <p:graphicFrame>
        <p:nvGraphicFramePr>
          <p:cNvPr id="8" name="Chart 7"/>
          <p:cNvGraphicFramePr>
            <a:graphicFrameLocks noGrp="1"/>
          </p:cNvGraphicFramePr>
          <p:nvPr/>
        </p:nvGraphicFramePr>
        <p:xfrm>
          <a:off x="548640" y="1417320"/>
          <a:ext cx="6766560" cy="4846320"/>
        </p:xfrm>
        <a:graphic>
          <a:graphicData uri="http://schemas.openxmlformats.org/drawingml/2006/chart">
            <c:chart xmlns:c="http://schemas.openxmlformats.org/drawingml/2006/chart" r:id="rId2"/>
          </a:graphicData>
        </a:graphic>
      </p:graphicFrame>
      <p:sp>
        <p:nvSpPr>
          <p:cNvPr id="9" name="Rounded Rectangle 8"/>
          <p:cNvSpPr/>
          <p:nvPr/>
        </p:nvSpPr>
        <p:spPr>
          <a:xfrm>
            <a:off x="7589520" y="1463040"/>
            <a:ext cx="4069080" cy="475488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0" y="1463040"/>
            <a:ext cx="4069080" cy="457200"/>
          </a:xfrm>
          <a:prstGeom prst="roundRect">
            <a:avLst>
              <a:gd name="adj" fmla="val 25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Year 1 at a glance</a:t>
            </a:r>
          </a:p>
        </p:txBody>
      </p:sp>
      <p:sp>
        <p:nvSpPr>
          <p:cNvPr id="11" name="TextBox 10"/>
          <p:cNvSpPr txBox="1"/>
          <p:nvPr/>
        </p:nvSpPr>
        <p:spPr>
          <a:xfrm>
            <a:off x="7635240" y="1993392"/>
            <a:ext cx="3977640" cy="4206240"/>
          </a:xfrm>
          <a:prstGeom prst="rect">
            <a:avLst/>
          </a:prstGeom>
          <a:noFill/>
        </p:spPr>
        <p:txBody>
          <a:bodyPr wrap="square">
            <a:spAutoFit/>
          </a:bodyPr>
          <a:lstStyle/>
          <a:p>
            <a:pPr>
              <a:spcAft>
                <a:spcPts val="200"/>
              </a:spcAft>
            </a:pPr>
            <a:r>
              <a:rPr sz="1200">
                <a:solidFill>
                  <a:srgbClr val="2B221E"/>
                </a:solidFill>
                <a:latin typeface="Calibri"/>
              </a:rPr>
              <a:t>•  Revenue ≈ ₹224 L</a:t>
            </a:r>
          </a:p>
          <a:p>
            <a:pPr>
              <a:spcAft>
                <a:spcPts val="200"/>
              </a:spcAft>
            </a:pPr>
            <a:r>
              <a:rPr sz="1200">
                <a:solidFill>
                  <a:srgbClr val="2B221E"/>
                </a:solidFill>
                <a:latin typeface="Calibri"/>
              </a:rPr>
              <a:t>•  Gross profit ≈ ₹82 L (37%)</a:t>
            </a:r>
          </a:p>
          <a:p>
            <a:pPr>
              <a:spcAft>
                <a:spcPts val="200"/>
              </a:spcAft>
            </a:pPr>
            <a:r>
              <a:rPr sz="1200">
                <a:solidFill>
                  <a:srgbClr val="2B221E"/>
                </a:solidFill>
                <a:latin typeface="Calibri"/>
              </a:rPr>
              <a:t>•  Incremental opex ≈ ₹67 L</a:t>
            </a:r>
          </a:p>
          <a:p>
            <a:pPr>
              <a:spcAft>
                <a:spcPts val="200"/>
              </a:spcAft>
            </a:pPr>
            <a:r>
              <a:rPr sz="1200">
                <a:solidFill>
                  <a:srgbClr val="2B221E"/>
                </a:solidFill>
                <a:latin typeface="Calibri"/>
              </a:rPr>
              <a:t>•  Net contribution ≈ ₹15 L before capex</a:t>
            </a:r>
          </a:p>
          <a:p>
            <a:pPr>
              <a:spcAft>
                <a:spcPts val="200"/>
              </a:spcAft>
            </a:pPr>
            <a:r>
              <a:rPr sz="1200">
                <a:solidFill>
                  <a:srgbClr val="2B221E"/>
                </a:solidFill>
                <a:latin typeface="Calibri"/>
              </a:rPr>
              <a:t>•  Capex &lt; ₹30 L (machines, pagodas, storage)</a:t>
            </a:r>
          </a:p>
          <a:p>
            <a:pPr>
              <a:spcAft>
                <a:spcPts val="200"/>
              </a:spcAft>
            </a:pPr>
            <a:r>
              <a:rPr sz="1200">
                <a:solidFill>
                  <a:srgbClr val="2B221E"/>
                </a:solidFill>
                <a:latin typeface="Calibri"/>
              </a:rPr>
              <a:t>•  B2B 50% advances fund the pilot</a:t>
            </a:r>
          </a:p>
          <a:p>
            <a:pPr>
              <a:spcAft>
                <a:spcPts val="200"/>
              </a:spcAft>
            </a:pPr>
            <a:r>
              <a:rPr sz="1200">
                <a:solidFill>
                  <a:srgbClr val="2B221E"/>
                </a:solidFill>
                <a:latin typeface="Calibri"/>
              </a:rPr>
              <a:t>•  Year 2 ≈ ₹446 L · Year 3 ≈ ₹749 L</a:t>
            </a:r>
          </a:p>
          <a:p>
            <a:pPr>
              <a:spcAft>
                <a:spcPts val="200"/>
              </a:spcAft>
            </a:pPr>
            <a:r>
              <a:rPr sz="1200">
                <a:solidFill>
                  <a:srgbClr val="2B221E"/>
                </a:solidFill>
                <a:latin typeface="Calibri"/>
              </a:rPr>
              <a:t>•  Replace with real order data (task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TEAM &amp; GOVERNANCE</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Who does what</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21</a:t>
            </a:r>
          </a:p>
        </p:txBody>
      </p:sp>
      <p:graphicFrame>
        <p:nvGraphicFramePr>
          <p:cNvPr id="8" name="Table 7"/>
          <p:cNvGraphicFramePr>
            <a:graphicFrameLocks noGrp="1"/>
          </p:cNvGraphicFramePr>
          <p:nvPr/>
        </p:nvGraphicFramePr>
        <p:xfrm>
          <a:off x="548640" y="1417320"/>
          <a:ext cx="7315200" cy="4846320"/>
        </p:xfrm>
        <a:graphic>
          <a:graphicData uri="http://schemas.openxmlformats.org/drawingml/2006/table">
            <a:tbl>
              <a:tblPr firstRow="1" bandRow="1">
                <a:tableStyleId>{5C22544A-7EE6-4342-B048-85BDC9FD1C3A}</a:tableStyleId>
              </a:tblPr>
              <a:tblGrid>
                <a:gridCol w="2651760"/>
                <a:gridCol w="2103120"/>
                <a:gridCol w="2560320"/>
              </a:tblGrid>
              <a:tr h="403860">
                <a:tc>
                  <a:txBody>
                    <a:bodyPr/>
                    <a:lstStyle/>
                    <a:p>
                      <a:r>
                        <a:rPr sz="950" b="1">
                          <a:solidFill>
                            <a:srgbClr val="FFFFFF"/>
                          </a:solidFill>
                          <a:latin typeface="Calibri"/>
                        </a:rPr>
                        <a:t>Role</a:t>
                      </a:r>
                    </a:p>
                  </a:txBody>
                  <a:tcPr>
                    <a:solidFill>
                      <a:srgbClr val="7A1F2B"/>
                    </a:solidFill>
                  </a:tcPr>
                </a:tc>
                <a:tc>
                  <a:txBody>
                    <a:bodyPr/>
                    <a:lstStyle/>
                    <a:p>
                      <a:r>
                        <a:rPr sz="950" b="1">
                          <a:solidFill>
                            <a:srgbClr val="FFFFFF"/>
                          </a:solidFill>
                          <a:latin typeface="Calibri"/>
                        </a:rPr>
                        <a:t>Person</a:t>
                      </a:r>
                    </a:p>
                  </a:txBody>
                  <a:tcPr>
                    <a:solidFill>
                      <a:srgbClr val="7A1F2B"/>
                    </a:solidFill>
                  </a:tcPr>
                </a:tc>
                <a:tc>
                  <a:txBody>
                    <a:bodyPr/>
                    <a:lstStyle/>
                    <a:p>
                      <a:r>
                        <a:rPr sz="950" b="1">
                          <a:solidFill>
                            <a:srgbClr val="FFFFFF"/>
                          </a:solidFill>
                          <a:latin typeface="Calibri"/>
                        </a:rPr>
                        <a:t>Responsibility</a:t>
                      </a:r>
                    </a:p>
                  </a:txBody>
                  <a:tcPr>
                    <a:solidFill>
                      <a:srgbClr val="7A1F2B"/>
                    </a:solidFill>
                  </a:tcPr>
                </a:tc>
              </a:tr>
              <a:tr h="403860">
                <a:tc>
                  <a:txBody>
                    <a:bodyPr/>
                    <a:lstStyle/>
                    <a:p>
                      <a:r>
                        <a:rPr sz="950" b="0">
                          <a:solidFill>
                            <a:srgbClr val="2B221E"/>
                          </a:solidFill>
                          <a:latin typeface="Calibri"/>
                        </a:rPr>
                        <a:t>Executive sponsor</a:t>
                      </a:r>
                    </a:p>
                  </a:txBody>
                  <a:tcPr>
                    <a:solidFill>
                      <a:srgbClr val="FFFFFF"/>
                    </a:solidFill>
                  </a:tcPr>
                </a:tc>
                <a:tc>
                  <a:txBody>
                    <a:bodyPr/>
                    <a:lstStyle/>
                    <a:p>
                      <a:r>
                        <a:rPr sz="950" b="0">
                          <a:solidFill>
                            <a:srgbClr val="2B221E"/>
                          </a:solidFill>
                          <a:latin typeface="Calibri"/>
                        </a:rPr>
                        <a:t>Temple leadership</a:t>
                      </a:r>
                    </a:p>
                  </a:txBody>
                  <a:tcPr>
                    <a:solidFill>
                      <a:srgbClr val="FFFFFF"/>
                    </a:solidFill>
                  </a:tcPr>
                </a:tc>
                <a:tc>
                  <a:txBody>
                    <a:bodyPr/>
                    <a:lstStyle/>
                    <a:p>
                      <a:r>
                        <a:rPr sz="950" b="0">
                          <a:solidFill>
                            <a:srgbClr val="2B221E"/>
                          </a:solidFill>
                          <a:latin typeface="Calibri"/>
                        </a:rPr>
                        <a:t>Approves budget, brand use and major decisions</a:t>
                      </a:r>
                    </a:p>
                  </a:txBody>
                  <a:tcPr>
                    <a:solidFill>
                      <a:srgbClr val="FFFFFF"/>
                    </a:solidFill>
                  </a:tcPr>
                </a:tc>
              </a:tr>
              <a:tr h="403860">
                <a:tc>
                  <a:txBody>
                    <a:bodyPr/>
                    <a:lstStyle/>
                    <a:p>
                      <a:r>
                        <a:rPr sz="950" b="0">
                          <a:solidFill>
                            <a:srgbClr val="2B221E"/>
                          </a:solidFill>
                          <a:latin typeface="Calibri"/>
                        </a:rPr>
                        <a:t>Vertical lead – marketing, sales &amp; technology</a:t>
                      </a:r>
                    </a:p>
                  </a:txBody>
                  <a:tcPr>
                    <a:solidFill>
                      <a:srgbClr val="FBEBD0"/>
                    </a:solidFill>
                  </a:tcPr>
                </a:tc>
                <a:tc>
                  <a:txBody>
                    <a:bodyPr/>
                    <a:lstStyle/>
                    <a:p>
                      <a:r>
                        <a:rPr sz="950" b="0">
                          <a:solidFill>
                            <a:srgbClr val="2B221E"/>
                          </a:solidFill>
                          <a:latin typeface="Calibri"/>
                        </a:rPr>
                        <a:t>Mukunda Dasa</a:t>
                      </a:r>
                    </a:p>
                  </a:txBody>
                  <a:tcPr>
                    <a:solidFill>
                      <a:srgbClr val="FBEBD0"/>
                    </a:solidFill>
                  </a:tcPr>
                </a:tc>
                <a:tc>
                  <a:txBody>
                    <a:bodyPr/>
                    <a:lstStyle/>
                    <a:p>
                      <a:r>
                        <a:rPr sz="950" b="0">
                          <a:solidFill>
                            <a:srgbClr val="2B221E"/>
                          </a:solidFill>
                          <a:latin typeface="Calibri"/>
                        </a:rPr>
                        <a:t>Vision, network, marketing, e-commerce, DMTT reporting</a:t>
                      </a:r>
                    </a:p>
                  </a:txBody>
                  <a:tcPr>
                    <a:solidFill>
                      <a:srgbClr val="FBEBD0"/>
                    </a:solidFill>
                  </a:tcPr>
                </a:tc>
              </a:tr>
              <a:tr h="403860">
                <a:tc>
                  <a:txBody>
                    <a:bodyPr/>
                    <a:lstStyle/>
                    <a:p>
                      <a:r>
                        <a:rPr sz="950" b="0">
                          <a:solidFill>
                            <a:srgbClr val="2B221E"/>
                          </a:solidFill>
                          <a:latin typeface="Calibri"/>
                        </a:rPr>
                        <a:t>Production lead</a:t>
                      </a:r>
                    </a:p>
                  </a:txBody>
                  <a:tcPr>
                    <a:solidFill>
                      <a:srgbClr val="FFFFFF"/>
                    </a:solidFill>
                  </a:tcPr>
                </a:tc>
                <a:tc>
                  <a:txBody>
                    <a:bodyPr/>
                    <a:lstStyle/>
                    <a:p>
                      <a:r>
                        <a:rPr sz="950" b="0">
                          <a:solidFill>
                            <a:srgbClr val="2B221E"/>
                          </a:solidFill>
                          <a:latin typeface="Calibri"/>
                        </a:rPr>
                        <a:t>Prabhu (production)</a:t>
                      </a:r>
                    </a:p>
                  </a:txBody>
                  <a:tcPr>
                    <a:solidFill>
                      <a:srgbClr val="FFFFFF"/>
                    </a:solidFill>
                  </a:tcPr>
                </a:tc>
                <a:tc>
                  <a:txBody>
                    <a:bodyPr/>
                    <a:lstStyle/>
                    <a:p>
                      <a:r>
                        <a:rPr sz="950" b="0">
                          <a:solidFill>
                            <a:srgbClr val="2B221E"/>
                          </a:solidFill>
                          <a:latin typeface="Calibri"/>
                        </a:rPr>
                        <a:t>Recipes, costing, samples, capacity, kitchen team</a:t>
                      </a:r>
                    </a:p>
                  </a:txBody>
                  <a:tcPr>
                    <a:solidFill>
                      <a:srgbClr val="FFFFFF"/>
                    </a:solidFill>
                  </a:tcPr>
                </a:tc>
              </a:tr>
              <a:tr h="403860">
                <a:tc>
                  <a:txBody>
                    <a:bodyPr/>
                    <a:lstStyle/>
                    <a:p>
                      <a:r>
                        <a:rPr sz="950" b="0">
                          <a:solidFill>
                            <a:srgbClr val="2B221E"/>
                          </a:solidFill>
                          <a:latin typeface="Calibri"/>
                        </a:rPr>
                        <a:t>Production manager (reporting line)</a:t>
                      </a:r>
                    </a:p>
                  </a:txBody>
                  <a:tcPr>
                    <a:solidFill>
                      <a:srgbClr val="FBEBD0"/>
                    </a:solidFill>
                  </a:tcPr>
                </a:tc>
                <a:tc>
                  <a:txBody>
                    <a:bodyPr/>
                    <a:lstStyle/>
                    <a:p>
                      <a:r>
                        <a:rPr sz="950" b="0">
                          <a:solidFill>
                            <a:srgbClr val="2B221E"/>
                          </a:solidFill>
                          <a:latin typeface="Calibri"/>
                        </a:rPr>
                        <a:t>Production lead's manager</a:t>
                      </a:r>
                    </a:p>
                  </a:txBody>
                  <a:tcPr>
                    <a:solidFill>
                      <a:srgbClr val="FBEBD0"/>
                    </a:solidFill>
                  </a:tcPr>
                </a:tc>
                <a:tc>
                  <a:txBody>
                    <a:bodyPr/>
                    <a:lstStyle/>
                    <a:p>
                      <a:r>
                        <a:rPr sz="950" b="0">
                          <a:solidFill>
                            <a:srgbClr val="2B221E"/>
                          </a:solidFill>
                          <a:latin typeface="Calibri"/>
                        </a:rPr>
                        <a:t>Approves production commitments and resources</a:t>
                      </a:r>
                    </a:p>
                  </a:txBody>
                  <a:tcPr>
                    <a:solidFill>
                      <a:srgbClr val="FBEBD0"/>
                    </a:solidFill>
                  </a:tcPr>
                </a:tc>
              </a:tr>
              <a:tr h="403860">
                <a:tc>
                  <a:txBody>
                    <a:bodyPr/>
                    <a:lstStyle/>
                    <a:p>
                      <a:r>
                        <a:rPr sz="950" b="0">
                          <a:solidFill>
                            <a:srgbClr val="2B221E"/>
                          </a:solidFill>
                          <a:latin typeface="Calibri"/>
                        </a:rPr>
                        <a:t>E-commerce &amp; logistics advisor</a:t>
                      </a:r>
                    </a:p>
                  </a:txBody>
                  <a:tcPr>
                    <a:solidFill>
                      <a:srgbClr val="FFFFFF"/>
                    </a:solidFill>
                  </a:tcPr>
                </a:tc>
                <a:tc>
                  <a:txBody>
                    <a:bodyPr/>
                    <a:lstStyle/>
                    <a:p>
                      <a:r>
                        <a:rPr sz="950" b="0">
                          <a:solidFill>
                            <a:srgbClr val="2B221E"/>
                          </a:solidFill>
                          <a:latin typeface="Calibri"/>
                        </a:rPr>
                        <a:t>Subhadra Radha Devi Mataji</a:t>
                      </a:r>
                    </a:p>
                  </a:txBody>
                  <a:tcPr>
                    <a:solidFill>
                      <a:srgbClr val="FFFFFF"/>
                    </a:solidFill>
                  </a:tcPr>
                </a:tc>
                <a:tc>
                  <a:txBody>
                    <a:bodyPr/>
                    <a:lstStyle/>
                    <a:p>
                      <a:r>
                        <a:rPr sz="950" b="0">
                          <a:solidFill>
                            <a:srgbClr val="2B221E"/>
                          </a:solidFill>
                          <a:latin typeface="Calibri"/>
                        </a:rPr>
                        <a:t>Shopify/Amazon, fastest shipping</a:t>
                      </a:r>
                    </a:p>
                  </a:txBody>
                  <a:tcPr>
                    <a:solidFill>
                      <a:srgbClr val="FFFFFF"/>
                    </a:solidFill>
                  </a:tcPr>
                </a:tc>
              </a:tr>
              <a:tr h="403860">
                <a:tc>
                  <a:txBody>
                    <a:bodyPr/>
                    <a:lstStyle/>
                    <a:p>
                      <a:r>
                        <a:rPr sz="950" b="0">
                          <a:solidFill>
                            <a:srgbClr val="2B221E"/>
                          </a:solidFill>
                          <a:latin typeface="Calibri"/>
                        </a:rPr>
                        <a:t>Corporate sales representative</a:t>
                      </a:r>
                    </a:p>
                  </a:txBody>
                  <a:tcPr>
                    <a:solidFill>
                      <a:srgbClr val="FBEBD0"/>
                    </a:solidFill>
                  </a:tcPr>
                </a:tc>
                <a:tc>
                  <a:txBody>
                    <a:bodyPr/>
                    <a:lstStyle/>
                    <a:p>
                      <a:r>
                        <a:rPr sz="950" b="0">
                          <a:solidFill>
                            <a:srgbClr val="2B221E"/>
                          </a:solidFill>
                          <a:latin typeface="Calibri"/>
                        </a:rPr>
                        <a:t>To be assigned by Mukunda Dasa</a:t>
                      </a:r>
                    </a:p>
                  </a:txBody>
                  <a:tcPr>
                    <a:solidFill>
                      <a:srgbClr val="FBEBD0"/>
                    </a:solidFill>
                  </a:tcPr>
                </a:tc>
                <a:tc>
                  <a:txBody>
                    <a:bodyPr/>
                    <a:lstStyle/>
                    <a:p>
                      <a:r>
                        <a:rPr sz="950" b="0">
                          <a:solidFill>
                            <a:srgbClr val="2B221E"/>
                          </a:solidFill>
                          <a:latin typeface="Calibri"/>
                        </a:rPr>
                        <a:t>Joins owner meetings; manages B2B pipeline</a:t>
                      </a:r>
                    </a:p>
                  </a:txBody>
                  <a:tcPr>
                    <a:solidFill>
                      <a:srgbClr val="FBEBD0"/>
                    </a:solidFill>
                  </a:tcPr>
                </a:tc>
              </a:tr>
              <a:tr h="403860">
                <a:tc>
                  <a:txBody>
                    <a:bodyPr/>
                    <a:lstStyle/>
                    <a:p>
                      <a:r>
                        <a:rPr sz="950" b="0">
                          <a:solidFill>
                            <a:srgbClr val="2B221E"/>
                          </a:solidFill>
                          <a:latin typeface="Calibri"/>
                        </a:rPr>
                        <a:t>Order coordinator (new hire)</a:t>
                      </a:r>
                    </a:p>
                  </a:txBody>
                  <a:tcPr>
                    <a:solidFill>
                      <a:srgbClr val="FFFFFF"/>
                    </a:solidFill>
                  </a:tcPr>
                </a:tc>
                <a:tc>
                  <a:txBody>
                    <a:bodyPr/>
                    <a:lstStyle/>
                    <a:p>
                      <a:r>
                        <a:rPr sz="950" b="0">
                          <a:solidFill>
                            <a:srgbClr val="2B221E"/>
                          </a:solidFill>
                          <a:latin typeface="Calibri"/>
                        </a:rPr>
                        <a:t>To hire now</a:t>
                      </a:r>
                    </a:p>
                  </a:txBody>
                  <a:tcPr>
                    <a:solidFill>
                      <a:srgbClr val="FFFFFF"/>
                    </a:solidFill>
                  </a:tcPr>
                </a:tc>
                <a:tc>
                  <a:txBody>
                    <a:bodyPr/>
                    <a:lstStyle/>
                    <a:p>
                      <a:r>
                        <a:rPr sz="950" b="0">
                          <a:solidFill>
                            <a:srgbClr val="2B221E"/>
                          </a:solidFill>
                          <a:latin typeface="Calibri"/>
                        </a:rPr>
                        <a:t>Order confirmations, internal orders, production calendar</a:t>
                      </a:r>
                    </a:p>
                  </a:txBody>
                  <a:tcPr>
                    <a:solidFill>
                      <a:srgbClr val="FFFFFF"/>
                    </a:solidFill>
                  </a:tcPr>
                </a:tc>
              </a:tr>
              <a:tr h="403860">
                <a:tc>
                  <a:txBody>
                    <a:bodyPr/>
                    <a:lstStyle/>
                    <a:p>
                      <a:r>
                        <a:rPr sz="950" b="0">
                          <a:solidFill>
                            <a:srgbClr val="2B221E"/>
                          </a:solidFill>
                          <a:latin typeface="Calibri"/>
                        </a:rPr>
                        <a:t>Design &amp; packaging</a:t>
                      </a:r>
                    </a:p>
                  </a:txBody>
                  <a:tcPr>
                    <a:solidFill>
                      <a:srgbClr val="FBEBD0"/>
                    </a:solidFill>
                  </a:tcPr>
                </a:tc>
                <a:tc>
                  <a:txBody>
                    <a:bodyPr/>
                    <a:lstStyle/>
                    <a:p>
                      <a:r>
                        <a:rPr sz="950" b="0">
                          <a:solidFill>
                            <a:srgbClr val="2B221E"/>
                          </a:solidFill>
                          <a:latin typeface="Calibri"/>
                        </a:rPr>
                        <a:t>DMTT designer</a:t>
                      </a:r>
                    </a:p>
                  </a:txBody>
                  <a:tcPr>
                    <a:solidFill>
                      <a:srgbClr val="FBEBD0"/>
                    </a:solidFill>
                  </a:tcPr>
                </a:tc>
                <a:tc>
                  <a:txBody>
                    <a:bodyPr/>
                    <a:lstStyle/>
                    <a:p>
                      <a:r>
                        <a:rPr sz="950" b="0">
                          <a:solidFill>
                            <a:srgbClr val="2B221E"/>
                          </a:solidFill>
                          <a:latin typeface="Calibri"/>
                        </a:rPr>
                        <a:t>Catalogue, boxes, stickers, white-label mock-ups</a:t>
                      </a:r>
                    </a:p>
                  </a:txBody>
                  <a:tcPr>
                    <a:solidFill>
                      <a:srgbClr val="FBEBD0"/>
                    </a:solidFill>
                  </a:tcPr>
                </a:tc>
              </a:tr>
              <a:tr h="403860">
                <a:tc>
                  <a:txBody>
                    <a:bodyPr/>
                    <a:lstStyle/>
                    <a:p>
                      <a:r>
                        <a:rPr sz="950" b="0">
                          <a:solidFill>
                            <a:srgbClr val="2B221E"/>
                          </a:solidFill>
                          <a:latin typeface="Calibri"/>
                        </a:rPr>
                        <a:t>Data &amp; AI</a:t>
                      </a:r>
                    </a:p>
                  </a:txBody>
                  <a:tcPr>
                    <a:solidFill>
                      <a:srgbClr val="FFFFFF"/>
                    </a:solidFill>
                  </a:tcPr>
                </a:tc>
                <a:tc>
                  <a:txBody>
                    <a:bodyPr/>
                    <a:lstStyle/>
                    <a:p>
                      <a:r>
                        <a:rPr sz="950" b="0">
                          <a:solidFill>
                            <a:srgbClr val="2B221E"/>
                          </a:solidFill>
                          <a:latin typeface="Calibri"/>
                        </a:rPr>
                        <a:t>DMTT data scientists</a:t>
                      </a:r>
                    </a:p>
                  </a:txBody>
                  <a:tcPr>
                    <a:solidFill>
                      <a:srgbClr val="FFFFFF"/>
                    </a:solidFill>
                  </a:tcPr>
                </a:tc>
                <a:tc>
                  <a:txBody>
                    <a:bodyPr/>
                    <a:lstStyle/>
                    <a:p>
                      <a:r>
                        <a:rPr sz="950" b="0">
                          <a:solidFill>
                            <a:srgbClr val="2B221E"/>
                          </a:solidFill>
                          <a:latin typeface="Calibri"/>
                        </a:rPr>
                        <a:t>Demand analysis, targeting, ROI dashboard</a:t>
                      </a:r>
                    </a:p>
                  </a:txBody>
                  <a:tcPr>
                    <a:solidFill>
                      <a:srgbClr val="FFFFFF"/>
                    </a:solidFill>
                  </a:tcPr>
                </a:tc>
              </a:tr>
              <a:tr h="403860">
                <a:tc>
                  <a:txBody>
                    <a:bodyPr/>
                    <a:lstStyle/>
                    <a:p>
                      <a:r>
                        <a:rPr sz="950" b="0">
                          <a:solidFill>
                            <a:srgbClr val="2B221E"/>
                          </a:solidFill>
                          <a:latin typeface="Calibri"/>
                        </a:rPr>
                        <a:t>Finance</a:t>
                      </a:r>
                    </a:p>
                  </a:txBody>
                  <a:tcPr>
                    <a:solidFill>
                      <a:srgbClr val="FBEBD0"/>
                    </a:solidFill>
                  </a:tcPr>
                </a:tc>
                <a:tc>
                  <a:txBody>
                    <a:bodyPr/>
                    <a:lstStyle/>
                    <a:p>
                      <a:r>
                        <a:rPr sz="950" b="0">
                          <a:solidFill>
                            <a:srgbClr val="2B221E"/>
                          </a:solidFill>
                          <a:latin typeface="Calibri"/>
                        </a:rPr>
                        <a:t>Accounts team</a:t>
                      </a:r>
                    </a:p>
                  </a:txBody>
                  <a:tcPr>
                    <a:solidFill>
                      <a:srgbClr val="FBEBD0"/>
                    </a:solidFill>
                  </a:tcPr>
                </a:tc>
                <a:tc>
                  <a:txBody>
                    <a:bodyPr/>
                    <a:lstStyle/>
                    <a:p>
                      <a:r>
                        <a:rPr sz="950" b="0">
                          <a:solidFill>
                            <a:srgbClr val="2B221E"/>
                          </a:solidFill>
                          <a:latin typeface="Calibri"/>
                        </a:rPr>
                        <a:t>Cost centre, GST, P&amp;L, ROI</a:t>
                      </a:r>
                    </a:p>
                  </a:txBody>
                  <a:tcPr>
                    <a:solidFill>
                      <a:srgbClr val="FBEBD0"/>
                    </a:solidFill>
                  </a:tcPr>
                </a:tc>
              </a:tr>
              <a:tr h="403860">
                <a:tc>
                  <a:txBody>
                    <a:bodyPr/>
                    <a:lstStyle/>
                    <a:p>
                      <a:r>
                        <a:rPr sz="950" b="0">
                          <a:solidFill>
                            <a:srgbClr val="2B221E"/>
                          </a:solidFill>
                          <a:latin typeface="Calibri"/>
                        </a:rPr>
                        <a:t>Quality &amp; compliance</a:t>
                      </a:r>
                    </a:p>
                  </a:txBody>
                  <a:tcPr>
                    <a:solidFill>
                      <a:srgbClr val="FFFFFF"/>
                    </a:solidFill>
                  </a:tcPr>
                </a:tc>
                <a:tc>
                  <a:txBody>
                    <a:bodyPr/>
                    <a:lstStyle/>
                    <a:p>
                      <a:r>
                        <a:rPr sz="950" b="0">
                          <a:solidFill>
                            <a:srgbClr val="2B221E"/>
                          </a:solidFill>
                          <a:latin typeface="Calibri"/>
                        </a:rPr>
                        <a:t>To assign</a:t>
                      </a:r>
                    </a:p>
                  </a:txBody>
                  <a:tcPr>
                    <a:solidFill>
                      <a:srgbClr val="FFFFFF"/>
                    </a:solidFill>
                  </a:tcPr>
                </a:tc>
                <a:tc>
                  <a:txBody>
                    <a:bodyPr/>
                    <a:lstStyle/>
                    <a:p>
                      <a:r>
                        <a:rPr sz="950" b="0">
                          <a:solidFill>
                            <a:srgbClr val="2B221E"/>
                          </a:solidFill>
                          <a:latin typeface="Calibri"/>
                        </a:rPr>
                        <a:t>FSSAI, labelling, hygiene audits</a:t>
                      </a:r>
                    </a:p>
                  </a:txBody>
                  <a:tcPr>
                    <a:solidFill>
                      <a:srgbClr val="FFFFFF"/>
                    </a:solidFill>
                  </a:tcPr>
                </a:tc>
              </a:tr>
            </a:tbl>
          </a:graphicData>
        </a:graphic>
      </p:graphicFrame>
      <p:sp>
        <p:nvSpPr>
          <p:cNvPr id="9" name="Rounded Rectangle 8"/>
          <p:cNvSpPr/>
          <p:nvPr/>
        </p:nvSpPr>
        <p:spPr>
          <a:xfrm>
            <a:off x="8092440" y="1417320"/>
            <a:ext cx="3566160" cy="484632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2440" y="1417320"/>
            <a:ext cx="3566160" cy="457200"/>
          </a:xfrm>
          <a:prstGeom prst="roundRect">
            <a:avLst>
              <a:gd name="adj" fmla="val 2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Governance rhythm</a:t>
            </a:r>
          </a:p>
        </p:txBody>
      </p:sp>
      <p:sp>
        <p:nvSpPr>
          <p:cNvPr id="11" name="TextBox 10"/>
          <p:cNvSpPr txBox="1"/>
          <p:nvPr/>
        </p:nvSpPr>
        <p:spPr>
          <a:xfrm>
            <a:off x="8138160" y="1947672"/>
            <a:ext cx="3474720" cy="4297680"/>
          </a:xfrm>
          <a:prstGeom prst="rect">
            <a:avLst/>
          </a:prstGeom>
          <a:noFill/>
        </p:spPr>
        <p:txBody>
          <a:bodyPr wrap="square">
            <a:spAutoFit/>
          </a:bodyPr>
          <a:lstStyle/>
          <a:p>
            <a:pPr>
              <a:spcAft>
                <a:spcPts val="200"/>
              </a:spcAft>
            </a:pPr>
            <a:r>
              <a:rPr sz="1100">
                <a:solidFill>
                  <a:srgbClr val="2B221E"/>
                </a:solidFill>
                <a:latin typeface="Calibri"/>
              </a:rPr>
              <a:t>•  Daily (festival weeks): Stand-up: production + stalls + dispatch</a:t>
            </a:r>
          </a:p>
          <a:p>
            <a:pPr>
              <a:spcAft>
                <a:spcPts val="200"/>
              </a:spcAft>
            </a:pPr>
            <a:r>
              <a:rPr sz="1100">
                <a:solidFill>
                  <a:srgbClr val="2B221E"/>
                </a:solidFill>
                <a:latin typeface="Calibri"/>
              </a:rPr>
              <a:t>•  Weekly: Order &amp; pipeline review (orders, production plan, sales pipeline, issues)</a:t>
            </a:r>
          </a:p>
          <a:p>
            <a:pPr>
              <a:spcAft>
                <a:spcPts val="200"/>
              </a:spcAft>
            </a:pPr>
            <a:r>
              <a:rPr sz="1100">
                <a:solidFill>
                  <a:srgbClr val="2B221E"/>
                </a:solidFill>
                <a:latin typeface="Calibri"/>
              </a:rPr>
              <a:t>•  Monthly: P&amp;L and ROI review with DMTT &amp; finance; KPI dashboard</a:t>
            </a:r>
          </a:p>
          <a:p>
            <a:pPr>
              <a:spcAft>
                <a:spcPts val="200"/>
              </a:spcAft>
            </a:pPr>
            <a:r>
              <a:rPr sz="1100">
                <a:solidFill>
                  <a:srgbClr val="2B221E"/>
                </a:solidFill>
                <a:latin typeface="Calibri"/>
              </a:rPr>
              <a:t>•  After each hero campaign: Post-campaign review and lessons learned</a:t>
            </a:r>
          </a:p>
          <a:p>
            <a:pPr>
              <a:spcAft>
                <a:spcPts val="200"/>
              </a:spcAft>
            </a:pPr>
            <a:r>
              <a:rPr sz="1100">
                <a:solidFill>
                  <a:srgbClr val="2B221E"/>
                </a:solidFill>
                <a:latin typeface="Calibri"/>
              </a:rPr>
              <a:t>•  Quarterly: Steering review with temple leadership; budget and capex decisions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RISK</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Top risks and how we handle them</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22</a:t>
            </a:r>
          </a:p>
        </p:txBody>
      </p:sp>
      <p:sp>
        <p:nvSpPr>
          <p:cNvPr id="8" name="Rounded Rectangle 7"/>
          <p:cNvSpPr/>
          <p:nvPr/>
        </p:nvSpPr>
        <p:spPr>
          <a:xfrm>
            <a:off x="548640" y="1417320"/>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527048"/>
            <a:ext cx="548640" cy="5486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20</a:t>
            </a:r>
          </a:p>
        </p:txBody>
      </p:sp>
      <p:sp>
        <p:nvSpPr>
          <p:cNvPr id="10" name="TextBox 9"/>
          <p:cNvSpPr txBox="1"/>
          <p:nvPr/>
        </p:nvSpPr>
        <p:spPr>
          <a:xfrm>
            <a:off x="1280160" y="1453896"/>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Kitchen cannot meet Diwali peak volume</a:t>
            </a:r>
          </a:p>
        </p:txBody>
      </p:sp>
      <p:sp>
        <p:nvSpPr>
          <p:cNvPr id="11" name="TextBox 10"/>
          <p:cNvSpPr txBox="1"/>
          <p:nvPr/>
        </p:nvSpPr>
        <p:spPr>
          <a:xfrm>
            <a:off x="1280160" y="1920240"/>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Forecast from order data; seasonal staff; cap orders by capacity; 50% advance; partner kitchens on standby</a:t>
            </a:r>
          </a:p>
        </p:txBody>
      </p:sp>
      <p:sp>
        <p:nvSpPr>
          <p:cNvPr id="12" name="Rounded Rectangle 11"/>
          <p:cNvSpPr/>
          <p:nvPr/>
        </p:nvSpPr>
        <p:spPr>
          <a:xfrm>
            <a:off x="6172200" y="1417320"/>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63640" y="1527048"/>
            <a:ext cx="548640" cy="5486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15</a:t>
            </a:r>
          </a:p>
        </p:txBody>
      </p:sp>
      <p:sp>
        <p:nvSpPr>
          <p:cNvPr id="14" name="TextBox 13"/>
          <p:cNvSpPr txBox="1"/>
          <p:nvPr/>
        </p:nvSpPr>
        <p:spPr>
          <a:xfrm>
            <a:off x="6903720" y="1453896"/>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QSR partner quality not aligned with temple standards</a:t>
            </a:r>
          </a:p>
        </p:txBody>
      </p:sp>
      <p:sp>
        <p:nvSpPr>
          <p:cNvPr id="15" name="TextBox 14"/>
          <p:cNvSpPr txBox="1"/>
          <p:nvPr/>
        </p:nvSpPr>
        <p:spPr>
          <a:xfrm>
            <a:off x="6903720" y="1920240"/>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Strict brand licence, audits, satvik SOPs, exit clauses</a:t>
            </a:r>
          </a:p>
        </p:txBody>
      </p:sp>
      <p:sp>
        <p:nvSpPr>
          <p:cNvPr id="16" name="Rounded Rectangle 15"/>
          <p:cNvSpPr/>
          <p:nvPr/>
        </p:nvSpPr>
        <p:spPr>
          <a:xfrm>
            <a:off x="548640" y="2633472"/>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2743200"/>
            <a:ext cx="548640" cy="54864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12</a:t>
            </a:r>
          </a:p>
        </p:txBody>
      </p:sp>
      <p:sp>
        <p:nvSpPr>
          <p:cNvPr id="18" name="TextBox 17"/>
          <p:cNvSpPr txBox="1"/>
          <p:nvPr/>
        </p:nvSpPr>
        <p:spPr>
          <a:xfrm>
            <a:off x="1280160" y="2670048"/>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Premium-only pricing fails to cover fixed costs</a:t>
            </a:r>
          </a:p>
        </p:txBody>
      </p:sp>
      <p:sp>
        <p:nvSpPr>
          <p:cNvPr id="19" name="TextBox 18"/>
          <p:cNvSpPr txBox="1"/>
          <p:nvPr/>
        </p:nvSpPr>
        <p:spPr>
          <a:xfrm>
            <a:off x="1280160" y="3136392"/>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Two-tier model; mass tier for volume; monthly margin review</a:t>
            </a:r>
          </a:p>
        </p:txBody>
      </p:sp>
      <p:sp>
        <p:nvSpPr>
          <p:cNvPr id="20" name="Rounded Rectangle 19"/>
          <p:cNvSpPr/>
          <p:nvPr/>
        </p:nvSpPr>
        <p:spPr>
          <a:xfrm>
            <a:off x="6172200" y="2633472"/>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3640" y="2743200"/>
            <a:ext cx="548640" cy="54864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12</a:t>
            </a:r>
          </a:p>
        </p:txBody>
      </p:sp>
      <p:sp>
        <p:nvSpPr>
          <p:cNvPr id="22" name="TextBox 21"/>
          <p:cNvSpPr txBox="1"/>
          <p:nvPr/>
        </p:nvSpPr>
        <p:spPr>
          <a:xfrm>
            <a:off x="6903720" y="2670048"/>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Use of the ISKCON name on commercial packaging questioned</a:t>
            </a:r>
          </a:p>
        </p:txBody>
      </p:sp>
      <p:sp>
        <p:nvSpPr>
          <p:cNvPr id="23" name="TextBox 22"/>
          <p:cNvSpPr txBox="1"/>
          <p:nvPr/>
        </p:nvSpPr>
        <p:spPr>
          <a:xfrm>
            <a:off x="6903720" y="3136392"/>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Written approval from temple leadership / group legal; consistent brand guidelines; consider a sub-brand</a:t>
            </a:r>
          </a:p>
        </p:txBody>
      </p:sp>
      <p:sp>
        <p:nvSpPr>
          <p:cNvPr id="24" name="Rounded Rectangle 23"/>
          <p:cNvSpPr/>
          <p:nvPr/>
        </p:nvSpPr>
        <p:spPr>
          <a:xfrm>
            <a:off x="548640" y="3849624"/>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 y="3959352"/>
            <a:ext cx="548640" cy="54864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12</a:t>
            </a:r>
          </a:p>
        </p:txBody>
      </p:sp>
      <p:sp>
        <p:nvSpPr>
          <p:cNvPr id="26" name="TextBox 25"/>
          <p:cNvSpPr txBox="1"/>
          <p:nvPr/>
        </p:nvSpPr>
        <p:spPr>
          <a:xfrm>
            <a:off x="1280160" y="3886200"/>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Ingredient price spikes (ghee, jaggery, nuts)</a:t>
            </a:r>
          </a:p>
        </p:txBody>
      </p:sp>
      <p:sp>
        <p:nvSpPr>
          <p:cNvPr id="27" name="TextBox 26"/>
          <p:cNvSpPr txBox="1"/>
          <p:nvPr/>
        </p:nvSpPr>
        <p:spPr>
          <a:xfrm>
            <a:off x="1280160" y="4352544"/>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Forward-buy before season, two suppliers, sugar/jaggery flexibility, price validity clauses</a:t>
            </a:r>
          </a:p>
        </p:txBody>
      </p:sp>
      <p:sp>
        <p:nvSpPr>
          <p:cNvPr id="28" name="Rounded Rectangle 27"/>
          <p:cNvSpPr/>
          <p:nvPr/>
        </p:nvSpPr>
        <p:spPr>
          <a:xfrm>
            <a:off x="6172200" y="3849624"/>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263640" y="3959352"/>
            <a:ext cx="548640" cy="54864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12</a:t>
            </a:r>
          </a:p>
        </p:txBody>
      </p:sp>
      <p:sp>
        <p:nvSpPr>
          <p:cNvPr id="30" name="TextBox 29"/>
          <p:cNvSpPr txBox="1"/>
          <p:nvPr/>
        </p:nvSpPr>
        <p:spPr>
          <a:xfrm>
            <a:off x="6903720" y="3886200"/>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Late B2B deliveries during peak</a:t>
            </a:r>
          </a:p>
        </p:txBody>
      </p:sp>
      <p:sp>
        <p:nvSpPr>
          <p:cNvPr id="31" name="TextBox 30"/>
          <p:cNvSpPr txBox="1"/>
          <p:nvPr/>
        </p:nvSpPr>
        <p:spPr>
          <a:xfrm>
            <a:off x="6903720" y="4352544"/>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Production calendar, cut-off dates, dispatch buffer, own vehicle</a:t>
            </a:r>
          </a:p>
        </p:txBody>
      </p:sp>
      <p:sp>
        <p:nvSpPr>
          <p:cNvPr id="32" name="Rounded Rectangle 31"/>
          <p:cNvSpPr/>
          <p:nvPr/>
        </p:nvSpPr>
        <p:spPr>
          <a:xfrm>
            <a:off x="548640" y="5065776"/>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080" y="5175504"/>
            <a:ext cx="548640" cy="54864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12</a:t>
            </a:r>
          </a:p>
        </p:txBody>
      </p:sp>
      <p:sp>
        <p:nvSpPr>
          <p:cNvPr id="34" name="TextBox 33"/>
          <p:cNvSpPr txBox="1"/>
          <p:nvPr/>
        </p:nvSpPr>
        <p:spPr>
          <a:xfrm>
            <a:off x="1280160" y="5102352"/>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Staff overload across departments</a:t>
            </a:r>
          </a:p>
        </p:txBody>
      </p:sp>
      <p:sp>
        <p:nvSpPr>
          <p:cNvPr id="35" name="TextBox 34"/>
          <p:cNvSpPr txBox="1"/>
          <p:nvPr/>
        </p:nvSpPr>
        <p:spPr>
          <a:xfrm>
            <a:off x="1280160" y="5568696"/>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Dedicated hires; clear RACI; hours tracked in DMTT</a:t>
            </a:r>
          </a:p>
        </p:txBody>
      </p:sp>
      <p:sp>
        <p:nvSpPr>
          <p:cNvPr id="36" name="Rounded Rectangle 35"/>
          <p:cNvSpPr/>
          <p:nvPr/>
        </p:nvSpPr>
        <p:spPr>
          <a:xfrm>
            <a:off x="6172200" y="5065776"/>
            <a:ext cx="5486400"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63640" y="5175504"/>
            <a:ext cx="548640" cy="54864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FFFFFF"/>
                </a:solidFill>
                <a:latin typeface="Calibri"/>
              </a:rPr>
              <a:t>10</a:t>
            </a:r>
          </a:p>
        </p:txBody>
      </p:sp>
      <p:sp>
        <p:nvSpPr>
          <p:cNvPr id="38" name="TextBox 37"/>
          <p:cNvSpPr txBox="1"/>
          <p:nvPr/>
        </p:nvSpPr>
        <p:spPr>
          <a:xfrm>
            <a:off x="6903720" y="5102352"/>
            <a:ext cx="4663440" cy="457200"/>
          </a:xfrm>
          <a:prstGeom prst="rect">
            <a:avLst/>
          </a:prstGeom>
          <a:noFill/>
        </p:spPr>
        <p:txBody>
          <a:bodyPr wrap="square" anchor="t" lIns="73152" rIns="73152" tIns="36576" bIns="36576">
            <a:spAutoFit/>
          </a:bodyPr>
          <a:lstStyle/>
          <a:p>
            <a:pPr algn="l"/>
            <a:r>
              <a:rPr sz="1150" b="1">
                <a:solidFill>
                  <a:srgbClr val="7A1F2B"/>
                </a:solidFill>
                <a:latin typeface="Calibri"/>
              </a:rPr>
              <a:t>Food-safety incident harms temple reputation</a:t>
            </a:r>
          </a:p>
        </p:txBody>
      </p:sp>
      <p:sp>
        <p:nvSpPr>
          <p:cNvPr id="39" name="TextBox 38"/>
          <p:cNvSpPr txBox="1"/>
          <p:nvPr/>
        </p:nvSpPr>
        <p:spPr>
          <a:xfrm>
            <a:off x="6903720" y="5568696"/>
            <a:ext cx="4663440" cy="603504"/>
          </a:xfrm>
          <a:prstGeom prst="rect">
            <a:avLst/>
          </a:prstGeom>
          <a:noFill/>
        </p:spPr>
        <p:txBody>
          <a:bodyPr wrap="square" anchor="t" lIns="73152" rIns="73152" tIns="36576" bIns="36576">
            <a:spAutoFit/>
          </a:bodyPr>
          <a:lstStyle/>
          <a:p>
            <a:pPr algn="l"/>
            <a:r>
              <a:rPr sz="1000" b="0">
                <a:solidFill>
                  <a:srgbClr val="2B221E"/>
                </a:solidFill>
                <a:latin typeface="Calibri"/>
              </a:rPr>
              <a:t>FSSAI compliance, hygiene SOPs, batch codes, shelf-life tests, staff medical checks, recall plan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KPIS &amp; ROI</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'What did we get back?': one ROI dashboard</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23</a:t>
            </a:r>
          </a:p>
        </p:txBody>
      </p:sp>
      <p:sp>
        <p:nvSpPr>
          <p:cNvPr id="8" name="Rounded Rectangle 7"/>
          <p:cNvSpPr/>
          <p:nvPr/>
        </p:nvSpPr>
        <p:spPr>
          <a:xfrm>
            <a:off x="548640" y="146304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3619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Revenue</a:t>
            </a:r>
          </a:p>
        </p:txBody>
      </p:sp>
      <p:sp>
        <p:nvSpPr>
          <p:cNvPr id="10" name="TextBox 9"/>
          <p:cNvSpPr txBox="1"/>
          <p:nvPr/>
        </p:nvSpPr>
        <p:spPr>
          <a:xfrm>
            <a:off x="594360" y="187452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Monthly gross revenue by stream</a:t>
            </a:r>
          </a:p>
        </p:txBody>
      </p:sp>
      <p:sp>
        <p:nvSpPr>
          <p:cNvPr id="11" name="TextBox 10"/>
          <p:cNvSpPr txBox="1"/>
          <p:nvPr/>
        </p:nvSpPr>
        <p:spPr>
          <a:xfrm>
            <a:off x="594360" y="288036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Monthly</a:t>
            </a:r>
          </a:p>
        </p:txBody>
      </p:sp>
      <p:sp>
        <p:nvSpPr>
          <p:cNvPr id="12" name="Rounded Rectangle 11"/>
          <p:cNvSpPr/>
          <p:nvPr/>
        </p:nvSpPr>
        <p:spPr>
          <a:xfrm>
            <a:off x="2798064" y="146304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43784" y="153619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Gross margin</a:t>
            </a:r>
          </a:p>
        </p:txBody>
      </p:sp>
      <p:sp>
        <p:nvSpPr>
          <p:cNvPr id="14" name="TextBox 13"/>
          <p:cNvSpPr txBox="1"/>
          <p:nvPr/>
        </p:nvSpPr>
        <p:spPr>
          <a:xfrm>
            <a:off x="2843784" y="187452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Revenue minus ingredients, packaging, direct labour</a:t>
            </a:r>
          </a:p>
        </p:txBody>
      </p:sp>
      <p:sp>
        <p:nvSpPr>
          <p:cNvPr id="15" name="TextBox 14"/>
          <p:cNvSpPr txBox="1"/>
          <p:nvPr/>
        </p:nvSpPr>
        <p:spPr>
          <a:xfrm>
            <a:off x="2843784" y="288036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Monthly</a:t>
            </a:r>
          </a:p>
        </p:txBody>
      </p:sp>
      <p:sp>
        <p:nvSpPr>
          <p:cNvPr id="16" name="Rounded Rectangle 15"/>
          <p:cNvSpPr/>
          <p:nvPr/>
        </p:nvSpPr>
        <p:spPr>
          <a:xfrm>
            <a:off x="5047488" y="146304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93208" y="153619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ROI</a:t>
            </a:r>
          </a:p>
        </p:txBody>
      </p:sp>
      <p:sp>
        <p:nvSpPr>
          <p:cNvPr id="18" name="TextBox 17"/>
          <p:cNvSpPr txBox="1"/>
          <p:nvPr/>
        </p:nvSpPr>
        <p:spPr>
          <a:xfrm>
            <a:off x="5093208" y="187452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(Contribution − DMTT &amp; marketing cost) ÷ total invested cost</a:t>
            </a:r>
          </a:p>
        </p:txBody>
      </p:sp>
      <p:sp>
        <p:nvSpPr>
          <p:cNvPr id="19" name="TextBox 18"/>
          <p:cNvSpPr txBox="1"/>
          <p:nvPr/>
        </p:nvSpPr>
        <p:spPr>
          <a:xfrm>
            <a:off x="5093208" y="288036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Monthly</a:t>
            </a:r>
          </a:p>
        </p:txBody>
      </p:sp>
      <p:sp>
        <p:nvSpPr>
          <p:cNvPr id="20" name="Rounded Rectangle 19"/>
          <p:cNvSpPr/>
          <p:nvPr/>
        </p:nvSpPr>
        <p:spPr>
          <a:xfrm>
            <a:off x="7296912" y="146304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2632" y="153619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Hours invested</a:t>
            </a:r>
          </a:p>
        </p:txBody>
      </p:sp>
      <p:sp>
        <p:nvSpPr>
          <p:cNvPr id="22" name="TextBox 21"/>
          <p:cNvSpPr txBox="1"/>
          <p:nvPr/>
        </p:nvSpPr>
        <p:spPr>
          <a:xfrm>
            <a:off x="7342632" y="187452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Hours spent by DMTT, production, sales on the vertical</a:t>
            </a:r>
          </a:p>
        </p:txBody>
      </p:sp>
      <p:sp>
        <p:nvSpPr>
          <p:cNvPr id="23" name="TextBox 22"/>
          <p:cNvSpPr txBox="1"/>
          <p:nvPr/>
        </p:nvSpPr>
        <p:spPr>
          <a:xfrm>
            <a:off x="7342632" y="288036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Weekly</a:t>
            </a:r>
          </a:p>
        </p:txBody>
      </p:sp>
      <p:sp>
        <p:nvSpPr>
          <p:cNvPr id="24" name="Rounded Rectangle 23"/>
          <p:cNvSpPr/>
          <p:nvPr/>
        </p:nvSpPr>
        <p:spPr>
          <a:xfrm>
            <a:off x="9546336" y="146304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92056" y="153619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Festival sales</a:t>
            </a:r>
          </a:p>
        </p:txBody>
      </p:sp>
      <p:sp>
        <p:nvSpPr>
          <p:cNvPr id="26" name="TextBox 25"/>
          <p:cNvSpPr txBox="1"/>
          <p:nvPr/>
        </p:nvSpPr>
        <p:spPr>
          <a:xfrm>
            <a:off x="9592056" y="187452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Sales per festival and per stall-hour</a:t>
            </a:r>
          </a:p>
        </p:txBody>
      </p:sp>
      <p:sp>
        <p:nvSpPr>
          <p:cNvPr id="27" name="TextBox 26"/>
          <p:cNvSpPr txBox="1"/>
          <p:nvPr/>
        </p:nvSpPr>
        <p:spPr>
          <a:xfrm>
            <a:off x="9592056" y="288036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Per event</a:t>
            </a:r>
          </a:p>
        </p:txBody>
      </p:sp>
      <p:sp>
        <p:nvSpPr>
          <p:cNvPr id="28" name="Rounded Rectangle 27"/>
          <p:cNvSpPr/>
          <p:nvPr/>
        </p:nvSpPr>
        <p:spPr>
          <a:xfrm>
            <a:off x="548640" y="338328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45643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Corporate pipeline</a:t>
            </a:r>
          </a:p>
        </p:txBody>
      </p:sp>
      <p:sp>
        <p:nvSpPr>
          <p:cNvPr id="30" name="TextBox 29"/>
          <p:cNvSpPr txBox="1"/>
          <p:nvPr/>
        </p:nvSpPr>
        <p:spPr>
          <a:xfrm>
            <a:off x="594360" y="379476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Leads, meetings, proposals, POs, boxes</a:t>
            </a:r>
          </a:p>
        </p:txBody>
      </p:sp>
      <p:sp>
        <p:nvSpPr>
          <p:cNvPr id="31" name="TextBox 30"/>
          <p:cNvSpPr txBox="1"/>
          <p:nvPr/>
        </p:nvSpPr>
        <p:spPr>
          <a:xfrm>
            <a:off x="594360" y="480060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Weekly</a:t>
            </a:r>
          </a:p>
        </p:txBody>
      </p:sp>
      <p:sp>
        <p:nvSpPr>
          <p:cNvPr id="32" name="Rounded Rectangle 31"/>
          <p:cNvSpPr/>
          <p:nvPr/>
        </p:nvSpPr>
        <p:spPr>
          <a:xfrm>
            <a:off x="2798064" y="338328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43784" y="345643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Online</a:t>
            </a:r>
          </a:p>
        </p:txBody>
      </p:sp>
      <p:sp>
        <p:nvSpPr>
          <p:cNvPr id="34" name="TextBox 33"/>
          <p:cNvSpPr txBox="1"/>
          <p:nvPr/>
        </p:nvSpPr>
        <p:spPr>
          <a:xfrm>
            <a:off x="2843784" y="379476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Orders, conversion rate, CAC, ROAS, repeat rate</a:t>
            </a:r>
          </a:p>
        </p:txBody>
      </p:sp>
      <p:sp>
        <p:nvSpPr>
          <p:cNvPr id="35" name="TextBox 34"/>
          <p:cNvSpPr txBox="1"/>
          <p:nvPr/>
        </p:nvSpPr>
        <p:spPr>
          <a:xfrm>
            <a:off x="2843784" y="480060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Weekly</a:t>
            </a:r>
          </a:p>
        </p:txBody>
      </p:sp>
      <p:sp>
        <p:nvSpPr>
          <p:cNvPr id="36" name="Rounded Rectangle 35"/>
          <p:cNvSpPr/>
          <p:nvPr/>
        </p:nvSpPr>
        <p:spPr>
          <a:xfrm>
            <a:off x="5047488" y="338328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93208" y="345643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Operations</a:t>
            </a:r>
          </a:p>
        </p:txBody>
      </p:sp>
      <p:sp>
        <p:nvSpPr>
          <p:cNvPr id="38" name="TextBox 37"/>
          <p:cNvSpPr txBox="1"/>
          <p:nvPr/>
        </p:nvSpPr>
        <p:spPr>
          <a:xfrm>
            <a:off x="5093208" y="379476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On-time delivery %, order fill rate, spoilage %</a:t>
            </a:r>
          </a:p>
        </p:txBody>
      </p:sp>
      <p:sp>
        <p:nvSpPr>
          <p:cNvPr id="39" name="TextBox 38"/>
          <p:cNvSpPr txBox="1"/>
          <p:nvPr/>
        </p:nvSpPr>
        <p:spPr>
          <a:xfrm>
            <a:off x="5093208" y="480060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Weekly</a:t>
            </a:r>
          </a:p>
        </p:txBody>
      </p:sp>
      <p:sp>
        <p:nvSpPr>
          <p:cNvPr id="40" name="Rounded Rectangle 39"/>
          <p:cNvSpPr/>
          <p:nvPr/>
        </p:nvSpPr>
        <p:spPr>
          <a:xfrm>
            <a:off x="7296912" y="338328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42632" y="345643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Quality</a:t>
            </a:r>
          </a:p>
        </p:txBody>
      </p:sp>
      <p:sp>
        <p:nvSpPr>
          <p:cNvPr id="42" name="TextBox 41"/>
          <p:cNvSpPr txBox="1"/>
          <p:nvPr/>
        </p:nvSpPr>
        <p:spPr>
          <a:xfrm>
            <a:off x="7342632" y="379476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Complaints per 1,000 orders; audit score</a:t>
            </a:r>
          </a:p>
        </p:txBody>
      </p:sp>
      <p:sp>
        <p:nvSpPr>
          <p:cNvPr id="43" name="TextBox 42"/>
          <p:cNvSpPr txBox="1"/>
          <p:nvPr/>
        </p:nvSpPr>
        <p:spPr>
          <a:xfrm>
            <a:off x="7342632" y="480060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Monthly</a:t>
            </a:r>
          </a:p>
        </p:txBody>
      </p:sp>
      <p:sp>
        <p:nvSpPr>
          <p:cNvPr id="44" name="Rounded Rectangle 43"/>
          <p:cNvSpPr/>
          <p:nvPr/>
        </p:nvSpPr>
        <p:spPr>
          <a:xfrm>
            <a:off x="9546336" y="3383280"/>
            <a:ext cx="2121408" cy="1783080"/>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92056" y="3456432"/>
            <a:ext cx="2011680" cy="320040"/>
          </a:xfrm>
          <a:prstGeom prst="rect">
            <a:avLst/>
          </a:prstGeom>
          <a:noFill/>
        </p:spPr>
        <p:txBody>
          <a:bodyPr wrap="square" anchor="t" lIns="73152" rIns="73152" tIns="36576" bIns="36576">
            <a:spAutoFit/>
          </a:bodyPr>
          <a:lstStyle/>
          <a:p>
            <a:pPr algn="l"/>
            <a:r>
              <a:rPr sz="1300" b="1">
                <a:solidFill>
                  <a:srgbClr val="E07B00"/>
                </a:solidFill>
                <a:latin typeface="Calibri"/>
              </a:rPr>
              <a:t>Customer</a:t>
            </a:r>
          </a:p>
        </p:txBody>
      </p:sp>
      <p:sp>
        <p:nvSpPr>
          <p:cNvPr id="46" name="TextBox 45"/>
          <p:cNvSpPr txBox="1"/>
          <p:nvPr/>
        </p:nvSpPr>
        <p:spPr>
          <a:xfrm>
            <a:off x="9592056" y="3794760"/>
            <a:ext cx="2011680" cy="1005840"/>
          </a:xfrm>
          <a:prstGeom prst="rect">
            <a:avLst/>
          </a:prstGeom>
          <a:noFill/>
        </p:spPr>
        <p:txBody>
          <a:bodyPr wrap="square" anchor="t" lIns="73152" rIns="73152" tIns="36576" bIns="36576">
            <a:spAutoFit/>
          </a:bodyPr>
          <a:lstStyle/>
          <a:p>
            <a:pPr algn="l"/>
            <a:r>
              <a:rPr sz="1000" b="0">
                <a:solidFill>
                  <a:srgbClr val="2B221E"/>
                </a:solidFill>
                <a:latin typeface="Calibri"/>
              </a:rPr>
              <a:t>Rating, NPS, repeat B2B clients</a:t>
            </a:r>
          </a:p>
        </p:txBody>
      </p:sp>
      <p:sp>
        <p:nvSpPr>
          <p:cNvPr id="47" name="TextBox 46"/>
          <p:cNvSpPr txBox="1"/>
          <p:nvPr/>
        </p:nvSpPr>
        <p:spPr>
          <a:xfrm>
            <a:off x="9592056" y="4800600"/>
            <a:ext cx="2011680" cy="274320"/>
          </a:xfrm>
          <a:prstGeom prst="rect">
            <a:avLst/>
          </a:prstGeom>
          <a:noFill/>
        </p:spPr>
        <p:txBody>
          <a:bodyPr wrap="square" anchor="t" lIns="73152" rIns="73152" tIns="36576" bIns="36576">
            <a:spAutoFit/>
          </a:bodyPr>
          <a:lstStyle/>
          <a:p>
            <a:pPr algn="l"/>
            <a:r>
              <a:rPr sz="900" b="0">
                <a:solidFill>
                  <a:srgbClr val="6B5E55"/>
                </a:solidFill>
                <a:latin typeface="Calibri"/>
              </a:rPr>
              <a:t>Quarterly</a:t>
            </a:r>
          </a:p>
        </p:txBody>
      </p:sp>
      <p:sp>
        <p:nvSpPr>
          <p:cNvPr id="48" name="TextBox 47"/>
          <p:cNvSpPr txBox="1"/>
          <p:nvPr/>
        </p:nvSpPr>
        <p:spPr>
          <a:xfrm>
            <a:off x="548640" y="5394960"/>
            <a:ext cx="11155680" cy="822960"/>
          </a:xfrm>
          <a:prstGeom prst="rect">
            <a:avLst/>
          </a:prstGeom>
          <a:noFill/>
        </p:spPr>
        <p:txBody>
          <a:bodyPr wrap="square" anchor="t" lIns="73152" rIns="73152" tIns="36576" bIns="36576">
            <a:spAutoFit/>
          </a:bodyPr>
          <a:lstStyle/>
          <a:p>
            <a:pPr algn="l"/>
            <a:r>
              <a:rPr sz="1300" b="1">
                <a:solidFill>
                  <a:srgbClr val="7A1F2B"/>
                </a:solidFill>
                <a:latin typeface="Calibri"/>
              </a:rPr>
              <a:t>ROI % = (Revenue − ingredients − packaging − labour − marketing − overheads − value of hours invested) ÷ total cost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INNOVATION PIPELINE</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More ideas to test cheaply</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24</a:t>
            </a:r>
          </a:p>
        </p:txBody>
      </p:sp>
      <p:sp>
        <p:nvSpPr>
          <p:cNvPr id="8" name="Rounded Rectangle 7"/>
          <p:cNvSpPr/>
          <p:nvPr/>
        </p:nvSpPr>
        <p:spPr>
          <a:xfrm>
            <a:off x="548640" y="1417320"/>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444752"/>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Satvik Subscription Box</a:t>
            </a:r>
          </a:p>
        </p:txBody>
      </p:sp>
      <p:sp>
        <p:nvSpPr>
          <p:cNvPr id="10" name="TextBox 9"/>
          <p:cNvSpPr txBox="1"/>
          <p:nvPr/>
        </p:nvSpPr>
        <p:spPr>
          <a:xfrm>
            <a:off x="594360" y="1847088"/>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Monthly box of 4–6 seasonal sweets and savories delivered to homes and offices; donor-exclusive pricing.</a:t>
            </a:r>
          </a:p>
        </p:txBody>
      </p:sp>
      <p:sp>
        <p:nvSpPr>
          <p:cNvPr id="11" name="Rounded Rectangle 10"/>
          <p:cNvSpPr/>
          <p:nvPr/>
        </p:nvSpPr>
        <p:spPr>
          <a:xfrm>
            <a:off x="3355848" y="1417320"/>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01568" y="1444752"/>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Festival Pre-order App/Page</a:t>
            </a:r>
          </a:p>
        </p:txBody>
      </p:sp>
      <p:sp>
        <p:nvSpPr>
          <p:cNvPr id="13" name="TextBox 12"/>
          <p:cNvSpPr txBox="1"/>
          <p:nvPr/>
        </p:nvSpPr>
        <p:spPr>
          <a:xfrm>
            <a:off x="3401568" y="1847088"/>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Pre-book Janmashtami/Diwali boxes online; pick up at a dedicated counter to avoid queues; stock planned from pre-orders.</a:t>
            </a:r>
          </a:p>
        </p:txBody>
      </p:sp>
      <p:sp>
        <p:nvSpPr>
          <p:cNvPr id="14" name="Rounded Rectangle 13"/>
          <p:cNvSpPr/>
          <p:nvPr/>
        </p:nvSpPr>
        <p:spPr>
          <a:xfrm>
            <a:off x="6163055" y="1417320"/>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8775" y="1444752"/>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Corporate 'Prasadam Friday'</a:t>
            </a:r>
          </a:p>
        </p:txBody>
      </p:sp>
      <p:sp>
        <p:nvSpPr>
          <p:cNvPr id="16" name="TextBox 15"/>
          <p:cNvSpPr txBox="1"/>
          <p:nvPr/>
        </p:nvSpPr>
        <p:spPr>
          <a:xfrm>
            <a:off x="6208775" y="1847088"/>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Weekly snack trays for company pantries on a subscription contract.</a:t>
            </a:r>
          </a:p>
        </p:txBody>
      </p:sp>
      <p:sp>
        <p:nvSpPr>
          <p:cNvPr id="17" name="Rounded Rectangle 16"/>
          <p:cNvSpPr/>
          <p:nvPr/>
        </p:nvSpPr>
        <p:spPr>
          <a:xfrm>
            <a:off x="8970263" y="1417320"/>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5983" y="1444752"/>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Student and hostel packs</a:t>
            </a:r>
          </a:p>
        </p:txBody>
      </p:sp>
      <p:sp>
        <p:nvSpPr>
          <p:cNvPr id="19" name="TextBox 18"/>
          <p:cNvSpPr txBox="1"/>
          <p:nvPr/>
        </p:nvSpPr>
        <p:spPr>
          <a:xfrm>
            <a:off x="9015983" y="1847088"/>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Low-ticket packs for MNR and other institutions during exams and festivals.</a:t>
            </a:r>
          </a:p>
        </p:txBody>
      </p:sp>
      <p:sp>
        <p:nvSpPr>
          <p:cNvPr id="20" name="Rounded Rectangle 19"/>
          <p:cNvSpPr/>
          <p:nvPr/>
        </p:nvSpPr>
        <p:spPr>
          <a:xfrm>
            <a:off x="548640" y="2633472"/>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660904"/>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Diabetic-friendly namkeen line</a:t>
            </a:r>
          </a:p>
        </p:txBody>
      </p:sp>
      <p:sp>
        <p:nvSpPr>
          <p:cNvPr id="22" name="TextBox 21"/>
          <p:cNvSpPr txBox="1"/>
          <p:nvPr/>
        </p:nvSpPr>
        <p:spPr>
          <a:xfrm>
            <a:off x="594360" y="3063240"/>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Clearly labelled low-sugar/no-sugar range for donors who cannot eat sweets.</a:t>
            </a:r>
          </a:p>
        </p:txBody>
      </p:sp>
      <p:sp>
        <p:nvSpPr>
          <p:cNvPr id="23" name="Rounded Rectangle 22"/>
          <p:cNvSpPr/>
          <p:nvPr/>
        </p:nvSpPr>
        <p:spPr>
          <a:xfrm>
            <a:off x="3355848" y="2633472"/>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01568" y="2660904"/>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Jaggery &amp; millet wellness range</a:t>
            </a:r>
          </a:p>
        </p:txBody>
      </p:sp>
      <p:sp>
        <p:nvSpPr>
          <p:cNvPr id="25" name="TextBox 24"/>
          <p:cNvSpPr txBox="1"/>
          <p:nvPr/>
        </p:nvSpPr>
        <p:spPr>
          <a:xfrm>
            <a:off x="3401568" y="3063240"/>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Premium health range (jaggery chikki, millet laddu, poha puffed-rice unde).</a:t>
            </a:r>
          </a:p>
        </p:txBody>
      </p:sp>
      <p:sp>
        <p:nvSpPr>
          <p:cNvPr id="26" name="Rounded Rectangle 25"/>
          <p:cNvSpPr/>
          <p:nvPr/>
        </p:nvSpPr>
        <p:spPr>
          <a:xfrm>
            <a:off x="6163055" y="2633472"/>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08775" y="2660904"/>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Occasion kits</a:t>
            </a:r>
          </a:p>
        </p:txBody>
      </p:sp>
      <p:sp>
        <p:nvSpPr>
          <p:cNvPr id="28" name="TextBox 27"/>
          <p:cNvSpPr txBox="1"/>
          <p:nvPr/>
        </p:nvSpPr>
        <p:spPr>
          <a:xfrm>
            <a:off x="6208775" y="3063240"/>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House-warming, naming ceremony, vehicle puja, shraddha and wedding return-gift kits.</a:t>
            </a:r>
          </a:p>
        </p:txBody>
      </p:sp>
      <p:sp>
        <p:nvSpPr>
          <p:cNvPr id="29" name="Rounded Rectangle 28"/>
          <p:cNvSpPr/>
          <p:nvPr/>
        </p:nvSpPr>
        <p:spPr>
          <a:xfrm>
            <a:off x="8970263" y="2633472"/>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15983" y="2660904"/>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Monsoon namkeen tins</a:t>
            </a:r>
          </a:p>
        </p:txBody>
      </p:sp>
      <p:sp>
        <p:nvSpPr>
          <p:cNvPr id="31" name="TextBox 30"/>
          <p:cNvSpPr txBox="1"/>
          <p:nvPr/>
        </p:nvSpPr>
        <p:spPr>
          <a:xfrm>
            <a:off x="9015983" y="3063240"/>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5 kg tins for big donors and showrooms in the rainy season.</a:t>
            </a:r>
          </a:p>
        </p:txBody>
      </p:sp>
      <p:sp>
        <p:nvSpPr>
          <p:cNvPr id="32" name="Rounded Rectangle 31"/>
          <p:cNvSpPr/>
          <p:nvPr/>
        </p:nvSpPr>
        <p:spPr>
          <a:xfrm>
            <a:off x="548640" y="3849624"/>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877056"/>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World-record event</a:t>
            </a:r>
          </a:p>
        </p:txBody>
      </p:sp>
      <p:sp>
        <p:nvSpPr>
          <p:cNvPr id="34" name="TextBox 33"/>
          <p:cNvSpPr txBox="1"/>
          <p:nvPr/>
        </p:nvSpPr>
        <p:spPr>
          <a:xfrm>
            <a:off x="594360" y="4279392"/>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Largest laddu / largest chikki / most prasadam packets in a day for PR (India Book of Records).</a:t>
            </a:r>
          </a:p>
        </p:txBody>
      </p:sp>
      <p:sp>
        <p:nvSpPr>
          <p:cNvPr id="35" name="Rounded Rectangle 34"/>
          <p:cNvSpPr/>
          <p:nvPr/>
        </p:nvSpPr>
        <p:spPr>
          <a:xfrm>
            <a:off x="3355848" y="3849624"/>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01568" y="3877056"/>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Live-kitchen experiences</a:t>
            </a:r>
          </a:p>
        </p:txBody>
      </p:sp>
      <p:sp>
        <p:nvSpPr>
          <p:cNvPr id="37" name="TextBox 36"/>
          <p:cNvSpPr txBox="1"/>
          <p:nvPr/>
        </p:nvSpPr>
        <p:spPr>
          <a:xfrm>
            <a:off x="3401568" y="4279392"/>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Weekend 'make your own laddu' workshops for families and corporate teams.</a:t>
            </a:r>
          </a:p>
        </p:txBody>
      </p:sp>
      <p:sp>
        <p:nvSpPr>
          <p:cNvPr id="38" name="Rounded Rectangle 37"/>
          <p:cNvSpPr/>
          <p:nvPr/>
        </p:nvSpPr>
        <p:spPr>
          <a:xfrm>
            <a:off x="6163055" y="3849624"/>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08775" y="3877056"/>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Temple-to-desk vending</a:t>
            </a:r>
          </a:p>
        </p:txBody>
      </p:sp>
      <p:sp>
        <p:nvSpPr>
          <p:cNvPr id="40" name="TextBox 39"/>
          <p:cNvSpPr txBox="1"/>
          <p:nvPr/>
        </p:nvSpPr>
        <p:spPr>
          <a:xfrm>
            <a:off x="6208775" y="4279392"/>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Branded shelf-stable snack racks in corporate offices and co-working spaces.</a:t>
            </a:r>
          </a:p>
        </p:txBody>
      </p:sp>
      <p:sp>
        <p:nvSpPr>
          <p:cNvPr id="41" name="Rounded Rectangle 40"/>
          <p:cNvSpPr/>
          <p:nvPr/>
        </p:nvSpPr>
        <p:spPr>
          <a:xfrm>
            <a:off x="8970263" y="3849624"/>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15983" y="3877056"/>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Instagram flash sales</a:t>
            </a:r>
          </a:p>
        </p:txBody>
      </p:sp>
      <p:sp>
        <p:nvSpPr>
          <p:cNvPr id="43" name="TextBox 42"/>
          <p:cNvSpPr txBox="1"/>
          <p:nvPr/>
        </p:nvSpPr>
        <p:spPr>
          <a:xfrm>
            <a:off x="9015983" y="4279392"/>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Clear post-festival leftover stock with limited-time offers.</a:t>
            </a:r>
          </a:p>
        </p:txBody>
      </p:sp>
      <p:sp>
        <p:nvSpPr>
          <p:cNvPr id="44" name="Rounded Rectangle 43"/>
          <p:cNvSpPr/>
          <p:nvPr/>
        </p:nvSpPr>
        <p:spPr>
          <a:xfrm>
            <a:off x="548640" y="5065776"/>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5093208"/>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Referral programme for event planners</a:t>
            </a:r>
          </a:p>
        </p:txBody>
      </p:sp>
      <p:sp>
        <p:nvSpPr>
          <p:cNvPr id="46" name="TextBox 45"/>
          <p:cNvSpPr txBox="1"/>
          <p:nvPr/>
        </p:nvSpPr>
        <p:spPr>
          <a:xfrm>
            <a:off x="594360" y="5495544"/>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Commission for every catering or return-gift order referred.</a:t>
            </a:r>
          </a:p>
        </p:txBody>
      </p:sp>
      <p:sp>
        <p:nvSpPr>
          <p:cNvPr id="47" name="Rounded Rectangle 46"/>
          <p:cNvSpPr/>
          <p:nvPr/>
        </p:nvSpPr>
        <p:spPr>
          <a:xfrm>
            <a:off x="3355848" y="5065776"/>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01568" y="5093208"/>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Sponsor-a-box</a:t>
            </a:r>
          </a:p>
        </p:txBody>
      </p:sp>
      <p:sp>
        <p:nvSpPr>
          <p:cNvPr id="49" name="TextBox 48"/>
          <p:cNvSpPr txBox="1"/>
          <p:nvPr/>
        </p:nvSpPr>
        <p:spPr>
          <a:xfrm>
            <a:off x="3401568" y="5495544"/>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Donors sponsor prasadam boxes distributed to the needy on festivals (cause marketing).</a:t>
            </a:r>
          </a:p>
        </p:txBody>
      </p:sp>
      <p:sp>
        <p:nvSpPr>
          <p:cNvPr id="50" name="Rounded Rectangle 49"/>
          <p:cNvSpPr/>
          <p:nvPr/>
        </p:nvSpPr>
        <p:spPr>
          <a:xfrm>
            <a:off x="6163055" y="5065776"/>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08775" y="5093208"/>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Travelling prasadam (Yatra tie-in)</a:t>
            </a:r>
          </a:p>
        </p:txBody>
      </p:sp>
      <p:sp>
        <p:nvSpPr>
          <p:cNvPr id="52" name="TextBox 51"/>
          <p:cNvSpPr txBox="1"/>
          <p:nvPr/>
        </p:nvSpPr>
        <p:spPr>
          <a:xfrm>
            <a:off x="6208775" y="5495544"/>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Shelf-stable packs for yatris on the temple's pilgrimage tours (links to the Yatra department).</a:t>
            </a:r>
          </a:p>
        </p:txBody>
      </p:sp>
      <p:sp>
        <p:nvSpPr>
          <p:cNvPr id="53" name="Rounded Rectangle 52"/>
          <p:cNvSpPr/>
          <p:nvPr/>
        </p:nvSpPr>
        <p:spPr>
          <a:xfrm>
            <a:off x="8970263" y="5065776"/>
            <a:ext cx="2670048" cy="1115568"/>
          </a:xfrm>
          <a:prstGeom prst="roundRect">
            <a:avLst>
              <a:gd name="adj" fmla="val 8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15983" y="5093208"/>
            <a:ext cx="2560320" cy="274320"/>
          </a:xfrm>
          <a:prstGeom prst="rect">
            <a:avLst/>
          </a:prstGeom>
          <a:noFill/>
        </p:spPr>
        <p:txBody>
          <a:bodyPr wrap="square" anchor="t" lIns="73152" rIns="73152" tIns="36576" bIns="36576">
            <a:spAutoFit/>
          </a:bodyPr>
          <a:lstStyle/>
          <a:p>
            <a:pPr algn="l"/>
            <a:r>
              <a:rPr sz="1050" b="1">
                <a:solidFill>
                  <a:srgbClr val="7A1F2B"/>
                </a:solidFill>
                <a:latin typeface="Calibri"/>
              </a:rPr>
              <a:t>NRI gifting portal</a:t>
            </a:r>
          </a:p>
        </p:txBody>
      </p:sp>
      <p:sp>
        <p:nvSpPr>
          <p:cNvPr id="55" name="TextBox 54"/>
          <p:cNvSpPr txBox="1"/>
          <p:nvPr/>
        </p:nvSpPr>
        <p:spPr>
          <a:xfrm>
            <a:off x="9015983" y="5495544"/>
            <a:ext cx="2560320" cy="685800"/>
          </a:xfrm>
          <a:prstGeom prst="rect">
            <a:avLst/>
          </a:prstGeom>
          <a:noFill/>
        </p:spPr>
        <p:txBody>
          <a:bodyPr wrap="square" anchor="t" lIns="73152" rIns="73152" tIns="36576" bIns="36576">
            <a:spAutoFit/>
          </a:bodyPr>
          <a:lstStyle/>
          <a:p>
            <a:pPr algn="l"/>
            <a:r>
              <a:rPr sz="900" b="0">
                <a:solidFill>
                  <a:srgbClr val="2B221E"/>
                </a:solidFill>
                <a:latin typeface="Calibri"/>
              </a:rPr>
              <a:t>Order from abroad, delivered to family in India for festivals.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C"/>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9144000" cy="320040"/>
          </a:xfrm>
          <a:prstGeom prst="rect">
            <a:avLst/>
          </a:prstGeom>
          <a:noFill/>
        </p:spPr>
        <p:txBody>
          <a:bodyPr wrap="square" anchor="t" lIns="73152" rIns="73152" tIns="36576" bIns="36576">
            <a:spAutoFit/>
          </a:bodyPr>
          <a:lstStyle/>
          <a:p>
            <a:pPr algn="l"/>
            <a:r>
              <a:rPr sz="1100" b="1">
                <a:solidFill>
                  <a:srgbClr val="E07B00"/>
                </a:solidFill>
                <a:latin typeface="Calibri"/>
              </a:rPr>
              <a:t>THE ASK</a:t>
            </a:r>
          </a:p>
        </p:txBody>
      </p:sp>
      <p:sp>
        <p:nvSpPr>
          <p:cNvPr id="4" name="TextBox 3"/>
          <p:cNvSpPr txBox="1"/>
          <p:nvPr/>
        </p:nvSpPr>
        <p:spPr>
          <a:xfrm>
            <a:off x="502920" y="502920"/>
            <a:ext cx="11155680" cy="731520"/>
          </a:xfrm>
          <a:prstGeom prst="rect">
            <a:avLst/>
          </a:prstGeom>
          <a:noFill/>
        </p:spPr>
        <p:txBody>
          <a:bodyPr wrap="square" anchor="t" lIns="73152" rIns="73152" tIns="36576" bIns="36576">
            <a:spAutoFit/>
          </a:bodyPr>
          <a:lstStyle/>
          <a:p>
            <a:pPr algn="l"/>
            <a:r>
              <a:rPr sz="2800" b="1">
                <a:solidFill>
                  <a:srgbClr val="7A1F2B"/>
                </a:solidFill>
                <a:latin typeface="Calibri"/>
              </a:rPr>
              <a:t>Decisions needed at the 5 October meeting</a:t>
            </a:r>
          </a:p>
        </p:txBody>
      </p:sp>
      <p:sp>
        <p:nvSpPr>
          <p:cNvPr id="5" name="Rectangle 4"/>
          <p:cNvSpPr/>
          <p:nvPr/>
        </p:nvSpPr>
        <p:spPr>
          <a:xfrm>
            <a:off x="566928" y="1207008"/>
            <a:ext cx="10972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46520"/>
            <a:ext cx="8229600" cy="274320"/>
          </a:xfrm>
          <a:prstGeom prst="rect">
            <a:avLst/>
          </a:prstGeom>
          <a:noFill/>
        </p:spPr>
        <p:txBody>
          <a:bodyPr wrap="square" anchor="t" lIns="73152" rIns="73152" tIns="36576" bIns="36576">
            <a:spAutoFit/>
          </a:bodyPr>
          <a:lstStyle/>
          <a:p>
            <a:pPr algn="l"/>
            <a:r>
              <a:rPr sz="900" b="0">
                <a:solidFill>
                  <a:srgbClr val="6B5E55"/>
                </a:solidFill>
                <a:latin typeface="Calibri"/>
              </a:rPr>
              <a:t>Hare Krishna Golden Temple · Prasadam, Sweets &amp; Savories Vertical</a:t>
            </a:r>
          </a:p>
        </p:txBody>
      </p:sp>
      <p:sp>
        <p:nvSpPr>
          <p:cNvPr id="7" name="TextBox 6"/>
          <p:cNvSpPr txBox="1"/>
          <p:nvPr/>
        </p:nvSpPr>
        <p:spPr>
          <a:xfrm>
            <a:off x="11155680" y="6446520"/>
            <a:ext cx="731520" cy="274320"/>
          </a:xfrm>
          <a:prstGeom prst="rect">
            <a:avLst/>
          </a:prstGeom>
          <a:noFill/>
        </p:spPr>
        <p:txBody>
          <a:bodyPr wrap="square" anchor="t" lIns="73152" rIns="73152" tIns="36576" bIns="36576">
            <a:spAutoFit/>
          </a:bodyPr>
          <a:lstStyle/>
          <a:p>
            <a:pPr algn="r"/>
            <a:r>
              <a:rPr sz="900" b="0">
                <a:solidFill>
                  <a:srgbClr val="6B5E55"/>
                </a:solidFill>
                <a:latin typeface="Calibri"/>
              </a:rPr>
              <a:t>25</a:t>
            </a:r>
          </a:p>
        </p:txBody>
      </p:sp>
      <p:sp>
        <p:nvSpPr>
          <p:cNvPr id="8" name="TextBox 7"/>
          <p:cNvSpPr txBox="1"/>
          <p:nvPr/>
        </p:nvSpPr>
        <p:spPr>
          <a:xfrm>
            <a:off x="548640" y="1463040"/>
            <a:ext cx="5669280" cy="4754880"/>
          </a:xfrm>
          <a:prstGeom prst="rect">
            <a:avLst/>
          </a:prstGeom>
          <a:noFill/>
        </p:spPr>
        <p:txBody>
          <a:bodyPr wrap="square">
            <a:spAutoFit/>
          </a:bodyPr>
          <a:lstStyle/>
          <a:p>
            <a:pPr>
              <a:spcAft>
                <a:spcPts val="600"/>
              </a:spcAft>
            </a:pPr>
            <a:r>
              <a:rPr sz="1400">
                <a:solidFill>
                  <a:srgbClr val="2B221E"/>
                </a:solidFill>
                <a:latin typeface="Calibri"/>
              </a:rPr>
              <a:t>•  Final product list, quantities and weekly minimum per department?</a:t>
            </a:r>
          </a:p>
          <a:p>
            <a:pPr>
              <a:spcAft>
                <a:spcPts val="600"/>
              </a:spcAft>
            </a:pPr>
            <a:r>
              <a:rPr sz="1400">
                <a:solidFill>
                  <a:srgbClr val="2B221E"/>
                </a:solidFill>
                <a:latin typeface="Calibri"/>
              </a:rPr>
              <a:t>•  Budget allocated for prasadam per department (LLP, Culture Connect, online donors)?</a:t>
            </a:r>
          </a:p>
          <a:p>
            <a:pPr>
              <a:spcAft>
                <a:spcPts val="600"/>
              </a:spcAft>
            </a:pPr>
            <a:r>
              <a:rPr sz="1400">
                <a:solidFill>
                  <a:srgbClr val="2B221E"/>
                </a:solidFill>
                <a:latin typeface="Calibri"/>
              </a:rPr>
              <a:t>•  Pricing model split between premium and competitive tiers?</a:t>
            </a:r>
          </a:p>
          <a:p>
            <a:pPr>
              <a:spcAft>
                <a:spcPts val="600"/>
              </a:spcAft>
            </a:pPr>
            <a:r>
              <a:rPr sz="1400">
                <a:solidFill>
                  <a:srgbClr val="2B221E"/>
                </a:solidFill>
                <a:latin typeface="Calibri"/>
              </a:rPr>
              <a:t>•  Real production capacity per day now, with one more hire, and at peak with seasonal staff?</a:t>
            </a:r>
          </a:p>
          <a:p>
            <a:pPr>
              <a:spcAft>
                <a:spcPts val="600"/>
              </a:spcAft>
            </a:pPr>
            <a:r>
              <a:rPr sz="1400">
                <a:solidFill>
                  <a:srgbClr val="2B221E"/>
                </a:solidFill>
                <a:latin typeface="Calibri"/>
              </a:rPr>
              <a:t>•  Which infrastructure and staffing investments are justified before demand is validated?</a:t>
            </a:r>
          </a:p>
          <a:p>
            <a:pPr>
              <a:spcAft>
                <a:spcPts val="600"/>
              </a:spcAft>
            </a:pPr>
            <a:r>
              <a:rPr sz="1400">
                <a:solidFill>
                  <a:srgbClr val="2B221E"/>
                </a:solidFill>
                <a:latin typeface="Calibri"/>
              </a:rPr>
              <a:t>•  Brand name on packs: 'ISKCON Hyderabad', 'Hare Krishna Golden Temple', or a sub-brand?</a:t>
            </a:r>
          </a:p>
          <a:p>
            <a:pPr>
              <a:spcAft>
                <a:spcPts val="600"/>
              </a:spcAft>
            </a:pPr>
            <a:r>
              <a:rPr sz="1400">
                <a:solidFill>
                  <a:srgbClr val="2B221E"/>
                </a:solidFill>
                <a:latin typeface="Calibri"/>
              </a:rPr>
              <a:t>•  Which FSSAI licence covers commercial sale and e-commerce, and does it cover off-site stalls?</a:t>
            </a:r>
          </a:p>
          <a:p>
            <a:pPr>
              <a:spcAft>
                <a:spcPts val="600"/>
              </a:spcAft>
            </a:pPr>
            <a:r>
              <a:rPr sz="1400">
                <a:solidFill>
                  <a:srgbClr val="2B221E"/>
                </a:solidFill>
                <a:latin typeface="Calibri"/>
              </a:rPr>
              <a:t>•  Transfer-pricing and profit-sharing between production and marketing teams?</a:t>
            </a:r>
          </a:p>
          <a:p>
            <a:pPr>
              <a:spcAft>
                <a:spcPts val="600"/>
              </a:spcAft>
            </a:pPr>
            <a:r>
              <a:rPr sz="1400">
                <a:solidFill>
                  <a:srgbClr val="2B221E"/>
                </a:solidFill>
                <a:latin typeface="Calibri"/>
              </a:rPr>
              <a:t>•  Who owns catering for very large orders (50,000 meals) until a catering unit exists?</a:t>
            </a:r>
          </a:p>
        </p:txBody>
      </p:sp>
      <p:sp>
        <p:nvSpPr>
          <p:cNvPr id="9" name="Rounded Rectangle 8"/>
          <p:cNvSpPr/>
          <p:nvPr/>
        </p:nvSpPr>
        <p:spPr>
          <a:xfrm>
            <a:off x="6583680" y="1463040"/>
            <a:ext cx="5074920" cy="4754880"/>
          </a:xfrm>
          <a:prstGeom prst="roundRect">
            <a:avLst>
              <a:gd name="adj" fmla="val 6000"/>
            </a:avLst>
          </a:prstGeom>
          <a:solidFill>
            <a:srgbClr val="FFFFFF"/>
          </a:solidFill>
          <a:ln w="12700">
            <a:solidFill>
              <a:srgbClr val="FBEB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0" y="1463040"/>
            <a:ext cx="5074920" cy="457200"/>
          </a:xfrm>
          <a:prstGeom prst="roundRect">
            <a:avLst>
              <a:gd name="adj" fmla="val 25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FFFFFF"/>
                </a:solidFill>
                <a:latin typeface="Calibri"/>
              </a:rPr>
              <a:t>Action items this week</a:t>
            </a:r>
          </a:p>
        </p:txBody>
      </p:sp>
      <p:sp>
        <p:nvSpPr>
          <p:cNvPr id="11" name="TextBox 10"/>
          <p:cNvSpPr txBox="1"/>
          <p:nvPr/>
        </p:nvSpPr>
        <p:spPr>
          <a:xfrm>
            <a:off x="6629400" y="1993392"/>
            <a:ext cx="4983480" cy="4206240"/>
          </a:xfrm>
          <a:prstGeom prst="rect">
            <a:avLst/>
          </a:prstGeom>
          <a:noFill/>
        </p:spPr>
        <p:txBody>
          <a:bodyPr wrap="square">
            <a:spAutoFit/>
          </a:bodyPr>
          <a:lstStyle/>
          <a:p>
            <a:pPr>
              <a:spcAft>
                <a:spcPts val="200"/>
              </a:spcAft>
            </a:pPr>
            <a:r>
              <a:rPr sz="1100">
                <a:solidFill>
                  <a:srgbClr val="2B221E"/>
                </a:solidFill>
                <a:latin typeface="Calibri"/>
              </a:rPr>
              <a:t>•  A1: Provide the order confirmation information requested for prasadam orders (Production team (order coordinator), 29 Sep 2026)</a:t>
            </a:r>
          </a:p>
          <a:p>
            <a:pPr>
              <a:spcAft>
                <a:spcPts val="200"/>
              </a:spcAft>
            </a:pPr>
            <a:r>
              <a:rPr sz="1100">
                <a:solidFill>
                  <a:srgbClr val="2B221E"/>
                </a:solidFill>
                <a:latin typeface="Calibri"/>
              </a:rPr>
              <a:t>•  A2: Hire an additional person for prasadam production work (Production lead, 10 Oct 2026)</a:t>
            </a:r>
          </a:p>
          <a:p>
            <a:pPr>
              <a:spcAft>
                <a:spcPts val="200"/>
              </a:spcAft>
            </a:pPr>
            <a:r>
              <a:rPr sz="1100">
                <a:solidFill>
                  <a:srgbClr val="2B221E"/>
                </a:solidFill>
                <a:latin typeface="Calibri"/>
              </a:rPr>
              <a:t>•  A3: Propose available budget and requested items to production for samples and planning (Mukunda Dasa's team, 30 Sep 2026)</a:t>
            </a:r>
          </a:p>
          <a:p>
            <a:pPr>
              <a:spcAft>
                <a:spcPts val="200"/>
              </a:spcAft>
            </a:pPr>
            <a:r>
              <a:rPr sz="1100">
                <a:solidFill>
                  <a:srgbClr val="2B221E"/>
                </a:solidFill>
                <a:latin typeface="Calibri"/>
              </a:rPr>
              <a:t>•  A4: Analyse 6–12 months of prasadam purchases and order volumes; share regular and festival estimates (DMTT data, 3 Oct 2026)</a:t>
            </a:r>
          </a:p>
          <a:p>
            <a:pPr>
              <a:spcAft>
                <a:spcPts val="200"/>
              </a:spcAft>
            </a:pPr>
            <a:r>
              <a:rPr sz="1100">
                <a:solidFill>
                  <a:srgbClr val="2B221E"/>
                </a:solidFill>
                <a:latin typeface="Calibri"/>
              </a:rPr>
              <a:t>•  A5: Prepare and send the detailed plan for the prasadam and sweets vertical (Mukunda Dasa, 30 Sep 2026 (this document))</a:t>
            </a:r>
          </a:p>
          <a:p>
            <a:pPr>
              <a:spcAft>
                <a:spcPts val="200"/>
              </a:spcAft>
            </a:pPr>
            <a:r>
              <a:rPr sz="1100">
                <a:solidFill>
                  <a:srgbClr val="2B221E"/>
                </a:solidFill>
                <a:latin typeface="Calibri"/>
              </a:rPr>
              <a:t>•  A6: Identify additional prasadam products with longer shelf life (Production lead, 4 Oct 2026)</a:t>
            </a:r>
          </a:p>
          <a:p>
            <a:pPr>
              <a:spcAft>
                <a:spcPts val="200"/>
              </a:spcAft>
            </a:pPr>
            <a:r>
              <a:rPr sz="1100">
                <a:solidFill>
                  <a:srgbClr val="2B221E"/>
                </a:solidFill>
                <a:latin typeface="Calibri"/>
              </a:rPr>
              <a:t>•  A7: Prepare packaging and product presentation for bulk corporate gifting (DMTT designer + Production lead, 10 Oct 2026)</a:t>
            </a:r>
          </a:p>
          <a:p>
            <a:pPr>
              <a:spcAft>
                <a:spcPts val="200"/>
              </a:spcAft>
            </a:pPr>
            <a:r>
              <a:rPr sz="1100">
                <a:solidFill>
                  <a:srgbClr val="2B221E"/>
                </a:solidFill>
                <a:latin typeface="Calibri"/>
              </a:rPr>
              <a:t>•  A8: Send a representative to support meetings with large company owners (Mukunda Dasa, 3 Oct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7A1F2B"/>
        </a:solidFill>
        <a:effectLst/>
      </p:bgPr>
    </p:bg>
    <p:spTree>
      <p:nvGrpSpPr>
        <p:cNvPr id="1" name=""/>
        <p:cNvGrpSpPr/>
        <p:nvPr/>
      </p:nvGrpSpPr>
      <p:grpSpPr/>
      <p:sp>
        <p:nvSpPr>
          <p:cNvPr id="2" name="TextBox 1"/>
          <p:cNvSpPr txBox="1"/>
          <p:nvPr/>
        </p:nvSpPr>
        <p:spPr>
          <a:xfrm>
            <a:off x="822960" y="2103120"/>
            <a:ext cx="10515600" cy="1097280"/>
          </a:xfrm>
          <a:prstGeom prst="rect">
            <a:avLst/>
          </a:prstGeom>
          <a:noFill/>
        </p:spPr>
        <p:txBody>
          <a:bodyPr wrap="square" anchor="t" lIns="73152" rIns="73152" tIns="36576" bIns="36576">
            <a:spAutoFit/>
          </a:bodyPr>
          <a:lstStyle/>
          <a:p>
            <a:pPr algn="l"/>
            <a:r>
              <a:rPr sz="3600" b="1">
                <a:solidFill>
                  <a:srgbClr val="FFFFFF"/>
                </a:solidFill>
                <a:latin typeface="Calibri"/>
              </a:rPr>
              <a:t>Somebody has to take the first bold step.</a:t>
            </a:r>
          </a:p>
        </p:txBody>
      </p:sp>
      <p:sp>
        <p:nvSpPr>
          <p:cNvPr id="3" name="TextBox 2"/>
          <p:cNvSpPr txBox="1"/>
          <p:nvPr/>
        </p:nvSpPr>
        <p:spPr>
          <a:xfrm>
            <a:off x="822960" y="3566160"/>
            <a:ext cx="10515600" cy="1097280"/>
          </a:xfrm>
          <a:prstGeom prst="rect">
            <a:avLst/>
          </a:prstGeom>
          <a:noFill/>
        </p:spPr>
        <p:txBody>
          <a:bodyPr wrap="square" anchor="t" lIns="73152" rIns="73152" tIns="36576" bIns="36576">
            <a:spAutoFit/>
          </a:bodyPr>
          <a:lstStyle/>
          <a:p>
            <a:pPr algn="l"/>
            <a:r>
              <a:rPr sz="1800" b="0">
                <a:solidFill>
                  <a:srgbClr val="FBEBD0"/>
                </a:solidFill>
                <a:latin typeface="Calibri"/>
              </a:rPr>
              <a:t>Depending on Srila Prabhupada and Krishna, let us start today: production by the temple kitchen, marketing and technology by DMTT, every result tracked.</a:t>
            </a:r>
          </a:p>
        </p:txBody>
      </p:sp>
      <p:sp>
        <p:nvSpPr>
          <p:cNvPr id="4" name="TextBox 3"/>
          <p:cNvSpPr txBox="1"/>
          <p:nvPr/>
        </p:nvSpPr>
        <p:spPr>
          <a:xfrm>
            <a:off x="822960" y="5120640"/>
            <a:ext cx="10515600" cy="457200"/>
          </a:xfrm>
          <a:prstGeom prst="rect">
            <a:avLst/>
          </a:prstGeom>
          <a:noFill/>
        </p:spPr>
        <p:txBody>
          <a:bodyPr wrap="square" anchor="t" lIns="73152" rIns="73152" tIns="36576" bIns="36576">
            <a:spAutoFit/>
          </a:bodyPr>
          <a:lstStyle/>
          <a:p>
            <a:pPr algn="l"/>
            <a:r>
              <a:rPr sz="2000" b="1">
                <a:solidFill>
                  <a:srgbClr val="C9A227"/>
                </a:solidFill>
                <a:latin typeface="Calibri"/>
              </a:rPr>
              <a:t>Hare Krishna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